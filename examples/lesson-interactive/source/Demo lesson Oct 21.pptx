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5"/>
  </p:notesMasterIdLst>
  <p:sldIdLst>
    <p:sldId id="256" r:id="rId2"/>
    <p:sldId id="786" r:id="rId3"/>
    <p:sldId id="713" r:id="rId4"/>
    <p:sldId id="714" r:id="rId5"/>
    <p:sldId id="717" r:id="rId6"/>
    <p:sldId id="720" r:id="rId7"/>
    <p:sldId id="722" r:id="rId8"/>
    <p:sldId id="727" r:id="rId9"/>
    <p:sldId id="728" r:id="rId10"/>
    <p:sldId id="730" r:id="rId11"/>
    <p:sldId id="1269" r:id="rId12"/>
    <p:sldId id="1268" r:id="rId13"/>
    <p:sldId id="736" r:id="rId14"/>
    <p:sldId id="1270" r:id="rId15"/>
    <p:sldId id="1267" r:id="rId16"/>
    <p:sldId id="1274" r:id="rId17"/>
    <p:sldId id="1275" r:id="rId18"/>
    <p:sldId id="744" r:id="rId19"/>
    <p:sldId id="745" r:id="rId20"/>
    <p:sldId id="746" r:id="rId21"/>
    <p:sldId id="747" r:id="rId22"/>
    <p:sldId id="748" r:id="rId23"/>
    <p:sldId id="80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يوسف اليزيدي" initials="يوسف" lastIdx="1" clrIdx="0">
    <p:extLst>
      <p:ext uri="{19B8F6BF-5375-455C-9EA6-DF929625EA0E}">
        <p15:presenceInfo xmlns:p15="http://schemas.microsoft.com/office/powerpoint/2012/main" userId="S::t622941@mkhb.moe.gov.sa::b327cda9-2c30-43b3-8ef7-a35bc7fad1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8000"/>
    <a:srgbClr val="9900FF"/>
    <a:srgbClr val="0000FF"/>
    <a:srgbClr val="CCCC00"/>
    <a:srgbClr val="CC0066"/>
    <a:srgbClr val="CC9900"/>
    <a:srgbClr val="00CC00"/>
    <a:srgbClr val="FFFF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 Rounded MT Bold"/>
          <a:ea typeface="Arial Rounded MT Bold"/>
          <a:cs typeface="Arial Rounded MT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1339" autoAdjust="0"/>
  </p:normalViewPr>
  <p:slideViewPr>
    <p:cSldViewPr snapToGrid="0">
      <p:cViewPr varScale="1">
        <p:scale>
          <a:sx n="110" d="100"/>
          <a:sy n="11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5829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latinLnBrk="0">
      <a:defRPr sz="1200">
        <a:latin typeface="+mn-lt"/>
        <a:ea typeface="+mn-ea"/>
        <a:cs typeface="+mn-cs"/>
        <a:sym typeface="Calibri"/>
      </a:defRPr>
    </a:lvl1pPr>
    <a:lvl2pPr indent="228600" algn="r" latinLnBrk="0">
      <a:defRPr sz="1200">
        <a:latin typeface="+mn-lt"/>
        <a:ea typeface="+mn-ea"/>
        <a:cs typeface="+mn-cs"/>
        <a:sym typeface="Calibri"/>
      </a:defRPr>
    </a:lvl2pPr>
    <a:lvl3pPr indent="457200" algn="r" latinLnBrk="0">
      <a:defRPr sz="1200">
        <a:latin typeface="+mn-lt"/>
        <a:ea typeface="+mn-ea"/>
        <a:cs typeface="+mn-cs"/>
        <a:sym typeface="Calibri"/>
      </a:defRPr>
    </a:lvl3pPr>
    <a:lvl4pPr indent="685800" algn="r" latinLnBrk="0">
      <a:defRPr sz="1200">
        <a:latin typeface="+mn-lt"/>
        <a:ea typeface="+mn-ea"/>
        <a:cs typeface="+mn-cs"/>
        <a:sym typeface="Calibri"/>
      </a:defRPr>
    </a:lvl4pPr>
    <a:lvl5pPr indent="914400" algn="r" latinLnBrk="0">
      <a:defRPr sz="1200">
        <a:latin typeface="+mn-lt"/>
        <a:ea typeface="+mn-ea"/>
        <a:cs typeface="+mn-cs"/>
        <a:sym typeface="Calibri"/>
      </a:defRPr>
    </a:lvl5pPr>
    <a:lvl6pPr indent="1143000" algn="r" latinLnBrk="0">
      <a:defRPr sz="1200">
        <a:latin typeface="+mn-lt"/>
        <a:ea typeface="+mn-ea"/>
        <a:cs typeface="+mn-cs"/>
        <a:sym typeface="Calibri"/>
      </a:defRPr>
    </a:lvl6pPr>
    <a:lvl7pPr indent="1371600" algn="r" latinLnBrk="0">
      <a:defRPr sz="1200">
        <a:latin typeface="+mn-lt"/>
        <a:ea typeface="+mn-ea"/>
        <a:cs typeface="+mn-cs"/>
        <a:sym typeface="Calibri"/>
      </a:defRPr>
    </a:lvl7pPr>
    <a:lvl8pPr indent="1600200" algn="r" latinLnBrk="0">
      <a:defRPr sz="1200">
        <a:latin typeface="+mn-lt"/>
        <a:ea typeface="+mn-ea"/>
        <a:cs typeface="+mn-cs"/>
        <a:sym typeface="Calibri"/>
      </a:defRPr>
    </a:lvl8pPr>
    <a:lvl9pPr indent="1828800" algn="r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9C3D-79EE-475C-A033-57F9FFE37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E6AB6-7BC2-4893-9C10-5792E3C3F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EB84-82FA-4AEB-B6ED-FFDBE185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5AF5-0DC4-405F-BF22-3FF3D72F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63159-0C76-435F-840D-7024F109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3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9B82-7FD8-498D-B851-9D83A719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8E6C-A9A5-4222-867B-9D6A0A8D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06F0-9856-40A9-A1E7-5C4B7CF9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19DE5-942B-42F6-A66E-76779622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4BE7-7E7F-41C0-9007-03DCBB32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5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D36A-1004-481C-B807-F00F9C48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0BA6A-50DA-4DDB-9C05-BE83777D9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B0396-D4E6-4C8D-8F67-4A01906F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3A6BF-17D6-4EC0-AA50-7AB705F8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7AEDF-C4B5-49D7-9785-FF3A344C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9957-7B75-434D-B6AE-C28362BB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5D3F-8C58-4BC1-A0CC-B3B0784A4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E458D-2FA7-47DB-9AAE-F86B3C11A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9F9A7-96D7-4F00-8C0E-3C71B94E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C3CAE-C4A7-4354-8791-7DC01A15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5AEE7-061A-49D2-A129-5BE1E8E2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5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03F0-E84D-41A7-9085-9F1BFAB7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91E3-6CD8-4CB1-9831-49C6A66F0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BFA59-321A-405D-98D6-678840FC6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11545-5411-4842-9D37-26AB6A88D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2B7D8-78B5-4F4D-8BB5-33F4F69D4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383A1-7B79-447B-8FCF-FC2A6BF2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4C8227-0631-45ED-AA11-0CE4FD3A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C61AC-3DC6-48DA-80CF-C7AE699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4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2DF7D-354E-4FD8-8FCF-6EAF2CE5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92668-8B62-4837-8089-04222400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2F7B1-3D21-4F3B-AB83-3177B398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8655F-8D10-4443-ADAC-F6A26B3E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4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EE9D8-2F43-4410-B3D9-629255D3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3EA5-E009-452F-A184-EBFAD8D0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A4F5A-09A4-4CC1-863E-45DFFF74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4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F25E-19F4-4CE1-AD63-062445F0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63C5-C653-4BCF-9057-C1E4CFC04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58408-DF18-484A-AB36-C1C74AC9F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5F0B-0BBC-43B4-A921-567C9D99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069D3-6917-4FE1-AB58-97DA3937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64A6B-A285-422B-8CC0-1217532F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5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A51C-5CC1-459E-8F85-8B13D889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2833A-F743-429B-97DA-0A56D1908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966C9-9EC5-49C8-8C8A-239968566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C461A-9345-4A6F-8DAE-F2B178C8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4925C-4CEB-49F0-BBEF-1C03FBF9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2B635-5D7D-473B-95B2-7B0268B4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29A7-582E-49F0-9673-BDA13343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11966-5DA1-4390-AFA3-09B48B48E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5FD94-BDC0-45EE-83CA-EE5BF172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1664A-9EA9-499A-84A0-7D4E784F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DC71C-AA74-45D2-9171-00018797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D4BCE-CD1A-4FA9-ACA6-0BAA65D02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1F590-D9DF-4F3D-A5B9-646477DA2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FCB18-645F-43E0-B3B8-6EC1C243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3B17-9EF3-4318-A6B8-E1F1D553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0E8-81AD-4137-B7FE-B9C21409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53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16624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C70C2-E807-49C0-BC6F-9B8D2FA9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94BBE-99A6-4F48-B58C-9B33D7CB7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B8EE3-EFFC-4788-943E-0F241B41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E4987-B5B5-4C77-9F84-227837242BD8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34ECE-15A1-4175-A587-1AE6C51D9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75DE-0C0A-409E-AA57-9E54E4808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5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7" Type="http://schemas.microsoft.com/office/2007/relationships/hdphoto" Target="../media/hdphoto3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5.wdp"/><Relationship Id="rId5" Type="http://schemas.openxmlformats.org/officeDocument/2006/relationships/image" Target="../media/image14.png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6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مجموعة 10">
            <a:extLst>
              <a:ext uri="{FF2B5EF4-FFF2-40B4-BE49-F238E27FC236}">
                <a16:creationId xmlns:a16="http://schemas.microsoft.com/office/drawing/2014/main" id="{07AE19C6-64BC-4E66-A1DC-F85E05ED9B4D}"/>
              </a:ext>
            </a:extLst>
          </p:cNvPr>
          <p:cNvGrpSpPr/>
          <p:nvPr/>
        </p:nvGrpSpPr>
        <p:grpSpPr>
          <a:xfrm>
            <a:off x="145142" y="0"/>
            <a:ext cx="11901715" cy="7125286"/>
            <a:chOff x="6500964" y="354638"/>
            <a:chExt cx="6245555" cy="4684920"/>
          </a:xfrm>
        </p:grpSpPr>
        <p:sp>
          <p:nvSpPr>
            <p:cNvPr id="12" name="مستطيل 11">
              <a:extLst>
                <a:ext uri="{FF2B5EF4-FFF2-40B4-BE49-F238E27FC236}">
                  <a16:creationId xmlns:a16="http://schemas.microsoft.com/office/drawing/2014/main" id="{571E306F-3A75-4C78-94E6-AC1C8823250B}"/>
                </a:ext>
              </a:extLst>
            </p:cNvPr>
            <p:cNvSpPr/>
            <p:nvPr/>
          </p:nvSpPr>
          <p:spPr>
            <a:xfrm>
              <a:off x="6503770" y="354638"/>
              <a:ext cx="6242749" cy="43708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</a:t>
              </a:r>
              <a:endParaRPr lang="en-US" sz="2800" b="1" u="sng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6600" b="1" u="sng" dirty="0">
                  <a:solidFill>
                    <a:srgbClr val="008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Connected by Technology</a:t>
              </a:r>
            </a:p>
            <a:p>
              <a:pPr algn="ctr"/>
              <a:r>
                <a:rPr lang="en-US" sz="5400" b="1" u="sng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Conversation</a:t>
              </a:r>
            </a:p>
            <a:p>
              <a:pPr algn="ctr"/>
              <a:r>
                <a:rPr lang="en-US" sz="6600" b="1" u="sng" dirty="0">
                  <a:solidFill>
                    <a:srgbClr val="FFFF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         </a:t>
              </a:r>
            </a:p>
            <a:p>
              <a:pPr algn="ctr"/>
              <a:endParaRPr lang="en-US" sz="11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مستطيل 12">
              <a:extLst>
                <a:ext uri="{FF2B5EF4-FFF2-40B4-BE49-F238E27FC236}">
                  <a16:creationId xmlns:a16="http://schemas.microsoft.com/office/drawing/2014/main" id="{58C5006B-0142-4F91-B0E7-E2D4ED6AA534}"/>
                </a:ext>
              </a:extLst>
            </p:cNvPr>
            <p:cNvSpPr/>
            <p:nvPr/>
          </p:nvSpPr>
          <p:spPr>
            <a:xfrm>
              <a:off x="6500964" y="354638"/>
              <a:ext cx="6245555" cy="468492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sz="1799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وان 2">
            <a:extLst>
              <a:ext uri="{FF2B5EF4-FFF2-40B4-BE49-F238E27FC236}">
                <a16:creationId xmlns:a16="http://schemas.microsoft.com/office/drawing/2014/main" id="{E2BBEF29-C855-4122-9602-0FB7A367144B}"/>
              </a:ext>
            </a:extLst>
          </p:cNvPr>
          <p:cNvSpPr txBox="1">
            <a:spLocks/>
          </p:cNvSpPr>
          <p:nvPr/>
        </p:nvSpPr>
        <p:spPr>
          <a:xfrm>
            <a:off x="574735" y="382734"/>
            <a:ext cx="6378870" cy="96898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Lesson Objectives</a:t>
            </a:r>
            <a:endParaRPr lang="ar-SA" sz="3200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عنصر نائب للمحتوى 3">
            <a:extLst>
              <a:ext uri="{FF2B5EF4-FFF2-40B4-BE49-F238E27FC236}">
                <a16:creationId xmlns:a16="http://schemas.microsoft.com/office/drawing/2014/main" id="{68C2BBAD-C1C0-4367-B039-20815264FBCE}"/>
              </a:ext>
            </a:extLst>
          </p:cNvPr>
          <p:cNvSpPr txBox="1">
            <a:spLocks/>
          </p:cNvSpPr>
          <p:nvPr/>
        </p:nvSpPr>
        <p:spPr>
          <a:xfrm>
            <a:off x="208682" y="2428505"/>
            <a:ext cx="11774635" cy="40467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08000"/>
                </a:solidFill>
                <a:latin typeface="Comic Sans MS" panose="030F0702030302020204" pitchFamily="66" charset="0"/>
              </a:rPr>
              <a:t>The students will be able to :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STC-Regular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1 –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Predict the topic of a conversation 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2 –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Understand the conversation 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3 –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Use some texting abbreviation &amp; Acronym  in a text message 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4 –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</a:t>
            </a:r>
            <a:r>
              <a:rPr lang="en-US" sz="2000" dirty="0">
                <a:latin typeface="Comic Sans MS" panose="030F0702030302020204" pitchFamily="66" charset="0"/>
              </a:rPr>
              <a:t> 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Use the "real talk" phrases in a conversation 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5 –</a:t>
            </a:r>
            <a:r>
              <a:rPr 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 Ask for clarifications in a conversation .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444B782B-11B0-4690-8802-5766A6F4D7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1"/>
          <a:stretch/>
        </p:blipFill>
        <p:spPr>
          <a:xfrm>
            <a:off x="8009964" y="-41394"/>
            <a:ext cx="3456322" cy="24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9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مربع نص 18">
            <a:extLst>
              <a:ext uri="{FF2B5EF4-FFF2-40B4-BE49-F238E27FC236}">
                <a16:creationId xmlns:a16="http://schemas.microsoft.com/office/drawing/2014/main" id="{1E039BBF-FA07-486D-9A04-5EE9F58136EF}"/>
              </a:ext>
            </a:extLst>
          </p:cNvPr>
          <p:cNvSpPr txBox="1"/>
          <p:nvPr/>
        </p:nvSpPr>
        <p:spPr>
          <a:xfrm>
            <a:off x="6604505" y="4095252"/>
            <a:ext cx="2128737" cy="70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999" dirty="0">
                <a:solidFill>
                  <a:srgbClr val="0000CC"/>
                </a:solidFill>
                <a:latin typeface="Comic Sans MS" panose="030F0702030302020204" pitchFamily="66" charset="0"/>
              </a:rPr>
              <a:t>texting</a:t>
            </a:r>
            <a:endParaRPr lang="ar-SA" sz="2999" dirty="0">
              <a:solidFill>
                <a:srgbClr val="0000CC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6" descr="Happy Young Man Using Smartphone Texting Message, Vector Illustration.  Stock Vector - Illustration of illustration, gadget: 115505126">
            <a:extLst>
              <a:ext uri="{FF2B5EF4-FFF2-40B4-BE49-F238E27FC236}">
                <a16:creationId xmlns:a16="http://schemas.microsoft.com/office/drawing/2014/main" id="{3986491B-24EB-4CC8-AADF-5EFF1407B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34" b="88561" l="18000" r="82692">
                        <a14:foregroundMark x1="70308" y1="20144" x2="70308" y2="20144"/>
                        <a14:foregroundMark x1="72231" y1="15612" x2="72231" y2="15612"/>
                        <a14:foregroundMark x1="33385" y1="20000" x2="33385" y2="20000"/>
                        <a14:foregroundMark x1="61846" y1="20504" x2="61846" y2="20504"/>
                        <a14:foregroundMark x1="65462" y1="20000" x2="65462" y2="20000"/>
                        <a14:foregroundMark x1="67923" y1="20360" x2="67923" y2="20360"/>
                        <a14:foregroundMark x1="74462" y1="20360" x2="74462" y2="20360"/>
                        <a14:foregroundMark x1="38231" y1="24245" x2="38231" y2="24245"/>
                        <a14:foregroundMark x1="35462" y1="24245" x2="35462" y2="24245"/>
                        <a14:foregroundMark x1="31846" y1="24532" x2="31846" y2="24532"/>
                        <a14:foregroundMark x1="27538" y1="24029" x2="27538" y2="24029"/>
                        <a14:foregroundMark x1="71462" y1="20504" x2="71462" y2="20504"/>
                        <a14:foregroundMark x1="25462" y1="24532" x2="25462" y2="24532"/>
                        <a14:foregroundMark x1="53462" y1="84748" x2="53462" y2="84748"/>
                        <a14:foregroundMark x1="45538" y1="83885" x2="45538" y2="83885"/>
                        <a14:foregroundMark x1="56462" y1="62086" x2="56462" y2="62086"/>
                        <a14:foregroundMark x1="56923" y1="35827" x2="56923" y2="358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072" t="29834" r="34255" b="11580"/>
          <a:stretch/>
        </p:blipFill>
        <p:spPr bwMode="auto">
          <a:xfrm>
            <a:off x="5587494" y="3189248"/>
            <a:ext cx="1237051" cy="301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appy Young Man Using Smartphone Texting Message, Vector Illustration.  Stock Vector - Illustration of illustration, gadget: 115505126">
            <a:extLst>
              <a:ext uri="{FF2B5EF4-FFF2-40B4-BE49-F238E27FC236}">
                <a16:creationId xmlns:a16="http://schemas.microsoft.com/office/drawing/2014/main" id="{E7C3D7B9-3B99-46BC-BC9F-E73C35C5D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34" b="88561" l="18000" r="82692">
                        <a14:foregroundMark x1="70308" y1="20144" x2="70308" y2="20144"/>
                        <a14:foregroundMark x1="72231" y1="15612" x2="72231" y2="15612"/>
                        <a14:foregroundMark x1="33385" y1="20000" x2="33385" y2="20000"/>
                        <a14:foregroundMark x1="61846" y1="20504" x2="61846" y2="20504"/>
                        <a14:foregroundMark x1="65462" y1="20000" x2="65462" y2="20000"/>
                        <a14:foregroundMark x1="67923" y1="20360" x2="67923" y2="20360"/>
                        <a14:foregroundMark x1="74462" y1="20360" x2="74462" y2="20360"/>
                        <a14:foregroundMark x1="38231" y1="24245" x2="38231" y2="24245"/>
                        <a14:foregroundMark x1="35462" y1="24245" x2="35462" y2="24245"/>
                        <a14:foregroundMark x1="31846" y1="24532" x2="31846" y2="24532"/>
                        <a14:foregroundMark x1="27538" y1="24029" x2="27538" y2="24029"/>
                        <a14:foregroundMark x1="71462" y1="20504" x2="71462" y2="20504"/>
                        <a14:foregroundMark x1="25462" y1="24532" x2="25462" y2="24532"/>
                        <a14:foregroundMark x1="53462" y1="84748" x2="53462" y2="84748"/>
                        <a14:foregroundMark x1="45538" y1="83885" x2="45538" y2="83885"/>
                        <a14:foregroundMark x1="56462" y1="62086" x2="56462" y2="62086"/>
                        <a14:foregroundMark x1="56923" y1="35827" x2="56923" y2="358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83" t="12807" r="54777" b="67618"/>
          <a:stretch/>
        </p:blipFill>
        <p:spPr bwMode="auto">
          <a:xfrm>
            <a:off x="4274949" y="2235105"/>
            <a:ext cx="1312545" cy="100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appy Young Man Using Smartphone Texting Message, Vector Illustration.  Stock Vector - Illustration of illustration, gadget: 115505126">
            <a:extLst>
              <a:ext uri="{FF2B5EF4-FFF2-40B4-BE49-F238E27FC236}">
                <a16:creationId xmlns:a16="http://schemas.microsoft.com/office/drawing/2014/main" id="{FA7BB377-A3E1-4608-977F-89B4B7B28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34" b="88561" l="18000" r="82692">
                        <a14:foregroundMark x1="70308" y1="20144" x2="70308" y2="20144"/>
                        <a14:foregroundMark x1="72231" y1="15612" x2="72231" y2="15612"/>
                        <a14:foregroundMark x1="33385" y1="20000" x2="33385" y2="20000"/>
                        <a14:foregroundMark x1="61846" y1="20504" x2="61846" y2="20504"/>
                        <a14:foregroundMark x1="65462" y1="20000" x2="65462" y2="20000"/>
                        <a14:foregroundMark x1="67923" y1="20360" x2="67923" y2="20360"/>
                        <a14:foregroundMark x1="74462" y1="20360" x2="74462" y2="20360"/>
                        <a14:foregroundMark x1="38231" y1="24245" x2="38231" y2="24245"/>
                        <a14:foregroundMark x1="35462" y1="24245" x2="35462" y2="24245"/>
                        <a14:foregroundMark x1="31846" y1="24532" x2="31846" y2="24532"/>
                        <a14:foregroundMark x1="27538" y1="24029" x2="27538" y2="24029"/>
                        <a14:foregroundMark x1="71462" y1="20504" x2="71462" y2="20504"/>
                        <a14:foregroundMark x1="25462" y1="24532" x2="25462" y2="24532"/>
                        <a14:foregroundMark x1="53462" y1="84748" x2="53462" y2="84748"/>
                        <a14:foregroundMark x1="45538" y1="83885" x2="45538" y2="83885"/>
                        <a14:foregroundMark x1="56462" y1="62086" x2="56462" y2="62086"/>
                        <a14:foregroundMark x1="56923" y1="35827" x2="56923" y2="358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9993" r="19719" b="70432"/>
          <a:stretch/>
        </p:blipFill>
        <p:spPr bwMode="auto">
          <a:xfrm>
            <a:off x="6096000" y="2186946"/>
            <a:ext cx="1312545" cy="100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عنوان 2">
            <a:extLst>
              <a:ext uri="{FF2B5EF4-FFF2-40B4-BE49-F238E27FC236}">
                <a16:creationId xmlns:a16="http://schemas.microsoft.com/office/drawing/2014/main" id="{1DBD5738-2693-486A-8923-BF53781C879A}"/>
              </a:ext>
            </a:extLst>
          </p:cNvPr>
          <p:cNvSpPr txBox="1">
            <a:spLocks/>
          </p:cNvSpPr>
          <p:nvPr/>
        </p:nvSpPr>
        <p:spPr>
          <a:xfrm>
            <a:off x="1843314" y="650087"/>
            <a:ext cx="8148825" cy="552598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Is texting a common means of communication ?</a:t>
            </a:r>
            <a:endParaRPr lang="en-US" sz="28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0928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مربع نص 14">
            <a:extLst>
              <a:ext uri="{FF2B5EF4-FFF2-40B4-BE49-F238E27FC236}">
                <a16:creationId xmlns:a16="http://schemas.microsoft.com/office/drawing/2014/main" id="{98A890B6-B25C-4F26-A287-DC4823036C5E}"/>
              </a:ext>
            </a:extLst>
          </p:cNvPr>
          <p:cNvSpPr txBox="1"/>
          <p:nvPr/>
        </p:nvSpPr>
        <p:spPr>
          <a:xfrm>
            <a:off x="9363801" y="478790"/>
            <a:ext cx="1961392" cy="785677"/>
          </a:xfrm>
          <a:prstGeom prst="wedgeRoundRectCallout">
            <a:avLst>
              <a:gd name="adj1" fmla="val 62799"/>
              <a:gd name="adj2" fmla="val 45076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</a:t>
            </a: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ar-SA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3A26E3E-FDBD-400E-A849-2104E89B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004" y="1414967"/>
            <a:ext cx="6399067" cy="4875068"/>
          </a:xfrm>
          <a:prstGeom prst="rect">
            <a:avLst/>
          </a:prstGeom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72170C63-6C32-405B-809C-C160F33FECB0}"/>
              </a:ext>
            </a:extLst>
          </p:cNvPr>
          <p:cNvSpPr txBox="1"/>
          <p:nvPr/>
        </p:nvSpPr>
        <p:spPr>
          <a:xfrm>
            <a:off x="9039191" y="1588161"/>
            <a:ext cx="26106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texting</a:t>
            </a:r>
            <a:endParaRPr lang="en-US" sz="3600" dirty="0">
              <a:solidFill>
                <a:srgbClr val="0000CC"/>
              </a:solidFill>
            </a:endParaRPr>
          </a:p>
          <a:p>
            <a:pPr algn="ctr"/>
            <a:r>
              <a:rPr lang="en-US" sz="3600" dirty="0">
                <a:solidFill>
                  <a:srgbClr val="0000CC"/>
                </a:solidFill>
              </a:rPr>
              <a:t>abbreviation</a:t>
            </a:r>
            <a:endParaRPr lang="ar-SA" sz="2999" dirty="0">
              <a:solidFill>
                <a:srgbClr val="0000CC"/>
              </a:solidFill>
            </a:endParaRPr>
          </a:p>
        </p:txBody>
      </p:sp>
      <p:pic>
        <p:nvPicPr>
          <p:cNvPr id="5" name="Picture 6" descr="Happy Young Man Using Smartphone Texting Message, Vector Illustration.  Stock Vector - Illustration of illustration, gadget: 115505126">
            <a:extLst>
              <a:ext uri="{FF2B5EF4-FFF2-40B4-BE49-F238E27FC236}">
                <a16:creationId xmlns:a16="http://schemas.microsoft.com/office/drawing/2014/main" id="{620C61B3-9EEA-4194-9E82-EFC4250F0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734" b="88561" l="18000" r="82692">
                        <a14:foregroundMark x1="70308" y1="20144" x2="70308" y2="20144"/>
                        <a14:foregroundMark x1="72231" y1="15612" x2="72231" y2="15612"/>
                        <a14:foregroundMark x1="33385" y1="20000" x2="33385" y2="20000"/>
                        <a14:foregroundMark x1="61846" y1="20504" x2="61846" y2="20504"/>
                        <a14:foregroundMark x1="65462" y1="20000" x2="65462" y2="20000"/>
                        <a14:foregroundMark x1="67923" y1="20360" x2="67923" y2="20360"/>
                        <a14:foregroundMark x1="74462" y1="20360" x2="74462" y2="20360"/>
                        <a14:foregroundMark x1="38231" y1="24245" x2="38231" y2="24245"/>
                        <a14:foregroundMark x1="35462" y1="24245" x2="35462" y2="24245"/>
                        <a14:foregroundMark x1="31846" y1="24532" x2="31846" y2="24532"/>
                        <a14:foregroundMark x1="27538" y1="24029" x2="27538" y2="24029"/>
                        <a14:foregroundMark x1="71462" y1="20504" x2="71462" y2="20504"/>
                        <a14:foregroundMark x1="25462" y1="24532" x2="25462" y2="24532"/>
                        <a14:foregroundMark x1="53462" y1="84748" x2="53462" y2="84748"/>
                        <a14:foregroundMark x1="45538" y1="83885" x2="45538" y2="8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83" t="12807" r="16732" b="11579"/>
          <a:stretch/>
        </p:blipFill>
        <p:spPr bwMode="auto">
          <a:xfrm>
            <a:off x="7291687" y="4649110"/>
            <a:ext cx="1614268" cy="199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255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مربع نص 14">
            <a:extLst>
              <a:ext uri="{FF2B5EF4-FFF2-40B4-BE49-F238E27FC236}">
                <a16:creationId xmlns:a16="http://schemas.microsoft.com/office/drawing/2014/main" id="{98A890B6-B25C-4F26-A287-DC4823036C5E}"/>
              </a:ext>
            </a:extLst>
          </p:cNvPr>
          <p:cNvSpPr txBox="1"/>
          <p:nvPr/>
        </p:nvSpPr>
        <p:spPr>
          <a:xfrm>
            <a:off x="789294" y="468977"/>
            <a:ext cx="6194602" cy="740274"/>
          </a:xfrm>
          <a:prstGeom prst="wedgeRoundRectCallout">
            <a:avLst>
              <a:gd name="adj1" fmla="val -56290"/>
              <a:gd name="adj2" fmla="val 80515"/>
              <a:gd name="adj3" fmla="val 16667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1001">
            <a:schemeClr val="dk2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How do people text in your language?</a:t>
            </a:r>
            <a:endParaRPr lang="ar-SA" sz="4400" dirty="0">
              <a:solidFill>
                <a:schemeClr val="bg1"/>
              </a:solidFill>
            </a:endParaRPr>
          </a:p>
        </p:txBody>
      </p:sp>
      <p:pic>
        <p:nvPicPr>
          <p:cNvPr id="5" name="Picture 6" descr="Happy Young Man Using Smartphone Texting Message, Vector Illustration.  Stock Vector - Illustration of illustration, gadget: 115505126">
            <a:extLst>
              <a:ext uri="{FF2B5EF4-FFF2-40B4-BE49-F238E27FC236}">
                <a16:creationId xmlns:a16="http://schemas.microsoft.com/office/drawing/2014/main" id="{620C61B3-9EEA-4194-9E82-EFC4250F0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34" b="88561" l="18000" r="82692">
                        <a14:foregroundMark x1="70308" y1="20144" x2="70308" y2="20144"/>
                        <a14:foregroundMark x1="72231" y1="15612" x2="72231" y2="15612"/>
                        <a14:foregroundMark x1="33385" y1="20000" x2="33385" y2="20000"/>
                        <a14:foregroundMark x1="61846" y1="20504" x2="61846" y2="20504"/>
                        <a14:foregroundMark x1="65462" y1="20000" x2="65462" y2="20000"/>
                        <a14:foregroundMark x1="67923" y1="20360" x2="67923" y2="20360"/>
                        <a14:foregroundMark x1="74462" y1="20360" x2="74462" y2="20360"/>
                        <a14:foregroundMark x1="38231" y1="24245" x2="38231" y2="24245"/>
                        <a14:foregroundMark x1="35462" y1="24245" x2="35462" y2="24245"/>
                        <a14:foregroundMark x1="31846" y1="24532" x2="31846" y2="24532"/>
                        <a14:foregroundMark x1="27538" y1="24029" x2="27538" y2="24029"/>
                        <a14:foregroundMark x1="71462" y1="20504" x2="71462" y2="20504"/>
                        <a14:foregroundMark x1="25462" y1="24532" x2="25462" y2="24532"/>
                        <a14:foregroundMark x1="53462" y1="84748" x2="53462" y2="84748"/>
                        <a14:foregroundMark x1="45538" y1="83885" x2="45538" y2="8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83" t="12807" r="16732" b="11579"/>
          <a:stretch/>
        </p:blipFill>
        <p:spPr bwMode="auto">
          <a:xfrm>
            <a:off x="7566991" y="4649110"/>
            <a:ext cx="1299207" cy="160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458B8DA9-F943-4E40-9FF9-B778CA9D53E3}"/>
              </a:ext>
            </a:extLst>
          </p:cNvPr>
          <p:cNvSpPr txBox="1"/>
          <p:nvPr/>
        </p:nvSpPr>
        <p:spPr>
          <a:xfrm>
            <a:off x="789294" y="2656235"/>
            <a:ext cx="2610612" cy="772765"/>
          </a:xfrm>
          <a:prstGeom prst="wedgeRoundRectCallout">
            <a:avLst>
              <a:gd name="adj1" fmla="val -56290"/>
              <a:gd name="adj2" fmla="val 8051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e.g.</a:t>
            </a:r>
            <a:endParaRPr lang="ar-SA" dirty="0"/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40753150-FA8E-4F98-B5DD-E0AEEA02E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5278" y="1805403"/>
            <a:ext cx="4788724" cy="364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621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653295B0-9961-40B8-B99C-A7D9B597546D}"/>
              </a:ext>
            </a:extLst>
          </p:cNvPr>
          <p:cNvSpPr txBox="1">
            <a:spLocks/>
          </p:cNvSpPr>
          <p:nvPr/>
        </p:nvSpPr>
        <p:spPr>
          <a:xfrm>
            <a:off x="186658" y="135167"/>
            <a:ext cx="4858290" cy="706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0000"/>
                </a:solidFill>
                <a:latin typeface="+mn-lt"/>
              </a:rPr>
              <a:t>Listen to the audio</a:t>
            </a:r>
            <a:endParaRPr lang="ar-SA" sz="4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4" descr="Listening Icon #416587 - Free Icons Library">
            <a:extLst>
              <a:ext uri="{FF2B5EF4-FFF2-40B4-BE49-F238E27FC236}">
                <a16:creationId xmlns:a16="http://schemas.microsoft.com/office/drawing/2014/main" id="{D66678AC-48B5-4D1E-8D9A-7584F93AA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046" y="146476"/>
            <a:ext cx="1061334" cy="106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randmother and granddaughter clipart 4 » Clipart Station">
            <a:extLst>
              <a:ext uri="{FF2B5EF4-FFF2-40B4-BE49-F238E27FC236}">
                <a16:creationId xmlns:a16="http://schemas.microsoft.com/office/drawing/2014/main" id="{DD7839D9-F108-417A-B729-5E87079D4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77" b="94769" l="9840" r="89894">
                        <a14:foregroundMark x1="54876" y1="19923" x2="54876" y2="19923"/>
                        <a14:foregroundMark x1="25621" y1="41769" x2="25621" y2="41769"/>
                        <a14:foregroundMark x1="46543" y1="28769" x2="46543" y2="28769"/>
                        <a14:foregroundMark x1="55142" y1="28769" x2="55142" y2="28769"/>
                        <a14:foregroundMark x1="47961" y1="34154" x2="47961" y2="34154"/>
                        <a14:foregroundMark x1="69504" y1="46615" x2="69504" y2="46615"/>
                        <a14:foregroundMark x1="67199" y1="46231" x2="67199" y2="46231"/>
                        <a14:foregroundMark x1="63741" y1="38769" x2="63741" y2="38769"/>
                        <a14:foregroundMark x1="60461" y1="41615" x2="60461" y2="41615"/>
                        <a14:foregroundMark x1="58599" y1="39615" x2="58599" y2="39615"/>
                        <a14:foregroundMark x1="44504" y1="26692" x2="44504" y2="2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684" y="2322905"/>
            <a:ext cx="4063896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BAA12C94-7B11-4163-9605-D43BBC0428AD}"/>
              </a:ext>
            </a:extLst>
          </p:cNvPr>
          <p:cNvSpPr txBox="1"/>
          <p:nvPr/>
        </p:nvSpPr>
        <p:spPr>
          <a:xfrm>
            <a:off x="533675" y="978420"/>
            <a:ext cx="6715263" cy="647341"/>
          </a:xfrm>
          <a:prstGeom prst="wedgeRoundRectCallout">
            <a:avLst>
              <a:gd name="adj1" fmla="val -56290"/>
              <a:gd name="adj2" fmla="val 8051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mic Sans MS" panose="030F0702030302020204" pitchFamily="66" charset="0"/>
              </a:rPr>
              <a:t>What do you think they are talking about ?</a:t>
            </a: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F7CC044F-E79E-4EF7-BABB-C10870EDA3CC}"/>
              </a:ext>
            </a:extLst>
          </p:cNvPr>
          <p:cNvSpPr txBox="1"/>
          <p:nvPr/>
        </p:nvSpPr>
        <p:spPr>
          <a:xfrm>
            <a:off x="586155" y="3075513"/>
            <a:ext cx="2303349" cy="831433"/>
          </a:xfrm>
          <a:prstGeom prst="wedgeRoundRectCallout">
            <a:avLst>
              <a:gd name="adj1" fmla="val -56290"/>
              <a:gd name="adj2" fmla="val 8051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8000"/>
                </a:solidFill>
              </a:rPr>
              <a:t>football?</a:t>
            </a:r>
            <a:endParaRPr lang="ar-SA" sz="4800" dirty="0">
              <a:solidFill>
                <a:srgbClr val="008000"/>
              </a:solidFill>
            </a:endParaRP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41F6B4B7-E9C8-4F59-9D26-52647870D194}"/>
              </a:ext>
            </a:extLst>
          </p:cNvPr>
          <p:cNvSpPr txBox="1"/>
          <p:nvPr/>
        </p:nvSpPr>
        <p:spPr>
          <a:xfrm>
            <a:off x="2117657" y="4118105"/>
            <a:ext cx="2303349" cy="831433"/>
          </a:xfrm>
          <a:prstGeom prst="wedgeRoundRectCallout">
            <a:avLst>
              <a:gd name="adj1" fmla="val -56290"/>
              <a:gd name="adj2" fmla="val 8051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8000"/>
                </a:solidFill>
              </a:rPr>
              <a:t>….?</a:t>
            </a:r>
            <a:endParaRPr lang="ar-SA" sz="4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706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653295B0-9961-40B8-B99C-A7D9B597546D}"/>
              </a:ext>
            </a:extLst>
          </p:cNvPr>
          <p:cNvSpPr txBox="1">
            <a:spLocks/>
          </p:cNvSpPr>
          <p:nvPr/>
        </p:nvSpPr>
        <p:spPr>
          <a:xfrm>
            <a:off x="186658" y="135167"/>
            <a:ext cx="4858290" cy="706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FF0000"/>
                </a:solidFill>
                <a:latin typeface="+mn-lt"/>
              </a:rPr>
              <a:t>Listen to the audio</a:t>
            </a:r>
            <a:endParaRPr lang="ar-SA" sz="4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4" descr="Listening Icon #416587 - Free Icons Library">
            <a:extLst>
              <a:ext uri="{FF2B5EF4-FFF2-40B4-BE49-F238E27FC236}">
                <a16:creationId xmlns:a16="http://schemas.microsoft.com/office/drawing/2014/main" id="{D66678AC-48B5-4D1E-8D9A-7584F93AA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333" y="1104116"/>
            <a:ext cx="1061334" cy="106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randmother and granddaughter clipart 4 » Clipart Station">
            <a:extLst>
              <a:ext uri="{FF2B5EF4-FFF2-40B4-BE49-F238E27FC236}">
                <a16:creationId xmlns:a16="http://schemas.microsoft.com/office/drawing/2014/main" id="{DD7839D9-F108-417A-B729-5E87079D4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77" b="94769" l="9840" r="89894">
                        <a14:foregroundMark x1="54876" y1="19923" x2="54876" y2="19923"/>
                        <a14:foregroundMark x1="25621" y1="41769" x2="25621" y2="41769"/>
                        <a14:foregroundMark x1="46543" y1="28769" x2="46543" y2="28769"/>
                        <a14:foregroundMark x1="55142" y1="28769" x2="55142" y2="28769"/>
                        <a14:foregroundMark x1="47961" y1="34154" x2="47961" y2="34154"/>
                        <a14:foregroundMark x1="69504" y1="46615" x2="69504" y2="46615"/>
                        <a14:foregroundMark x1="67199" y1="46231" x2="67199" y2="46231"/>
                        <a14:foregroundMark x1="63741" y1="38769" x2="63741" y2="38769"/>
                        <a14:foregroundMark x1="60461" y1="41615" x2="60461" y2="41615"/>
                        <a14:foregroundMark x1="58599" y1="39615" x2="58599" y2="39615"/>
                        <a14:foregroundMark x1="44504" y1="26692" x2="44504" y2="2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684" y="2322905"/>
            <a:ext cx="4063896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719E1-A2D2-43E5-BD7B-DE0D22AE9D36}"/>
              </a:ext>
            </a:extLst>
          </p:cNvPr>
          <p:cNvSpPr txBox="1"/>
          <p:nvPr/>
        </p:nvSpPr>
        <p:spPr>
          <a:xfrm>
            <a:off x="415012" y="2122850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What are they talking about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53C2E-B960-4795-8ED9-BFBE609A671D}"/>
              </a:ext>
            </a:extLst>
          </p:cNvPr>
          <p:cNvSpPr txBox="1"/>
          <p:nvPr/>
        </p:nvSpPr>
        <p:spPr>
          <a:xfrm>
            <a:off x="415010" y="2624874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What is the granddaughter’s name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5A395-DB11-4317-98DB-935DD1E27509}"/>
              </a:ext>
            </a:extLst>
          </p:cNvPr>
          <p:cNvSpPr txBox="1"/>
          <p:nvPr/>
        </p:nvSpPr>
        <p:spPr>
          <a:xfrm>
            <a:off x="415010" y="3184184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What is Cara’s friend  name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8BDF0-C1DB-41E7-B857-F5F92CFB0E6D}"/>
              </a:ext>
            </a:extLst>
          </p:cNvPr>
          <p:cNvSpPr txBox="1"/>
          <p:nvPr/>
        </p:nvSpPr>
        <p:spPr>
          <a:xfrm>
            <a:off x="415009" y="3749012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What is Cara doing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5256C-E0F1-449A-B0FD-80AF1D9A118C}"/>
              </a:ext>
            </a:extLst>
          </p:cNvPr>
          <p:cNvSpPr txBox="1"/>
          <p:nvPr/>
        </p:nvSpPr>
        <p:spPr>
          <a:xfrm>
            <a:off x="415008" y="4318877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What is the sound grandma heard first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D394C-580B-4B57-9912-347B86E2F13C}"/>
              </a:ext>
            </a:extLst>
          </p:cNvPr>
          <p:cNvSpPr txBox="1"/>
          <p:nvPr/>
        </p:nvSpPr>
        <p:spPr>
          <a:xfrm>
            <a:off x="415008" y="4873150"/>
            <a:ext cx="532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Does grandma know how to text ?</a:t>
            </a:r>
          </a:p>
        </p:txBody>
      </p:sp>
    </p:spTree>
    <p:extLst>
      <p:ext uri="{BB962C8B-B14F-4D97-AF65-F5344CB8AC3E}">
        <p14:creationId xmlns:p14="http://schemas.microsoft.com/office/powerpoint/2010/main" val="40851335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stening Icon #416587 - Free Icons Library">
            <a:extLst>
              <a:ext uri="{FF2B5EF4-FFF2-40B4-BE49-F238E27FC236}">
                <a16:creationId xmlns:a16="http://schemas.microsoft.com/office/drawing/2014/main" id="{D66678AC-48B5-4D1E-8D9A-7584F93AA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968" y="402679"/>
            <a:ext cx="1061334" cy="106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9227AA32-4C2B-42C0-93D7-12DBF3D79DCC}"/>
              </a:ext>
            </a:extLst>
          </p:cNvPr>
          <p:cNvSpPr txBox="1"/>
          <p:nvPr/>
        </p:nvSpPr>
        <p:spPr>
          <a:xfrm>
            <a:off x="5085183" y="3221301"/>
            <a:ext cx="2848238" cy="851297"/>
          </a:xfrm>
          <a:prstGeom prst="wedgeRoundRectCallout">
            <a:avLst>
              <a:gd name="adj1" fmla="val -62711"/>
              <a:gd name="adj2" fmla="val 23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999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Listen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‘N’ </a:t>
            </a:r>
            <a:r>
              <a:rPr lang="en-US" sz="24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9" name="MG Bk 3 F-SA_'17_1-06">
            <a:hlinkClick r:id="" action="ppaction://media"/>
            <a:extLst>
              <a:ext uri="{FF2B5EF4-FFF2-40B4-BE49-F238E27FC236}">
                <a16:creationId xmlns:a16="http://schemas.microsoft.com/office/drawing/2014/main" id="{A189B9FB-4038-49D1-9211-97849A02A3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9466" y="1804226"/>
            <a:ext cx="1061334" cy="1061334"/>
          </a:xfrm>
          <a:prstGeom prst="rect">
            <a:avLst/>
          </a:prstGeom>
        </p:spPr>
      </p:pic>
      <p:pic>
        <p:nvPicPr>
          <p:cNvPr id="7" name="Picture 2" descr="Grandmother and granddaughter clipart 4 » Clipart Station">
            <a:extLst>
              <a:ext uri="{FF2B5EF4-FFF2-40B4-BE49-F238E27FC236}">
                <a16:creationId xmlns:a16="http://schemas.microsoft.com/office/drawing/2014/main" id="{E8CF2E20-1F06-407F-AB00-C95F18AAD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077" b="94769" l="9840" r="89894">
                        <a14:foregroundMark x1="54876" y1="19923" x2="54876" y2="19923"/>
                        <a14:foregroundMark x1="25621" y1="41769" x2="25621" y2="41769"/>
                        <a14:foregroundMark x1="46543" y1="28769" x2="46543" y2="28769"/>
                        <a14:foregroundMark x1="55142" y1="28769" x2="55142" y2="28769"/>
                        <a14:foregroundMark x1="47961" y1="34154" x2="47961" y2="34154"/>
                        <a14:foregroundMark x1="69504" y1="46615" x2="69504" y2="46615"/>
                        <a14:foregroundMark x1="67199" y1="46231" x2="67199" y2="46231"/>
                        <a14:foregroundMark x1="63741" y1="38769" x2="63741" y2="38769"/>
                        <a14:foregroundMark x1="60461" y1="41615" x2="60461" y2="41615"/>
                        <a14:foregroundMark x1="58599" y1="39615" x2="58599" y2="39615"/>
                        <a14:foregroundMark x1="44504" y1="26692" x2="44504" y2="2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698" y="4596970"/>
            <a:ext cx="2085421" cy="240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1578D1D3-3233-4C44-B0A3-D0D64F91BE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8" y="203897"/>
            <a:ext cx="3849603" cy="58788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18360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randmother and granddaughter clipart 4 » Clipart Station">
            <a:extLst>
              <a:ext uri="{FF2B5EF4-FFF2-40B4-BE49-F238E27FC236}">
                <a16:creationId xmlns:a16="http://schemas.microsoft.com/office/drawing/2014/main" id="{E8CF2E20-1F06-407F-AB00-C95F18AAD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77" b="94769" l="9840" r="89894">
                        <a14:foregroundMark x1="54876" y1="19923" x2="54876" y2="19923"/>
                        <a14:foregroundMark x1="25621" y1="41769" x2="25621" y2="41769"/>
                        <a14:foregroundMark x1="46543" y1="28769" x2="46543" y2="28769"/>
                        <a14:foregroundMark x1="55142" y1="28769" x2="55142" y2="28769"/>
                        <a14:foregroundMark x1="47961" y1="34154" x2="47961" y2="34154"/>
                        <a14:foregroundMark x1="69504" y1="46615" x2="69504" y2="46615"/>
                        <a14:foregroundMark x1="67199" y1="46231" x2="67199" y2="46231"/>
                        <a14:foregroundMark x1="63741" y1="38769" x2="63741" y2="38769"/>
                        <a14:foregroundMark x1="60461" y1="41615" x2="60461" y2="41615"/>
                        <a14:foregroundMark x1="58599" y1="39615" x2="58599" y2="39615"/>
                        <a14:foregroundMark x1="44504" y1="26692" x2="44504" y2="2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698" y="4596970"/>
            <a:ext cx="2085421" cy="240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alking Mouth Or Talk Animations Greentral Com - Communication Clipart |  Transparent PNG Download #1961172 - Vippng">
            <a:extLst>
              <a:ext uri="{FF2B5EF4-FFF2-40B4-BE49-F238E27FC236}">
                <a16:creationId xmlns:a16="http://schemas.microsoft.com/office/drawing/2014/main" id="{43C59477-6286-42AE-996F-24FF23027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214" y="1195871"/>
            <a:ext cx="2307572" cy="155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مستطيل 5">
            <a:extLst>
              <a:ext uri="{FF2B5EF4-FFF2-40B4-BE49-F238E27FC236}">
                <a16:creationId xmlns:a16="http://schemas.microsoft.com/office/drawing/2014/main" id="{97B708DF-301C-4C22-83F7-947BE6B49934}"/>
              </a:ext>
            </a:extLst>
          </p:cNvPr>
          <p:cNvSpPr/>
          <p:nvPr/>
        </p:nvSpPr>
        <p:spPr>
          <a:xfrm>
            <a:off x="4605751" y="88798"/>
            <a:ext cx="4815840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Role-Play Time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C540603-7BE2-4E41-BD7B-5A14FF16C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8" y="203897"/>
            <a:ext cx="3849603" cy="58788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63796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>
            <a:extLst>
              <a:ext uri="{FF2B5EF4-FFF2-40B4-BE49-F238E27FC236}">
                <a16:creationId xmlns:a16="http://schemas.microsoft.com/office/drawing/2014/main" id="{3C00807C-2BE0-46B5-A0BC-E6AE0365D898}"/>
              </a:ext>
            </a:extLst>
          </p:cNvPr>
          <p:cNvSpPr/>
          <p:nvPr/>
        </p:nvSpPr>
        <p:spPr>
          <a:xfrm>
            <a:off x="597408" y="85344"/>
            <a:ext cx="4815840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8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Language Builder</a:t>
            </a:r>
          </a:p>
        </p:txBody>
      </p:sp>
      <p:pic>
        <p:nvPicPr>
          <p:cNvPr id="4" name="صورة 3" descr="صورة تحتوي على كوب, عنصر, المصباح, قهوة&#10;&#10;تم إنشاء الوصف تلقائياً">
            <a:extLst>
              <a:ext uri="{FF2B5EF4-FFF2-40B4-BE49-F238E27FC236}">
                <a16:creationId xmlns:a16="http://schemas.microsoft.com/office/drawing/2014/main" id="{91E12C08-88BA-450F-BFAB-293AB91EF0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303" y="5122157"/>
            <a:ext cx="880259" cy="1494034"/>
          </a:xfrm>
          <a:prstGeom prst="rect">
            <a:avLst/>
          </a:prstGeom>
        </p:spPr>
      </p:pic>
      <p:pic>
        <p:nvPicPr>
          <p:cNvPr id="7172" name="Picture 4" descr="LOL Acronym Abbreviation Clip Art, PNG, 600x600px, Acronym, Abbreviation,  Can Stock Photo, Clip Art, Comic Book">
            <a:extLst>
              <a:ext uri="{FF2B5EF4-FFF2-40B4-BE49-F238E27FC236}">
                <a16:creationId xmlns:a16="http://schemas.microsoft.com/office/drawing/2014/main" id="{AF32FC2D-E60D-4BB2-B299-BAADAAC30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0" b="975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082" y="658348"/>
            <a:ext cx="3011286" cy="220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lz Clipart - Line Sticker Png , Free Transparent Clipart - ClipartKey">
            <a:extLst>
              <a:ext uri="{FF2B5EF4-FFF2-40B4-BE49-F238E27FC236}">
                <a16:creationId xmlns:a16="http://schemas.microsoft.com/office/drawing/2014/main" id="{57242412-34F9-4FE4-B8B0-3A172DF680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46" b="40264" l="17000" r="50889">
                        <a14:foregroundMark x1="43000" y1="14686" x2="43000" y2="14686"/>
                        <a14:foregroundMark x1="32333" y1="22112" x2="32333" y2="22112"/>
                        <a14:foregroundMark x1="27222" y1="22277" x2="27222" y2="22277"/>
                        <a14:backgroundMark x1="50000" y1="24422" x2="50000" y2="24422"/>
                        <a14:backgroundMark x1="48556" y1="19307" x2="48556" y2="19307"/>
                        <a14:backgroundMark x1="49556" y1="28383" x2="49556" y2="28383"/>
                        <a14:backgroundMark x1="48000" y1="24422" x2="48000" y2="24422"/>
                        <a14:backgroundMark x1="49111" y1="20957" x2="49111" y2="20957"/>
                        <a14:backgroundMark x1="49000" y1="16997" x2="49000" y2="16997"/>
                        <a14:backgroundMark x1="47444" y1="17822" x2="47444" y2="17822"/>
                        <a14:backgroundMark x1="49444" y1="28383" x2="49444" y2="28383"/>
                        <a14:backgroundMark x1="48889" y1="23762" x2="48889" y2="237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35" t="4337" r="45165" b="58713"/>
          <a:stretch/>
        </p:blipFill>
        <p:spPr bwMode="auto">
          <a:xfrm>
            <a:off x="1881142" y="983590"/>
            <a:ext cx="2248371" cy="145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مربع نص 7">
            <a:extLst>
              <a:ext uri="{FF2B5EF4-FFF2-40B4-BE49-F238E27FC236}">
                <a16:creationId xmlns:a16="http://schemas.microsoft.com/office/drawing/2014/main" id="{08DEB8B8-F88F-4E43-8B9C-9FCD1F63A777}"/>
              </a:ext>
            </a:extLst>
          </p:cNvPr>
          <p:cNvSpPr txBox="1"/>
          <p:nvPr/>
        </p:nvSpPr>
        <p:spPr>
          <a:xfrm>
            <a:off x="1418968" y="2473261"/>
            <a:ext cx="2833349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999" dirty="0">
                <a:solidFill>
                  <a:srgbClr val="0000CC"/>
                </a:solidFill>
                <a:latin typeface="Comic Sans MS" panose="030F0702030302020204" pitchFamily="66" charset="0"/>
              </a:rPr>
              <a:t>abbreviation</a:t>
            </a:r>
            <a:endParaRPr lang="ar-SA" sz="2999" dirty="0">
              <a:solidFill>
                <a:srgbClr val="0000CC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16B23B5A-8C37-4EFB-A6CD-E6CFA7D09CA6}"/>
              </a:ext>
            </a:extLst>
          </p:cNvPr>
          <p:cNvSpPr txBox="1"/>
          <p:nvPr/>
        </p:nvSpPr>
        <p:spPr>
          <a:xfrm>
            <a:off x="8010886" y="2549646"/>
            <a:ext cx="2833349" cy="71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999" dirty="0">
                <a:solidFill>
                  <a:srgbClr val="0000CC"/>
                </a:solidFill>
                <a:latin typeface="Comic Sans MS" panose="030F0702030302020204" pitchFamily="66" charset="0"/>
              </a:rPr>
              <a:t>acronym</a:t>
            </a:r>
            <a:endParaRPr lang="ar-SA" sz="2999" dirty="0">
              <a:solidFill>
                <a:srgbClr val="0000CC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1C2F4E6-75BA-41B9-8117-10979C8EDF8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456" t="83297" r="24" b="-6392"/>
          <a:stretch/>
        </p:blipFill>
        <p:spPr>
          <a:xfrm rot="16200000">
            <a:off x="3248475" y="3755218"/>
            <a:ext cx="5681193" cy="137938"/>
          </a:xfrm>
          <a:prstGeom prst="rect">
            <a:avLst/>
          </a:prstGeom>
        </p:spPr>
      </p:pic>
      <p:sp>
        <p:nvSpPr>
          <p:cNvPr id="12" name="مربع نص 11">
            <a:extLst>
              <a:ext uri="{FF2B5EF4-FFF2-40B4-BE49-F238E27FC236}">
                <a16:creationId xmlns:a16="http://schemas.microsoft.com/office/drawing/2014/main" id="{2B0BA4FD-4429-463A-BF50-24BAC36CB736}"/>
              </a:ext>
            </a:extLst>
          </p:cNvPr>
          <p:cNvSpPr txBox="1"/>
          <p:nvPr/>
        </p:nvSpPr>
        <p:spPr>
          <a:xfrm>
            <a:off x="464467" y="3310128"/>
            <a:ext cx="4948781" cy="267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short form of a word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PLZ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=  </a:t>
            </a:r>
            <a:r>
              <a:rPr lang="en-US" sz="2000" dirty="0">
                <a:ln w="0"/>
                <a:solidFill>
                  <a:srgbClr val="CC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please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ovr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=  </a:t>
            </a:r>
            <a:r>
              <a:rPr lang="en-US" sz="2000" dirty="0">
                <a:ln w="0"/>
                <a:solidFill>
                  <a:srgbClr val="CC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over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Gr8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=  </a:t>
            </a:r>
            <a:r>
              <a:rPr lang="en-US" dirty="0">
                <a:ln w="0"/>
                <a:solidFill>
                  <a:srgbClr val="CC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great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B4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  =  </a:t>
            </a:r>
            <a:r>
              <a:rPr lang="en-US" dirty="0">
                <a:ln w="0"/>
                <a:solidFill>
                  <a:srgbClr val="CC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before</a:t>
            </a:r>
            <a:endParaRPr lang="ar-SA" dirty="0">
              <a:ln w="0"/>
              <a:solidFill>
                <a:srgbClr val="CC00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9A9B1D5-1AAF-48B1-B145-2F1B43A36244}"/>
              </a:ext>
            </a:extLst>
          </p:cNvPr>
          <p:cNvSpPr txBox="1"/>
          <p:nvPr/>
        </p:nvSpPr>
        <p:spPr>
          <a:xfrm>
            <a:off x="6461760" y="3316224"/>
            <a:ext cx="5597893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rgbClr val="C00000"/>
                </a:solidFill>
                <a:latin typeface="Comic Sans MS" panose="030F0702030302020204" pitchFamily="66" charset="0"/>
              </a:rPr>
              <a:t>first</a:t>
            </a:r>
            <a:r>
              <a:rPr lang="en-US" sz="2000" u="sng" dirty="0">
                <a:latin typeface="Comic Sans MS" panose="030F0702030302020204" pitchFamily="66" charset="0"/>
              </a:rPr>
              <a:t> </a:t>
            </a:r>
            <a:r>
              <a:rPr lang="en-US" sz="2000" u="sng" dirty="0">
                <a:solidFill>
                  <a:srgbClr val="C00000"/>
                </a:solidFill>
                <a:latin typeface="Comic Sans MS" panose="030F0702030302020204" pitchFamily="66" charset="0"/>
              </a:rPr>
              <a:t>letters</a:t>
            </a:r>
            <a:r>
              <a:rPr lang="en-US" sz="2000" dirty="0">
                <a:latin typeface="Comic Sans MS" panose="030F0702030302020204" pitchFamily="66" charset="0"/>
              </a:rPr>
              <a:t>  of several words to write a phrase. 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OMG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 =     </a:t>
            </a:r>
            <a:r>
              <a:rPr lang="en-US" i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</a:t>
            </a:r>
            <a:r>
              <a:rPr lang="en-US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hh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y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G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DYWT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=  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y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ant </a:t>
            </a:r>
            <a:r>
              <a:rPr lang="en-US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</a:t>
            </a:r>
            <a:r>
              <a:rPr lang="en-U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WU?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  =   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hat’s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p?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rgbClr val="008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B4N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  =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ye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or </a:t>
            </a:r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ow</a:t>
            </a:r>
          </a:p>
          <a:p>
            <a:pPr>
              <a:lnSpc>
                <a:spcPct val="150000"/>
              </a:lnSpc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9679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randmother and granddaughter clipart 4 » Clipart Station">
            <a:extLst>
              <a:ext uri="{FF2B5EF4-FFF2-40B4-BE49-F238E27FC236}">
                <a16:creationId xmlns:a16="http://schemas.microsoft.com/office/drawing/2014/main" id="{E8CF2E20-1F06-407F-AB00-C95F18AAD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77" b="94769" l="9840" r="89894">
                        <a14:foregroundMark x1="54876" y1="19923" x2="54876" y2="19923"/>
                        <a14:foregroundMark x1="25621" y1="41769" x2="25621" y2="41769"/>
                        <a14:foregroundMark x1="46543" y1="28769" x2="46543" y2="28769"/>
                        <a14:foregroundMark x1="55142" y1="28769" x2="55142" y2="28769"/>
                        <a14:foregroundMark x1="47961" y1="34154" x2="47961" y2="34154"/>
                        <a14:foregroundMark x1="69504" y1="46615" x2="69504" y2="46615"/>
                        <a14:foregroundMark x1="67199" y1="46231" x2="67199" y2="46231"/>
                        <a14:foregroundMark x1="63741" y1="38769" x2="63741" y2="38769"/>
                        <a14:foregroundMark x1="60461" y1="41615" x2="60461" y2="41615"/>
                        <a14:foregroundMark x1="58599" y1="39615" x2="58599" y2="39615"/>
                        <a14:foregroundMark x1="44504" y1="26692" x2="44504" y2="2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003" y="3143322"/>
            <a:ext cx="2085421" cy="240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C540603-7BE2-4E41-BD7B-5A14FF16C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8" y="203897"/>
            <a:ext cx="3849603" cy="58788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9" name="رابط مستقيم 27">
            <a:extLst>
              <a:ext uri="{FF2B5EF4-FFF2-40B4-BE49-F238E27FC236}">
                <a16:creationId xmlns:a16="http://schemas.microsoft.com/office/drawing/2014/main" id="{2F7B1D50-B7A8-4B66-90E4-753AC4F1DD4E}"/>
              </a:ext>
            </a:extLst>
          </p:cNvPr>
          <p:cNvCxnSpPr>
            <a:cxnSpLocks/>
          </p:cNvCxnSpPr>
          <p:nvPr/>
        </p:nvCxnSpPr>
        <p:spPr>
          <a:xfrm>
            <a:off x="2443749" y="1790865"/>
            <a:ext cx="7802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رابط مستقيم 27">
            <a:extLst>
              <a:ext uri="{FF2B5EF4-FFF2-40B4-BE49-F238E27FC236}">
                <a16:creationId xmlns:a16="http://schemas.microsoft.com/office/drawing/2014/main" id="{FCB197F5-51E2-4F8C-B7F4-A8AC479395E2}"/>
              </a:ext>
            </a:extLst>
          </p:cNvPr>
          <p:cNvCxnSpPr>
            <a:cxnSpLocks/>
          </p:cNvCxnSpPr>
          <p:nvPr/>
        </p:nvCxnSpPr>
        <p:spPr>
          <a:xfrm>
            <a:off x="3006967" y="2446847"/>
            <a:ext cx="5048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رابط مستقيم 27">
            <a:extLst>
              <a:ext uri="{FF2B5EF4-FFF2-40B4-BE49-F238E27FC236}">
                <a16:creationId xmlns:a16="http://schemas.microsoft.com/office/drawing/2014/main" id="{F014A263-15EB-48A7-9ABD-3866AD5BB6C3}"/>
              </a:ext>
            </a:extLst>
          </p:cNvPr>
          <p:cNvCxnSpPr>
            <a:cxnSpLocks/>
          </p:cNvCxnSpPr>
          <p:nvPr/>
        </p:nvCxnSpPr>
        <p:spPr>
          <a:xfrm>
            <a:off x="1863085" y="2837786"/>
            <a:ext cx="5048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رابط مستقيم 27">
            <a:extLst>
              <a:ext uri="{FF2B5EF4-FFF2-40B4-BE49-F238E27FC236}">
                <a16:creationId xmlns:a16="http://schemas.microsoft.com/office/drawing/2014/main" id="{C2D7F350-6DEB-43D3-8236-DB1CA099FFAD}"/>
              </a:ext>
            </a:extLst>
          </p:cNvPr>
          <p:cNvCxnSpPr>
            <a:cxnSpLocks/>
          </p:cNvCxnSpPr>
          <p:nvPr/>
        </p:nvCxnSpPr>
        <p:spPr>
          <a:xfrm>
            <a:off x="1719104" y="5574359"/>
            <a:ext cx="3831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رابط مستقيم 27">
            <a:extLst>
              <a:ext uri="{FF2B5EF4-FFF2-40B4-BE49-F238E27FC236}">
                <a16:creationId xmlns:a16="http://schemas.microsoft.com/office/drawing/2014/main" id="{95E2A088-A8A2-4B0B-9034-E5B10E2C94E2}"/>
              </a:ext>
            </a:extLst>
          </p:cNvPr>
          <p:cNvCxnSpPr>
            <a:cxnSpLocks/>
          </p:cNvCxnSpPr>
          <p:nvPr/>
        </p:nvCxnSpPr>
        <p:spPr>
          <a:xfrm>
            <a:off x="1997460" y="6031560"/>
            <a:ext cx="11300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221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B31FB05-177E-4CD4-9293-EB0CB6754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65" y="265350"/>
            <a:ext cx="4980078" cy="19664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4" name="رابط مستقيم 27">
            <a:extLst>
              <a:ext uri="{FF2B5EF4-FFF2-40B4-BE49-F238E27FC236}">
                <a16:creationId xmlns:a16="http://schemas.microsoft.com/office/drawing/2014/main" id="{31EC0164-73BC-4D51-AADA-D1EFEF911826}"/>
              </a:ext>
            </a:extLst>
          </p:cNvPr>
          <p:cNvCxnSpPr>
            <a:cxnSpLocks/>
          </p:cNvCxnSpPr>
          <p:nvPr/>
        </p:nvCxnSpPr>
        <p:spPr>
          <a:xfrm>
            <a:off x="842668" y="995733"/>
            <a:ext cx="11716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رابط مستقيم 27">
            <a:extLst>
              <a:ext uri="{FF2B5EF4-FFF2-40B4-BE49-F238E27FC236}">
                <a16:creationId xmlns:a16="http://schemas.microsoft.com/office/drawing/2014/main" id="{E5F05A5E-4FF0-4FB1-B4CC-3DD3633CF51D}"/>
              </a:ext>
            </a:extLst>
          </p:cNvPr>
          <p:cNvCxnSpPr>
            <a:cxnSpLocks/>
          </p:cNvCxnSpPr>
          <p:nvPr/>
        </p:nvCxnSpPr>
        <p:spPr>
          <a:xfrm>
            <a:off x="829416" y="1254156"/>
            <a:ext cx="6813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رابط مستقيم 27">
            <a:extLst>
              <a:ext uri="{FF2B5EF4-FFF2-40B4-BE49-F238E27FC236}">
                <a16:creationId xmlns:a16="http://schemas.microsoft.com/office/drawing/2014/main" id="{273B1FB4-A59C-4462-8CC3-E70A416AE3E3}"/>
              </a:ext>
            </a:extLst>
          </p:cNvPr>
          <p:cNvCxnSpPr>
            <a:cxnSpLocks/>
          </p:cNvCxnSpPr>
          <p:nvPr/>
        </p:nvCxnSpPr>
        <p:spPr>
          <a:xfrm>
            <a:off x="842668" y="1565579"/>
            <a:ext cx="6813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رابط مستقيم 27">
            <a:extLst>
              <a:ext uri="{FF2B5EF4-FFF2-40B4-BE49-F238E27FC236}">
                <a16:creationId xmlns:a16="http://schemas.microsoft.com/office/drawing/2014/main" id="{AD1E6BA1-01F8-4956-A4C6-26B7315215A0}"/>
              </a:ext>
            </a:extLst>
          </p:cNvPr>
          <p:cNvCxnSpPr>
            <a:cxnSpLocks/>
          </p:cNvCxnSpPr>
          <p:nvPr/>
        </p:nvCxnSpPr>
        <p:spPr>
          <a:xfrm>
            <a:off x="842668" y="1823994"/>
            <a:ext cx="4295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رابط مستقيم 27">
            <a:extLst>
              <a:ext uri="{FF2B5EF4-FFF2-40B4-BE49-F238E27FC236}">
                <a16:creationId xmlns:a16="http://schemas.microsoft.com/office/drawing/2014/main" id="{14D09B79-0718-4A93-A995-710158FEC61A}"/>
              </a:ext>
            </a:extLst>
          </p:cNvPr>
          <p:cNvCxnSpPr>
            <a:cxnSpLocks/>
          </p:cNvCxnSpPr>
          <p:nvPr/>
        </p:nvCxnSpPr>
        <p:spPr>
          <a:xfrm>
            <a:off x="829416" y="2095667"/>
            <a:ext cx="13306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35CFF16-9A45-4564-9563-AF0C00B0C25B}"/>
              </a:ext>
            </a:extLst>
          </p:cNvPr>
          <p:cNvSpPr txBox="1"/>
          <p:nvPr/>
        </p:nvSpPr>
        <p:spPr>
          <a:xfrm>
            <a:off x="291548" y="2622809"/>
            <a:ext cx="9886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How on earth</a:t>
            </a:r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 did that happen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99DE0-721D-4824-83F4-1743D914DCA5}"/>
              </a:ext>
            </a:extLst>
          </p:cNvPr>
          <p:cNvSpPr txBox="1"/>
          <p:nvPr/>
        </p:nvSpPr>
        <p:spPr>
          <a:xfrm>
            <a:off x="291548" y="3385901"/>
            <a:ext cx="9886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If you can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hold on</a:t>
            </a:r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 , I’ll go and get some help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57FE4-6B69-4496-B516-488233D99444}"/>
              </a:ext>
            </a:extLst>
          </p:cNvPr>
          <p:cNvSpPr txBox="1"/>
          <p:nvPr/>
        </p:nvSpPr>
        <p:spPr>
          <a:xfrm>
            <a:off x="291548" y="4148993"/>
            <a:ext cx="9886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Where do the youngsters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hang out </a:t>
            </a:r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7ECCE-CDEF-4CFD-9E5A-E33FE8F570D5}"/>
              </a:ext>
            </a:extLst>
          </p:cNvPr>
          <p:cNvSpPr txBox="1"/>
          <p:nvPr/>
        </p:nvSpPr>
        <p:spPr>
          <a:xfrm>
            <a:off x="291548" y="4912085"/>
            <a:ext cx="9886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  <a:latin typeface="Comic Sans MS" panose="030F0702030302020204" pitchFamily="66" charset="0"/>
              </a:rPr>
              <a:t>I don’t </a:t>
            </a:r>
            <a:r>
              <a:rPr lang="en-US" sz="2400" i="1" dirty="0">
                <a:solidFill>
                  <a:srgbClr val="0000FF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get it </a:t>
            </a:r>
            <a:r>
              <a:rPr lang="en-US" sz="2400" i="1" dirty="0">
                <a:highlight>
                  <a:srgbClr val="FFFF00"/>
                </a:highlight>
                <a:latin typeface="Comic Sans MS" panose="030F0702030302020204" pitchFamily="66" charset="0"/>
              </a:rPr>
              <a:t>– it doesn’t make sense .</a:t>
            </a:r>
            <a:endParaRPr lang="en-US" sz="3200" dirty="0">
              <a:highlight>
                <a:srgbClr val="FFFF00"/>
              </a:highlight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C87941-BFAD-4DA2-98D3-2810FBF5A7EB}"/>
              </a:ext>
            </a:extLst>
          </p:cNvPr>
          <p:cNvSpPr txBox="1"/>
          <p:nvPr/>
        </p:nvSpPr>
        <p:spPr>
          <a:xfrm>
            <a:off x="291548" y="5675177"/>
            <a:ext cx="11754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I’ll teach you how to use the program – you’ll get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mic Sans MS" panose="030F0702030302020204" pitchFamily="66" charset="0"/>
              </a:rPr>
              <a:t>the hang of it </a:t>
            </a:r>
            <a:r>
              <a:rPr lang="en-US" sz="2400" dirty="0">
                <a:highlight>
                  <a:srgbClr val="FFFF00"/>
                </a:highlight>
                <a:latin typeface="Comic Sans MS" panose="030F0702030302020204" pitchFamily="66" charset="0"/>
              </a:rPr>
              <a:t>after a while</a:t>
            </a:r>
            <a:r>
              <a:rPr lang="en-US" sz="2400" i="1" dirty="0">
                <a:highlight>
                  <a:srgbClr val="FFFF00"/>
                </a:highlight>
                <a:latin typeface="Comic Sans MS" panose="030F0702030302020204" pitchFamily="66" charset="0"/>
              </a:rPr>
              <a:t>.</a:t>
            </a:r>
            <a:endParaRPr lang="en-US" sz="2400" dirty="0">
              <a:highlight>
                <a:srgbClr val="FFFF00"/>
              </a:highligh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19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>
            <a:extLst>
              <a:ext uri="{FF2B5EF4-FFF2-40B4-BE49-F238E27FC236}">
                <a16:creationId xmlns:a16="http://schemas.microsoft.com/office/drawing/2014/main" id="{3C00807C-2BE0-46B5-A0BC-E6AE0365D898}"/>
              </a:ext>
            </a:extLst>
          </p:cNvPr>
          <p:cNvSpPr/>
          <p:nvPr/>
        </p:nvSpPr>
        <p:spPr>
          <a:xfrm>
            <a:off x="438912" y="192282"/>
            <a:ext cx="4815840" cy="64633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Real Talk </a:t>
            </a:r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(phrases)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Talking Mouth Or Talk Animations Greentral Com - Communication Clipart |  Transparent PNG Download #1961172 - Vippng">
            <a:extLst>
              <a:ext uri="{FF2B5EF4-FFF2-40B4-BE49-F238E27FC236}">
                <a16:creationId xmlns:a16="http://schemas.microsoft.com/office/drawing/2014/main" id="{254CA3BF-D9D9-4845-8DDD-EDE6921E9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552" y="125314"/>
            <a:ext cx="1727521" cy="91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مستطيل 3">
            <a:extLst>
              <a:ext uri="{FF2B5EF4-FFF2-40B4-BE49-F238E27FC236}">
                <a16:creationId xmlns:a16="http://schemas.microsoft.com/office/drawing/2014/main" id="{8745DC7E-4FBA-47E6-8784-B7EB44625057}"/>
              </a:ext>
            </a:extLst>
          </p:cNvPr>
          <p:cNvSpPr/>
          <p:nvPr/>
        </p:nvSpPr>
        <p:spPr>
          <a:xfrm>
            <a:off x="3791712" y="99949"/>
            <a:ext cx="4815840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Practice Time</a:t>
            </a: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7475B4A6-BE7B-4772-BF39-019B5419D3A6}"/>
              </a:ext>
            </a:extLst>
          </p:cNvPr>
          <p:cNvSpPr txBox="1"/>
          <p:nvPr/>
        </p:nvSpPr>
        <p:spPr>
          <a:xfrm>
            <a:off x="1548384" y="1510708"/>
            <a:ext cx="9851136" cy="3696899"/>
          </a:xfrm>
          <a:prstGeom prst="roundRect">
            <a:avLst/>
          </a:prstGeom>
          <a:gradFill flip="none" rotWithShape="1">
            <a:gsLst>
              <a:gs pos="0">
                <a:srgbClr val="CCCC00">
                  <a:tint val="66000"/>
                  <a:satMod val="160000"/>
                </a:srgbClr>
              </a:gs>
              <a:gs pos="50000">
                <a:srgbClr val="CCCC00">
                  <a:tint val="44500"/>
                  <a:satMod val="160000"/>
                </a:srgbClr>
              </a:gs>
              <a:gs pos="100000">
                <a:srgbClr val="CCCC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How on earth can you _____?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My friends and I often hang out at ______.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Hold on a minute. I have to _____.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 don’t get it. Why do you _____?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 finally got the hang of ______. </a:t>
            </a:r>
            <a:endParaRPr lang="ar-SA" sz="28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9872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2974918-64D2-4AB9-A3A2-D8C13658D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58" y="260037"/>
            <a:ext cx="4475867" cy="29261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9B9CB7-B7A9-4AD7-835A-CFD59D85B1FF}"/>
              </a:ext>
            </a:extLst>
          </p:cNvPr>
          <p:cNvSpPr txBox="1"/>
          <p:nvPr/>
        </p:nvSpPr>
        <p:spPr>
          <a:xfrm>
            <a:off x="559958" y="3671828"/>
            <a:ext cx="10624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1-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The grandmother doesn’t understand how Cara types a text message so quickly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E848F-A112-4C27-BF33-9CF7CA50DCC5}"/>
              </a:ext>
            </a:extLst>
          </p:cNvPr>
          <p:cNvSpPr txBox="1"/>
          <p:nvPr/>
        </p:nvSpPr>
        <p:spPr>
          <a:xfrm>
            <a:off x="559957" y="4988480"/>
            <a:ext cx="10624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2-</a:t>
            </a: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</a:rPr>
              <a:t> The grandmother learns the acronym, “DYWT,” or “do you want to.”</a:t>
            </a:r>
          </a:p>
        </p:txBody>
      </p:sp>
    </p:spTree>
    <p:extLst>
      <p:ext uri="{BB962C8B-B14F-4D97-AF65-F5344CB8AC3E}">
        <p14:creationId xmlns:p14="http://schemas.microsoft.com/office/powerpoint/2010/main" val="22074674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39BE547-A243-4D60-88B6-E4C3687E5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58"/>
          <a:stretch/>
        </p:blipFill>
        <p:spPr>
          <a:xfrm>
            <a:off x="1949813" y="3078690"/>
            <a:ext cx="7508036" cy="2500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1154077-B2E5-4B9B-9864-2BD16746A5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347380" y="278051"/>
            <a:ext cx="4265455" cy="1232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E841FB-7B9B-4105-95DE-3F48A665DF32}"/>
              </a:ext>
            </a:extLst>
          </p:cNvPr>
          <p:cNvSpPr txBox="1"/>
          <p:nvPr/>
        </p:nvSpPr>
        <p:spPr>
          <a:xfrm>
            <a:off x="783561" y="1971758"/>
            <a:ext cx="10624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Which things would you say when you don’t understand something or want an explanation ?</a:t>
            </a:r>
          </a:p>
        </p:txBody>
      </p:sp>
      <p:pic>
        <p:nvPicPr>
          <p:cNvPr id="8" name="Picture 6" descr="Explanation – Markpedder's Weblog">
            <a:extLst>
              <a:ext uri="{FF2B5EF4-FFF2-40B4-BE49-F238E27FC236}">
                <a16:creationId xmlns:a16="http://schemas.microsoft.com/office/drawing/2014/main" id="{AD6A7F5D-5B8A-4B60-8CF3-F0459297F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04" b="100000" l="0" r="100000">
                        <a14:foregroundMark x1="59375" y1="43837" x2="59375" y2="43837"/>
                        <a14:foregroundMark x1="61250" y1="50699" x2="61250" y2="50699"/>
                        <a14:foregroundMark x1="33125" y1="43837" x2="33125" y2="43837"/>
                        <a14:foregroundMark x1="32125" y1="55654" x2="32125" y2="55654"/>
                        <a14:foregroundMark x1="46750" y1="49809" x2="46750" y2="498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522" y="614940"/>
            <a:ext cx="1379120" cy="135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8aba1a57d2738c1f083d24ae63a79f4a_-green-checkmark-clip-art-tick-clipart-transparent_300-300  | BETDAQ TIPS">
            <a:extLst>
              <a:ext uri="{FF2B5EF4-FFF2-40B4-BE49-F238E27FC236}">
                <a16:creationId xmlns:a16="http://schemas.microsoft.com/office/drawing/2014/main" id="{E0B470F5-29F2-48EB-9F99-5B9E9DF43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24" y="4159573"/>
            <a:ext cx="357414" cy="35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8aba1a57d2738c1f083d24ae63a79f4a_-green-checkmark-clip-art-tick-clipart-transparent_300-300  | BETDAQ TIPS">
            <a:extLst>
              <a:ext uri="{FF2B5EF4-FFF2-40B4-BE49-F238E27FC236}">
                <a16:creationId xmlns:a16="http://schemas.microsoft.com/office/drawing/2014/main" id="{C2ACA73A-DBA3-4231-9810-D081C8BC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24" y="4528235"/>
            <a:ext cx="357414" cy="35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8aba1a57d2738c1f083d24ae63a79f4a_-green-checkmark-clip-art-tick-clipart-transparent_300-300  | BETDAQ TIPS">
            <a:extLst>
              <a:ext uri="{FF2B5EF4-FFF2-40B4-BE49-F238E27FC236}">
                <a16:creationId xmlns:a16="http://schemas.microsoft.com/office/drawing/2014/main" id="{01D6ABF7-C0E4-4934-BDC7-3ED9E31F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069" y="4179670"/>
            <a:ext cx="357414" cy="35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44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39BE547-A243-4D60-88B6-E4C3687E5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58"/>
          <a:stretch/>
        </p:blipFill>
        <p:spPr>
          <a:xfrm>
            <a:off x="1949813" y="3078690"/>
            <a:ext cx="7508036" cy="2500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1154077-B2E5-4B9B-9864-2BD16746A5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347380" y="278051"/>
            <a:ext cx="4265455" cy="1232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E841FB-7B9B-4105-95DE-3F48A665DF32}"/>
              </a:ext>
            </a:extLst>
          </p:cNvPr>
          <p:cNvSpPr txBox="1"/>
          <p:nvPr/>
        </p:nvSpPr>
        <p:spPr>
          <a:xfrm>
            <a:off x="783561" y="1971758"/>
            <a:ext cx="10624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What do you say when you understand something ? </a:t>
            </a:r>
          </a:p>
        </p:txBody>
      </p:sp>
      <p:pic>
        <p:nvPicPr>
          <p:cNvPr id="11" name="Picture 4" descr="8aba1a57d2738c1f083d24ae63a79f4a_-green-checkmark-clip-art-tick-clipart-transparent_300-300  | BETDAQ TIPS">
            <a:extLst>
              <a:ext uri="{FF2B5EF4-FFF2-40B4-BE49-F238E27FC236}">
                <a16:creationId xmlns:a16="http://schemas.microsoft.com/office/drawing/2014/main" id="{01D6ABF7-C0E4-4934-BDC7-3ED9E31F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817" y="4935038"/>
            <a:ext cx="357414" cy="35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omputer Icons Can Stock Photo We Can Do It Public - Can Do It Clipart ,  Transparent Cartoon, Free Cliparts &amp; Silhouettes - NetClipart">
            <a:extLst>
              <a:ext uri="{FF2B5EF4-FFF2-40B4-BE49-F238E27FC236}">
                <a16:creationId xmlns:a16="http://schemas.microsoft.com/office/drawing/2014/main" id="{E81194BE-F410-432A-A13B-7A9F96ACA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313" r="98438">
                        <a14:backgroundMark x1="70313" y1="41875" x2="70313" y2="40625"/>
                        <a14:backgroundMark x1="47500" y1="36563" x2="47500" y2="36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223" y="225533"/>
            <a:ext cx="1470290" cy="147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69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39BE547-A243-4D60-88B6-E4C3687E5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58"/>
          <a:stretch/>
        </p:blipFill>
        <p:spPr>
          <a:xfrm>
            <a:off x="1949813" y="3078690"/>
            <a:ext cx="7508036" cy="2500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1154077-B2E5-4B9B-9864-2BD16746A5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347380" y="278051"/>
            <a:ext cx="4265455" cy="1232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E841FB-7B9B-4105-95DE-3F48A665DF32}"/>
              </a:ext>
            </a:extLst>
          </p:cNvPr>
          <p:cNvSpPr txBox="1"/>
          <p:nvPr/>
        </p:nvSpPr>
        <p:spPr>
          <a:xfrm>
            <a:off x="783561" y="1971758"/>
            <a:ext cx="10624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What do you say when you want to know if your explanation is clear ?</a:t>
            </a:r>
          </a:p>
        </p:txBody>
      </p:sp>
      <p:pic>
        <p:nvPicPr>
          <p:cNvPr id="10" name="Picture 4" descr="8aba1a57d2738c1f083d24ae63a79f4a_-green-checkmark-clip-art-tick-clipart-transparent_300-300  | BETDAQ TIPS">
            <a:extLst>
              <a:ext uri="{FF2B5EF4-FFF2-40B4-BE49-F238E27FC236}">
                <a16:creationId xmlns:a16="http://schemas.microsoft.com/office/drawing/2014/main" id="{C2ACA73A-DBA3-4231-9810-D081C8BC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24" y="4912543"/>
            <a:ext cx="357414" cy="35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Pin on Dirty">
            <a:extLst>
              <a:ext uri="{FF2B5EF4-FFF2-40B4-BE49-F238E27FC236}">
                <a16:creationId xmlns:a16="http://schemas.microsoft.com/office/drawing/2014/main" id="{FA88B2E8-562B-4647-9210-9A37FDA03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374" l="8298" r="90957">
                        <a14:foregroundMark x1="64894" y1="23171" x2="64894" y2="23171"/>
                        <a14:foregroundMark x1="51277" y1="30081" x2="51277" y2="30081"/>
                        <a14:foregroundMark x1="23191" y1="61585" x2="23191" y2="61585"/>
                        <a14:foregroundMark x1="52128" y1="38415" x2="54362" y2="37805"/>
                        <a14:foregroundMark x1="51915" y1="37398" x2="51915" y2="37398"/>
                        <a14:foregroundMark x1="63723" y1="19309" x2="63723" y2="19309"/>
                        <a14:foregroundMark x1="69149" y1="29472" x2="69149" y2="29472"/>
                        <a14:foregroundMark x1="64468" y1="28049" x2="64468" y2="28049"/>
                        <a14:foregroundMark x1="63617" y1="29675" x2="64574" y2="30488"/>
                        <a14:foregroundMark x1="63511" y1="25203" x2="63511" y2="25203"/>
                        <a14:foregroundMark x1="62128" y1="26016" x2="62128" y2="26016"/>
                        <a14:foregroundMark x1="62234" y1="29065" x2="62234" y2="29065"/>
                        <a14:foregroundMark x1="61596" y1="27033" x2="61596" y2="27033"/>
                        <a14:foregroundMark x1="62340" y1="23984" x2="62340" y2="23984"/>
                        <a14:foregroundMark x1="62340" y1="23984" x2="62340" y2="23984"/>
                        <a14:foregroundMark x1="67979" y1="21138" x2="67979" y2="21138"/>
                        <a14:foregroundMark x1="66383" y1="23984" x2="66383" y2="23984"/>
                        <a14:foregroundMark x1="66170" y1="27033" x2="66170" y2="27033"/>
                        <a14:foregroundMark x1="53830" y1="39837" x2="53830" y2="39837"/>
                        <a14:foregroundMark x1="54362" y1="33333" x2="54362" y2="33333"/>
                        <a14:foregroundMark x1="54362" y1="33333" x2="54362" y2="33333"/>
                        <a14:foregroundMark x1="53830" y1="31301" x2="54043" y2="30488"/>
                        <a14:foregroundMark x1="54255" y1="29472" x2="54255" y2="29472"/>
                        <a14:foregroundMark x1="52979" y1="28862" x2="52979" y2="28862"/>
                        <a14:foregroundMark x1="51596" y1="27846" x2="51596" y2="27846"/>
                        <a14:foregroundMark x1="51383" y1="27846" x2="51383" y2="27846"/>
                        <a14:foregroundMark x1="49894" y1="35163" x2="49894" y2="35163"/>
                        <a14:foregroundMark x1="50426" y1="39837" x2="50851" y2="41057"/>
                        <a14:foregroundMark x1="51383" y1="44919" x2="51809" y2="45528"/>
                        <a14:foregroundMark x1="53298" y1="47154" x2="53298" y2="47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682" y="455610"/>
            <a:ext cx="2455875" cy="12854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07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8745DC7E-4FBA-47E6-8784-B7EB44625057}"/>
              </a:ext>
            </a:extLst>
          </p:cNvPr>
          <p:cNvSpPr/>
          <p:nvPr/>
        </p:nvSpPr>
        <p:spPr>
          <a:xfrm>
            <a:off x="3791712" y="99949"/>
            <a:ext cx="4815840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Practice Time</a:t>
            </a:r>
          </a:p>
        </p:txBody>
      </p:sp>
      <p:pic>
        <p:nvPicPr>
          <p:cNvPr id="9" name="Picture 2" descr="Talking Mouth Or Talk Animations Greentral Com - Communication Clipart |  Transparent PNG Download #1961172 - Vippng">
            <a:extLst>
              <a:ext uri="{FF2B5EF4-FFF2-40B4-BE49-F238E27FC236}">
                <a16:creationId xmlns:a16="http://schemas.microsoft.com/office/drawing/2014/main" id="{740707CE-E557-4AB1-85A5-1D94354E9A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304800" y="1890436"/>
            <a:ext cx="2188463" cy="366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مستطيل 19">
            <a:extLst>
              <a:ext uri="{FF2B5EF4-FFF2-40B4-BE49-F238E27FC236}">
                <a16:creationId xmlns:a16="http://schemas.microsoft.com/office/drawing/2014/main" id="{5D364CAD-3948-4380-A766-231491D5BFE1}"/>
              </a:ext>
            </a:extLst>
          </p:cNvPr>
          <p:cNvSpPr/>
          <p:nvPr/>
        </p:nvSpPr>
        <p:spPr>
          <a:xfrm>
            <a:off x="3497990" y="995192"/>
            <a:ext cx="4815840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  practice</a:t>
            </a:r>
          </a:p>
        </p:txBody>
      </p:sp>
      <p:pic>
        <p:nvPicPr>
          <p:cNvPr id="21" name="Picture 2" descr="Talking Mouth Or Talk Animations Greentral Com - Communication Clipart |  Transparent PNG Download #1961172 - Vippng">
            <a:extLst>
              <a:ext uri="{FF2B5EF4-FFF2-40B4-BE49-F238E27FC236}">
                <a16:creationId xmlns:a16="http://schemas.microsoft.com/office/drawing/2014/main" id="{AF0E7269-C5A7-490E-9743-B78EE08C7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10052304" y="2121268"/>
            <a:ext cx="2046931" cy="332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مستطيل 2">
            <a:extLst>
              <a:ext uri="{FF2B5EF4-FFF2-40B4-BE49-F238E27FC236}">
                <a16:creationId xmlns:a16="http://schemas.microsoft.com/office/drawing/2014/main" id="{FE14A3A8-590C-43E0-A84F-8D4884DAD292}"/>
              </a:ext>
            </a:extLst>
          </p:cNvPr>
          <p:cNvSpPr/>
          <p:nvPr/>
        </p:nvSpPr>
        <p:spPr>
          <a:xfrm>
            <a:off x="3157584" y="1785323"/>
            <a:ext cx="608409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mic Sans MS" panose="030F0702030302020204" pitchFamily="66" charset="0"/>
              </a:rPr>
              <a:t>Create conversations using </a:t>
            </a:r>
          </a:p>
        </p:txBody>
      </p:sp>
      <p:sp>
        <p:nvSpPr>
          <p:cNvPr id="7" name="فقاعة الكلام: مستطيلة مستديرة الزوايا 6">
            <a:extLst>
              <a:ext uri="{FF2B5EF4-FFF2-40B4-BE49-F238E27FC236}">
                <a16:creationId xmlns:a16="http://schemas.microsoft.com/office/drawing/2014/main" id="{5D76C9B9-8201-4FA6-BB4E-4D4EE52D5661}"/>
              </a:ext>
            </a:extLst>
          </p:cNvPr>
          <p:cNvSpPr/>
          <p:nvPr/>
        </p:nvSpPr>
        <p:spPr>
          <a:xfrm>
            <a:off x="3303888" y="2467122"/>
            <a:ext cx="6084096" cy="2690098"/>
          </a:xfrm>
          <a:prstGeom prst="wedgeRoundRectCallout">
            <a:avLst>
              <a:gd name="adj1" fmla="val 58522"/>
              <a:gd name="adj2" fmla="val 14459"/>
              <a:gd name="adj3" fmla="val 16667"/>
            </a:avLst>
          </a:prstGeom>
          <a:solidFill>
            <a:srgbClr val="F2F3F3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phrases from Real Talk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phrases for asking for clarification &amp; confirming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8" name="فقاعة الكلام: مستطيلة مستديرة الزوايا 7">
            <a:extLst>
              <a:ext uri="{FF2B5EF4-FFF2-40B4-BE49-F238E27FC236}">
                <a16:creationId xmlns:a16="http://schemas.microsoft.com/office/drawing/2014/main" id="{D706F0BA-8F4D-48BA-9E86-57CE1C0BD512}"/>
              </a:ext>
            </a:extLst>
          </p:cNvPr>
          <p:cNvSpPr/>
          <p:nvPr/>
        </p:nvSpPr>
        <p:spPr>
          <a:xfrm>
            <a:off x="3304506" y="2471460"/>
            <a:ext cx="6084096" cy="2690098"/>
          </a:xfrm>
          <a:prstGeom prst="wedgeRoundRectCallout">
            <a:avLst>
              <a:gd name="adj1" fmla="val -61313"/>
              <a:gd name="adj2" fmla="val 19444"/>
              <a:gd name="adj3" fmla="val 16667"/>
            </a:avLst>
          </a:prstGeom>
          <a:solidFill>
            <a:srgbClr val="F2F3F3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</a:rPr>
              <a:t>phrases from Real Talk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>
              <a:ln w="9525">
                <a:solidFill>
                  <a:schemeClr val="bg1"/>
                </a:solidFill>
                <a:prstDash val="solid"/>
              </a:ln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</a:rPr>
              <a:t>phrases for asking for clarification &amp; confirming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3456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7">
            <a:extLst>
              <a:ext uri="{FF2B5EF4-FFF2-40B4-BE49-F238E27FC236}">
                <a16:creationId xmlns:a16="http://schemas.microsoft.com/office/drawing/2014/main" id="{FE10B3C5-4332-4AC7-995D-486103AAD3A1}"/>
              </a:ext>
            </a:extLst>
          </p:cNvPr>
          <p:cNvGrpSpPr/>
          <p:nvPr/>
        </p:nvGrpSpPr>
        <p:grpSpPr>
          <a:xfrm rot="5400000" flipV="1">
            <a:off x="8736961" y="-359875"/>
            <a:ext cx="911240" cy="4527761"/>
            <a:chOff x="1965157" y="4479564"/>
            <a:chExt cx="1804738" cy="1804738"/>
          </a:xfrm>
        </p:grpSpPr>
        <p:sp>
          <p:nvSpPr>
            <p:cNvPr id="4" name="Oval 52">
              <a:extLst>
                <a:ext uri="{FF2B5EF4-FFF2-40B4-BE49-F238E27FC236}">
                  <a16:creationId xmlns:a16="http://schemas.microsoft.com/office/drawing/2014/main" id="{8A623567-000E-449E-90A7-7A6722A0B433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53">
              <a:extLst>
                <a:ext uri="{FF2B5EF4-FFF2-40B4-BE49-F238E27FC236}">
                  <a16:creationId xmlns:a16="http://schemas.microsoft.com/office/drawing/2014/main" id="{39C8DEC0-5BEB-465F-960F-220436F35D97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000">
                  <a:srgbClr val="EBBC2A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37">
            <a:extLst>
              <a:ext uri="{FF2B5EF4-FFF2-40B4-BE49-F238E27FC236}">
                <a16:creationId xmlns:a16="http://schemas.microsoft.com/office/drawing/2014/main" id="{CDE9DAD7-777A-4B68-AF2F-38B870172BD2}"/>
              </a:ext>
            </a:extLst>
          </p:cNvPr>
          <p:cNvGrpSpPr/>
          <p:nvPr/>
        </p:nvGrpSpPr>
        <p:grpSpPr>
          <a:xfrm rot="5400000" flipV="1">
            <a:off x="8736961" y="1100076"/>
            <a:ext cx="911240" cy="4527761"/>
            <a:chOff x="1965157" y="4479564"/>
            <a:chExt cx="1804738" cy="1804738"/>
          </a:xfrm>
        </p:grpSpPr>
        <p:sp>
          <p:nvSpPr>
            <p:cNvPr id="13" name="Oval 52">
              <a:extLst>
                <a:ext uri="{FF2B5EF4-FFF2-40B4-BE49-F238E27FC236}">
                  <a16:creationId xmlns:a16="http://schemas.microsoft.com/office/drawing/2014/main" id="{A3494330-B4C0-40F6-AEE7-17989A1A02EC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53">
              <a:extLst>
                <a:ext uri="{FF2B5EF4-FFF2-40B4-BE49-F238E27FC236}">
                  <a16:creationId xmlns:a16="http://schemas.microsoft.com/office/drawing/2014/main" id="{4C288DD6-B584-496F-8C35-990CFA26C194}"/>
                </a:ext>
              </a:extLst>
            </p:cNvPr>
            <p:cNvSpPr/>
            <p:nvPr/>
          </p:nvSpPr>
          <p:spPr>
            <a:xfrm>
              <a:off x="2099514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38000">
                  <a:srgbClr val="02BEAF"/>
                </a:gs>
                <a:gs pos="32016">
                  <a:srgbClr val="02C0B1"/>
                </a:gs>
                <a:gs pos="87000">
                  <a:srgbClr val="05CEBF"/>
                </a:gs>
                <a:gs pos="98000">
                  <a:srgbClr val="07D5C7"/>
                </a:gs>
                <a:gs pos="0">
                  <a:srgbClr val="00B8A9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37">
            <a:extLst>
              <a:ext uri="{FF2B5EF4-FFF2-40B4-BE49-F238E27FC236}">
                <a16:creationId xmlns:a16="http://schemas.microsoft.com/office/drawing/2014/main" id="{08DEA611-734C-49D3-92DB-C5F4D6663D29}"/>
              </a:ext>
            </a:extLst>
          </p:cNvPr>
          <p:cNvGrpSpPr/>
          <p:nvPr/>
        </p:nvGrpSpPr>
        <p:grpSpPr>
          <a:xfrm rot="5400000" flipV="1">
            <a:off x="8736961" y="2560027"/>
            <a:ext cx="911240" cy="4527761"/>
            <a:chOff x="1965157" y="4479564"/>
            <a:chExt cx="1804738" cy="1804738"/>
          </a:xfrm>
        </p:grpSpPr>
        <p:sp>
          <p:nvSpPr>
            <p:cNvPr id="16" name="Oval 52">
              <a:extLst>
                <a:ext uri="{FF2B5EF4-FFF2-40B4-BE49-F238E27FC236}">
                  <a16:creationId xmlns:a16="http://schemas.microsoft.com/office/drawing/2014/main" id="{0C9B88AF-13F1-4E70-829A-39D250419858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53">
              <a:extLst>
                <a:ext uri="{FF2B5EF4-FFF2-40B4-BE49-F238E27FC236}">
                  <a16:creationId xmlns:a16="http://schemas.microsoft.com/office/drawing/2014/main" id="{C2847D45-5F80-4140-AE18-AFDAD37F866A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0">
                  <a:srgbClr val="FF4024"/>
                </a:gs>
                <a:gs pos="100000">
                  <a:srgbClr val="FF4024">
                    <a:tint val="44500"/>
                    <a:satMod val="160000"/>
                  </a:srgbClr>
                </a:gs>
                <a:gs pos="100000">
                  <a:srgbClr val="FF4024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761836AE-BE63-4043-B385-96C96CD5F80A}"/>
              </a:ext>
            </a:extLst>
          </p:cNvPr>
          <p:cNvGrpSpPr/>
          <p:nvPr/>
        </p:nvGrpSpPr>
        <p:grpSpPr>
          <a:xfrm>
            <a:off x="1036697" y="1571216"/>
            <a:ext cx="4042082" cy="1562987"/>
            <a:chOff x="1036697" y="1571216"/>
            <a:chExt cx="4042082" cy="1562987"/>
          </a:xfrm>
        </p:grpSpPr>
        <p:sp>
          <p:nvSpPr>
            <p:cNvPr id="2" name="Oval 35">
              <a:extLst>
                <a:ext uri="{FF2B5EF4-FFF2-40B4-BE49-F238E27FC236}">
                  <a16:creationId xmlns:a16="http://schemas.microsoft.com/office/drawing/2014/main" id="{3959BD98-73D3-499E-9897-C6027EDBDC4E}"/>
                </a:ext>
              </a:extLst>
            </p:cNvPr>
            <p:cNvSpPr/>
            <p:nvPr/>
          </p:nvSpPr>
          <p:spPr>
            <a:xfrm rot="5400000" flipV="1">
              <a:off x="2276244" y="331669"/>
              <a:ext cx="1562987" cy="4042082"/>
            </a:xfrm>
            <a:prstGeom prst="wedgeRoundRectCallout">
              <a:avLst>
                <a:gd name="adj1" fmla="val 33389"/>
                <a:gd name="adj2" fmla="val -54693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مربع نص 18">
              <a:extLst>
                <a:ext uri="{FF2B5EF4-FFF2-40B4-BE49-F238E27FC236}">
                  <a16:creationId xmlns:a16="http://schemas.microsoft.com/office/drawing/2014/main" id="{6D4D1F87-A120-4961-931D-2D57E9324251}"/>
                </a:ext>
              </a:extLst>
            </p:cNvPr>
            <p:cNvSpPr txBox="1"/>
            <p:nvPr/>
          </p:nvSpPr>
          <p:spPr>
            <a:xfrm>
              <a:off x="1325471" y="1862929"/>
              <a:ext cx="346453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US" sz="2800" dirty="0">
                  <a:latin typeface="Comic Sans MS" panose="030F0702030302020204" pitchFamily="66" charset="0"/>
                </a:rPr>
                <a:t>Hi Ali.  Let's </a:t>
              </a:r>
              <a:r>
                <a:rPr lang="en-US" sz="28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......</a:t>
              </a:r>
              <a:r>
                <a:rPr lang="en-US" sz="2800" dirty="0">
                  <a:latin typeface="Comic Sans MS" panose="030F0702030302020204" pitchFamily="66" charset="0"/>
                </a:rPr>
                <a:t> in the mall.</a:t>
              </a:r>
            </a:p>
          </p:txBody>
        </p:sp>
      </p:grpSp>
      <p:grpSp>
        <p:nvGrpSpPr>
          <p:cNvPr id="30" name="مجموعة 29">
            <a:extLst>
              <a:ext uri="{FF2B5EF4-FFF2-40B4-BE49-F238E27FC236}">
                <a16:creationId xmlns:a16="http://schemas.microsoft.com/office/drawing/2014/main" id="{876992F4-1B3E-4D44-A4C5-5BFB284CABA1}"/>
              </a:ext>
            </a:extLst>
          </p:cNvPr>
          <p:cNvGrpSpPr/>
          <p:nvPr/>
        </p:nvGrpSpPr>
        <p:grpSpPr>
          <a:xfrm>
            <a:off x="1036697" y="3667935"/>
            <a:ext cx="4142443" cy="1562987"/>
            <a:chOff x="1036697" y="3667935"/>
            <a:chExt cx="4142443" cy="1562987"/>
          </a:xfrm>
        </p:grpSpPr>
        <p:sp>
          <p:nvSpPr>
            <p:cNvPr id="20" name="Oval 35">
              <a:extLst>
                <a:ext uri="{FF2B5EF4-FFF2-40B4-BE49-F238E27FC236}">
                  <a16:creationId xmlns:a16="http://schemas.microsoft.com/office/drawing/2014/main" id="{96772490-C4A4-441D-A827-1772E3064D38}"/>
                </a:ext>
              </a:extLst>
            </p:cNvPr>
            <p:cNvSpPr/>
            <p:nvPr/>
          </p:nvSpPr>
          <p:spPr>
            <a:xfrm rot="5400000" flipV="1">
              <a:off x="2326425" y="2378207"/>
              <a:ext cx="1562987" cy="4142443"/>
            </a:xfrm>
            <a:prstGeom prst="wedgeRoundRectCallout">
              <a:avLst>
                <a:gd name="adj1" fmla="val -40098"/>
                <a:gd name="adj2" fmla="val -5346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مربع نص 20">
              <a:extLst>
                <a:ext uri="{FF2B5EF4-FFF2-40B4-BE49-F238E27FC236}">
                  <a16:creationId xmlns:a16="http://schemas.microsoft.com/office/drawing/2014/main" id="{DD5A4BC0-BAF2-468C-BD58-B9200358FE39}"/>
                </a:ext>
              </a:extLst>
            </p:cNvPr>
            <p:cNvSpPr txBox="1"/>
            <p:nvPr/>
          </p:nvSpPr>
          <p:spPr>
            <a:xfrm>
              <a:off x="1389499" y="3868049"/>
              <a:ext cx="3757905" cy="11291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>
                <a:lnSpc>
                  <a:spcPct val="150000"/>
                </a:lnSpc>
              </a:pPr>
              <a:r>
                <a:rPr lang="en-US" sz="2400" dirty="0">
                  <a:solidFill>
                    <a:srgbClr val="0000FF"/>
                  </a:solidFill>
                  <a:latin typeface="Comic Sans MS" panose="030F0702030302020204" pitchFamily="66" charset="0"/>
                </a:rPr>
                <a:t>Hi Ahmed. OK. I'll call Faris to meet us there.</a:t>
              </a:r>
            </a:p>
          </p:txBody>
        </p:sp>
      </p:grp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B6ABF4C-2EC6-4237-A18E-CEBFA1B915BE}"/>
              </a:ext>
            </a:extLst>
          </p:cNvPr>
          <p:cNvSpPr txBox="1"/>
          <p:nvPr/>
        </p:nvSpPr>
        <p:spPr>
          <a:xfrm>
            <a:off x="459839" y="141860"/>
            <a:ext cx="1086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600" u="sng" dirty="0">
                <a:solidFill>
                  <a:srgbClr val="FF0000"/>
                </a:solidFill>
                <a:latin typeface="Comic Sans MS" panose="030F0702030302020204" pitchFamily="66" charset="0"/>
              </a:rPr>
              <a:t>Choose the suitable phrase</a:t>
            </a:r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E569E1FB-DEB0-4172-BEFB-5AA0E496B6D8}"/>
              </a:ext>
            </a:extLst>
          </p:cNvPr>
          <p:cNvSpPr txBox="1"/>
          <p:nvPr/>
        </p:nvSpPr>
        <p:spPr>
          <a:xfrm>
            <a:off x="7460315" y="1656645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hold on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D9DFB26B-56C6-4488-A105-5D7A1B6E5AE4}"/>
              </a:ext>
            </a:extLst>
          </p:cNvPr>
          <p:cNvSpPr txBox="1"/>
          <p:nvPr/>
        </p:nvSpPr>
        <p:spPr>
          <a:xfrm>
            <a:off x="7469196" y="3167390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Hang out</a:t>
            </a:r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2A359DCA-D21F-4028-84DD-DC8797F0538E}"/>
              </a:ext>
            </a:extLst>
          </p:cNvPr>
          <p:cNvSpPr txBox="1"/>
          <p:nvPr/>
        </p:nvSpPr>
        <p:spPr>
          <a:xfrm>
            <a:off x="7469196" y="4577946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How on earth?</a:t>
            </a:r>
          </a:p>
        </p:txBody>
      </p:sp>
    </p:spTree>
    <p:extLst>
      <p:ext uri="{BB962C8B-B14F-4D97-AF65-F5344CB8AC3E}">
        <p14:creationId xmlns:p14="http://schemas.microsoft.com/office/powerpoint/2010/main" val="12725298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5" grpId="0"/>
      <p:bldP spid="26" grpId="0"/>
      <p:bldP spid="2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5">
            <a:extLst>
              <a:ext uri="{FF2B5EF4-FFF2-40B4-BE49-F238E27FC236}">
                <a16:creationId xmlns:a16="http://schemas.microsoft.com/office/drawing/2014/main" id="{3959BD98-73D3-499E-9897-C6027EDBDC4E}"/>
              </a:ext>
            </a:extLst>
          </p:cNvPr>
          <p:cNvSpPr/>
          <p:nvPr/>
        </p:nvSpPr>
        <p:spPr>
          <a:xfrm rot="5400000" flipV="1">
            <a:off x="2276244" y="331669"/>
            <a:ext cx="1562987" cy="4042082"/>
          </a:xfrm>
          <a:prstGeom prst="wedgeRoundRectCallout">
            <a:avLst>
              <a:gd name="adj1" fmla="val 33389"/>
              <a:gd name="adj2" fmla="val -5469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FE10B3C5-4332-4AC7-995D-486103AAD3A1}"/>
              </a:ext>
            </a:extLst>
          </p:cNvPr>
          <p:cNvGrpSpPr/>
          <p:nvPr/>
        </p:nvGrpSpPr>
        <p:grpSpPr>
          <a:xfrm rot="5400000" flipV="1">
            <a:off x="8736961" y="-359875"/>
            <a:ext cx="911240" cy="4527761"/>
            <a:chOff x="1965157" y="4479564"/>
            <a:chExt cx="1804738" cy="1804738"/>
          </a:xfrm>
        </p:grpSpPr>
        <p:sp>
          <p:nvSpPr>
            <p:cNvPr id="4" name="Oval 52">
              <a:extLst>
                <a:ext uri="{FF2B5EF4-FFF2-40B4-BE49-F238E27FC236}">
                  <a16:creationId xmlns:a16="http://schemas.microsoft.com/office/drawing/2014/main" id="{8A623567-000E-449E-90A7-7A6722A0B433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53">
              <a:extLst>
                <a:ext uri="{FF2B5EF4-FFF2-40B4-BE49-F238E27FC236}">
                  <a16:creationId xmlns:a16="http://schemas.microsoft.com/office/drawing/2014/main" id="{39C8DEC0-5BEB-465F-960F-220436F35D97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000">
                  <a:srgbClr val="EBBC2A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37">
            <a:extLst>
              <a:ext uri="{FF2B5EF4-FFF2-40B4-BE49-F238E27FC236}">
                <a16:creationId xmlns:a16="http://schemas.microsoft.com/office/drawing/2014/main" id="{CDE9DAD7-777A-4B68-AF2F-38B870172BD2}"/>
              </a:ext>
            </a:extLst>
          </p:cNvPr>
          <p:cNvGrpSpPr/>
          <p:nvPr/>
        </p:nvGrpSpPr>
        <p:grpSpPr>
          <a:xfrm rot="5400000" flipV="1">
            <a:off x="8736961" y="1100076"/>
            <a:ext cx="911240" cy="4527761"/>
            <a:chOff x="1965157" y="4479564"/>
            <a:chExt cx="1804738" cy="1804738"/>
          </a:xfrm>
        </p:grpSpPr>
        <p:sp>
          <p:nvSpPr>
            <p:cNvPr id="13" name="Oval 52">
              <a:extLst>
                <a:ext uri="{FF2B5EF4-FFF2-40B4-BE49-F238E27FC236}">
                  <a16:creationId xmlns:a16="http://schemas.microsoft.com/office/drawing/2014/main" id="{A3494330-B4C0-40F6-AEE7-17989A1A02EC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53">
              <a:extLst>
                <a:ext uri="{FF2B5EF4-FFF2-40B4-BE49-F238E27FC236}">
                  <a16:creationId xmlns:a16="http://schemas.microsoft.com/office/drawing/2014/main" id="{4C288DD6-B584-496F-8C35-990CFA26C194}"/>
                </a:ext>
              </a:extLst>
            </p:cNvPr>
            <p:cNvSpPr/>
            <p:nvPr/>
          </p:nvSpPr>
          <p:spPr>
            <a:xfrm>
              <a:off x="2099514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38000">
                  <a:srgbClr val="02BEAF"/>
                </a:gs>
                <a:gs pos="32016">
                  <a:srgbClr val="02C0B1"/>
                </a:gs>
                <a:gs pos="87000">
                  <a:srgbClr val="05CEBF"/>
                </a:gs>
                <a:gs pos="98000">
                  <a:srgbClr val="07D5C7"/>
                </a:gs>
                <a:gs pos="0">
                  <a:srgbClr val="00B8A9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37">
            <a:extLst>
              <a:ext uri="{FF2B5EF4-FFF2-40B4-BE49-F238E27FC236}">
                <a16:creationId xmlns:a16="http://schemas.microsoft.com/office/drawing/2014/main" id="{08DEA611-734C-49D3-92DB-C5F4D6663D29}"/>
              </a:ext>
            </a:extLst>
          </p:cNvPr>
          <p:cNvGrpSpPr/>
          <p:nvPr/>
        </p:nvGrpSpPr>
        <p:grpSpPr>
          <a:xfrm rot="5400000" flipV="1">
            <a:off x="8736961" y="2560027"/>
            <a:ext cx="911240" cy="4527761"/>
            <a:chOff x="1965157" y="4479564"/>
            <a:chExt cx="1804738" cy="1804738"/>
          </a:xfrm>
        </p:grpSpPr>
        <p:sp>
          <p:nvSpPr>
            <p:cNvPr id="16" name="Oval 52">
              <a:extLst>
                <a:ext uri="{FF2B5EF4-FFF2-40B4-BE49-F238E27FC236}">
                  <a16:creationId xmlns:a16="http://schemas.microsoft.com/office/drawing/2014/main" id="{0C9B88AF-13F1-4E70-829A-39D250419858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53">
              <a:extLst>
                <a:ext uri="{FF2B5EF4-FFF2-40B4-BE49-F238E27FC236}">
                  <a16:creationId xmlns:a16="http://schemas.microsoft.com/office/drawing/2014/main" id="{C2847D45-5F80-4140-AE18-AFDAD37F866A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0">
                  <a:srgbClr val="FF4024"/>
                </a:gs>
                <a:gs pos="100000">
                  <a:srgbClr val="FF4024">
                    <a:tint val="44500"/>
                    <a:satMod val="160000"/>
                  </a:srgbClr>
                </a:gs>
                <a:gs pos="100000">
                  <a:srgbClr val="FF4024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6D4D1F87-A120-4961-931D-2D57E9324251}"/>
              </a:ext>
            </a:extLst>
          </p:cNvPr>
          <p:cNvSpPr txBox="1"/>
          <p:nvPr/>
        </p:nvSpPr>
        <p:spPr>
          <a:xfrm>
            <a:off x="1481588" y="1767383"/>
            <a:ext cx="2956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dirty="0">
                <a:latin typeface="Comic Sans MS" panose="030F0702030302020204" pitchFamily="66" charset="0"/>
              </a:rPr>
              <a:t>He will send you his place with google map.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96772490-C4A4-441D-A827-1772E3064D38}"/>
              </a:ext>
            </a:extLst>
          </p:cNvPr>
          <p:cNvSpPr/>
          <p:nvPr/>
        </p:nvSpPr>
        <p:spPr>
          <a:xfrm rot="5400000" flipV="1">
            <a:off x="2082739" y="2762328"/>
            <a:ext cx="1562987" cy="3211918"/>
          </a:xfrm>
          <a:prstGeom prst="wedgeRoundRectCallout">
            <a:avLst>
              <a:gd name="adj1" fmla="val -40097"/>
              <a:gd name="adj2" fmla="val -6283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DD5A4BC0-BAF2-468C-BD58-B9200358FE39}"/>
              </a:ext>
            </a:extLst>
          </p:cNvPr>
          <p:cNvSpPr txBox="1"/>
          <p:nvPr/>
        </p:nvSpPr>
        <p:spPr>
          <a:xfrm>
            <a:off x="1790933" y="3998476"/>
            <a:ext cx="2781057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Yes, I ...............</a:t>
            </a: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B6ABF4C-2EC6-4237-A18E-CEBFA1B915BE}"/>
              </a:ext>
            </a:extLst>
          </p:cNvPr>
          <p:cNvSpPr txBox="1"/>
          <p:nvPr/>
        </p:nvSpPr>
        <p:spPr>
          <a:xfrm>
            <a:off x="459839" y="141860"/>
            <a:ext cx="1086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600" u="sng" dirty="0">
                <a:solidFill>
                  <a:srgbClr val="FF0000"/>
                </a:solidFill>
                <a:latin typeface="Comic Sans MS" panose="030F0702030302020204" pitchFamily="66" charset="0"/>
              </a:rPr>
              <a:t>Choose the suitable phrase</a:t>
            </a:r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E569E1FB-DEB0-4172-BEFB-5AA0E496B6D8}"/>
              </a:ext>
            </a:extLst>
          </p:cNvPr>
          <p:cNvSpPr txBox="1"/>
          <p:nvPr/>
        </p:nvSpPr>
        <p:spPr>
          <a:xfrm>
            <a:off x="7460315" y="1656645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get it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D9DFB26B-56C6-4488-A105-5D7A1B6E5AE4}"/>
              </a:ext>
            </a:extLst>
          </p:cNvPr>
          <p:cNvSpPr txBox="1"/>
          <p:nvPr/>
        </p:nvSpPr>
        <p:spPr>
          <a:xfrm>
            <a:off x="7391811" y="3128890"/>
            <a:ext cx="3763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getting the long of it</a:t>
            </a:r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2A359DCA-D21F-4028-84DD-DC8797F0538E}"/>
              </a:ext>
            </a:extLst>
          </p:cNvPr>
          <p:cNvSpPr txBox="1"/>
          <p:nvPr/>
        </p:nvSpPr>
        <p:spPr>
          <a:xfrm>
            <a:off x="7469196" y="4577946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hold on</a:t>
            </a:r>
          </a:p>
        </p:txBody>
      </p:sp>
    </p:spTree>
    <p:extLst>
      <p:ext uri="{BB962C8B-B14F-4D97-AF65-F5344CB8AC3E}">
        <p14:creationId xmlns:p14="http://schemas.microsoft.com/office/powerpoint/2010/main" val="3021630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/>
      <p:bldP spid="20" grpId="0" animBg="1"/>
      <p:bldP spid="21" grpId="0"/>
      <p:bldP spid="24" grpId="0"/>
      <p:bldP spid="25" grpId="0"/>
      <p:bldP spid="25" grpId="1"/>
      <p:bldP spid="26" grpId="0"/>
      <p:bldP spid="2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7">
            <a:extLst>
              <a:ext uri="{FF2B5EF4-FFF2-40B4-BE49-F238E27FC236}">
                <a16:creationId xmlns:a16="http://schemas.microsoft.com/office/drawing/2014/main" id="{FE10B3C5-4332-4AC7-995D-486103AAD3A1}"/>
              </a:ext>
            </a:extLst>
          </p:cNvPr>
          <p:cNvGrpSpPr/>
          <p:nvPr/>
        </p:nvGrpSpPr>
        <p:grpSpPr>
          <a:xfrm rot="5400000" flipV="1">
            <a:off x="2677536" y="-347580"/>
            <a:ext cx="911240" cy="4527761"/>
            <a:chOff x="1965157" y="4479564"/>
            <a:chExt cx="1804738" cy="1804738"/>
          </a:xfrm>
        </p:grpSpPr>
        <p:sp>
          <p:nvSpPr>
            <p:cNvPr id="4" name="Oval 52">
              <a:extLst>
                <a:ext uri="{FF2B5EF4-FFF2-40B4-BE49-F238E27FC236}">
                  <a16:creationId xmlns:a16="http://schemas.microsoft.com/office/drawing/2014/main" id="{8A623567-000E-449E-90A7-7A6722A0B433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53">
              <a:extLst>
                <a:ext uri="{FF2B5EF4-FFF2-40B4-BE49-F238E27FC236}">
                  <a16:creationId xmlns:a16="http://schemas.microsoft.com/office/drawing/2014/main" id="{39C8DEC0-5BEB-465F-960F-220436F35D97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000">
                  <a:srgbClr val="EBBC2A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37">
            <a:extLst>
              <a:ext uri="{FF2B5EF4-FFF2-40B4-BE49-F238E27FC236}">
                <a16:creationId xmlns:a16="http://schemas.microsoft.com/office/drawing/2014/main" id="{CDE9DAD7-777A-4B68-AF2F-38B870172BD2}"/>
              </a:ext>
            </a:extLst>
          </p:cNvPr>
          <p:cNvGrpSpPr/>
          <p:nvPr/>
        </p:nvGrpSpPr>
        <p:grpSpPr>
          <a:xfrm rot="5400000" flipV="1">
            <a:off x="2677536" y="1112371"/>
            <a:ext cx="911240" cy="4527761"/>
            <a:chOff x="1965157" y="4479564"/>
            <a:chExt cx="1804738" cy="1804738"/>
          </a:xfrm>
        </p:grpSpPr>
        <p:sp>
          <p:nvSpPr>
            <p:cNvPr id="13" name="Oval 52">
              <a:extLst>
                <a:ext uri="{FF2B5EF4-FFF2-40B4-BE49-F238E27FC236}">
                  <a16:creationId xmlns:a16="http://schemas.microsoft.com/office/drawing/2014/main" id="{A3494330-B4C0-40F6-AEE7-17989A1A02EC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53">
              <a:extLst>
                <a:ext uri="{FF2B5EF4-FFF2-40B4-BE49-F238E27FC236}">
                  <a16:creationId xmlns:a16="http://schemas.microsoft.com/office/drawing/2014/main" id="{4C288DD6-B584-496F-8C35-990CFA26C194}"/>
                </a:ext>
              </a:extLst>
            </p:cNvPr>
            <p:cNvSpPr/>
            <p:nvPr/>
          </p:nvSpPr>
          <p:spPr>
            <a:xfrm>
              <a:off x="2099514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38000">
                  <a:srgbClr val="02BEAF"/>
                </a:gs>
                <a:gs pos="32016">
                  <a:srgbClr val="02C0B1"/>
                </a:gs>
                <a:gs pos="87000">
                  <a:srgbClr val="05CEBF"/>
                </a:gs>
                <a:gs pos="98000">
                  <a:srgbClr val="07D5C7"/>
                </a:gs>
                <a:gs pos="0">
                  <a:srgbClr val="00B8A9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37">
            <a:extLst>
              <a:ext uri="{FF2B5EF4-FFF2-40B4-BE49-F238E27FC236}">
                <a16:creationId xmlns:a16="http://schemas.microsoft.com/office/drawing/2014/main" id="{08DEA611-734C-49D3-92DB-C5F4D6663D29}"/>
              </a:ext>
            </a:extLst>
          </p:cNvPr>
          <p:cNvGrpSpPr/>
          <p:nvPr/>
        </p:nvGrpSpPr>
        <p:grpSpPr>
          <a:xfrm rot="5400000" flipV="1">
            <a:off x="2677536" y="2572322"/>
            <a:ext cx="911240" cy="4527761"/>
            <a:chOff x="1965157" y="4479564"/>
            <a:chExt cx="1804738" cy="1804738"/>
          </a:xfrm>
        </p:grpSpPr>
        <p:sp>
          <p:nvSpPr>
            <p:cNvPr id="16" name="Oval 52">
              <a:extLst>
                <a:ext uri="{FF2B5EF4-FFF2-40B4-BE49-F238E27FC236}">
                  <a16:creationId xmlns:a16="http://schemas.microsoft.com/office/drawing/2014/main" id="{0C9B88AF-13F1-4E70-829A-39D250419858}"/>
                </a:ext>
              </a:extLst>
            </p:cNvPr>
            <p:cNvSpPr/>
            <p:nvPr/>
          </p:nvSpPr>
          <p:spPr>
            <a:xfrm>
              <a:off x="1965157" y="4479564"/>
              <a:ext cx="1804738" cy="1804738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53">
              <a:extLst>
                <a:ext uri="{FF2B5EF4-FFF2-40B4-BE49-F238E27FC236}">
                  <a16:creationId xmlns:a16="http://schemas.microsoft.com/office/drawing/2014/main" id="{C2847D45-5F80-4140-AE18-AFDAD37F866A}"/>
                </a:ext>
              </a:extLst>
            </p:cNvPr>
            <p:cNvSpPr/>
            <p:nvPr/>
          </p:nvSpPr>
          <p:spPr>
            <a:xfrm>
              <a:off x="2099512" y="4520549"/>
              <a:ext cx="1515559" cy="1729848"/>
            </a:xfrm>
            <a:prstGeom prst="rect">
              <a:avLst/>
            </a:prstGeom>
            <a:gradFill flip="none" rotWithShape="1">
              <a:gsLst>
                <a:gs pos="0">
                  <a:srgbClr val="FF4024"/>
                </a:gs>
                <a:gs pos="100000">
                  <a:srgbClr val="FF4024">
                    <a:tint val="44500"/>
                    <a:satMod val="160000"/>
                  </a:srgbClr>
                </a:gs>
                <a:gs pos="100000">
                  <a:srgbClr val="FF4024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B6ABF4C-2EC6-4237-A18E-CEBFA1B915BE}"/>
              </a:ext>
            </a:extLst>
          </p:cNvPr>
          <p:cNvSpPr txBox="1"/>
          <p:nvPr/>
        </p:nvSpPr>
        <p:spPr>
          <a:xfrm>
            <a:off x="459839" y="141860"/>
            <a:ext cx="1086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600" u="sng" dirty="0">
                <a:solidFill>
                  <a:srgbClr val="FF0000"/>
                </a:solidFill>
                <a:latin typeface="Comic Sans MS" panose="030F0702030302020204" pitchFamily="66" charset="0"/>
              </a:rPr>
              <a:t>Choose the suitable phrase</a:t>
            </a:r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E569E1FB-DEB0-4172-BEFB-5AA0E496B6D8}"/>
              </a:ext>
            </a:extLst>
          </p:cNvPr>
          <p:cNvSpPr txBox="1"/>
          <p:nvPr/>
        </p:nvSpPr>
        <p:spPr>
          <a:xfrm>
            <a:off x="972100" y="1668940"/>
            <a:ext cx="4255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Does that make sense..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D9DFB26B-56C6-4488-A105-5D7A1B6E5AE4}"/>
              </a:ext>
            </a:extLst>
          </p:cNvPr>
          <p:cNvSpPr txBox="1"/>
          <p:nvPr/>
        </p:nvSpPr>
        <p:spPr>
          <a:xfrm>
            <a:off x="1332386" y="3141185"/>
            <a:ext cx="3763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How on earth ..</a:t>
            </a:r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id="{2A359DCA-D21F-4028-84DD-DC8797F0538E}"/>
              </a:ext>
            </a:extLst>
          </p:cNvPr>
          <p:cNvSpPr txBox="1"/>
          <p:nvPr/>
        </p:nvSpPr>
        <p:spPr>
          <a:xfrm>
            <a:off x="1409771" y="4590241"/>
            <a:ext cx="346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dirty="0">
                <a:latin typeface="Comic Sans MS" panose="030F0702030302020204" pitchFamily="66" charset="0"/>
              </a:rPr>
              <a:t>Can you explain..</a:t>
            </a:r>
          </a:p>
        </p:txBody>
      </p:sp>
      <p:sp>
        <p:nvSpPr>
          <p:cNvPr id="22" name="Oval 35">
            <a:extLst>
              <a:ext uri="{FF2B5EF4-FFF2-40B4-BE49-F238E27FC236}">
                <a16:creationId xmlns:a16="http://schemas.microsoft.com/office/drawing/2014/main" id="{149B7615-2967-4CA2-9377-40CE85653B4C}"/>
              </a:ext>
            </a:extLst>
          </p:cNvPr>
          <p:cNvSpPr/>
          <p:nvPr/>
        </p:nvSpPr>
        <p:spPr>
          <a:xfrm rot="5400000" flipV="1">
            <a:off x="8203494" y="244154"/>
            <a:ext cx="1562987" cy="4042082"/>
          </a:xfrm>
          <a:prstGeom prst="wedgeRoundRectCallout">
            <a:avLst>
              <a:gd name="adj1" fmla="val 54450"/>
              <a:gd name="adj2" fmla="val 6203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EB18A13D-9341-4117-8E23-7B37726CFEAA}"/>
              </a:ext>
            </a:extLst>
          </p:cNvPr>
          <p:cNvSpPr txBox="1"/>
          <p:nvPr/>
        </p:nvSpPr>
        <p:spPr>
          <a:xfrm>
            <a:off x="7408838" y="1679868"/>
            <a:ext cx="2956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............. google maps to me, please?</a:t>
            </a:r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0D444663-3401-43E2-B577-C204122C7AC1}"/>
              </a:ext>
            </a:extLst>
          </p:cNvPr>
          <p:cNvSpPr/>
          <p:nvPr/>
        </p:nvSpPr>
        <p:spPr>
          <a:xfrm rot="5400000" flipV="1">
            <a:off x="9510734" y="2838447"/>
            <a:ext cx="796806" cy="2193783"/>
          </a:xfrm>
          <a:prstGeom prst="wedgeRoundRectCallout">
            <a:avLst>
              <a:gd name="adj1" fmla="val -53105"/>
              <a:gd name="adj2" fmla="val 91032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355600" dist="1270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contourW="12700">
            <a:bevelT w="120650" h="25400" prst="relaxedInset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C3E7116B-DD88-4E57-800B-5772066B9C38}"/>
              </a:ext>
            </a:extLst>
          </p:cNvPr>
          <p:cNvSpPr txBox="1"/>
          <p:nvPr/>
        </p:nvSpPr>
        <p:spPr>
          <a:xfrm>
            <a:off x="9419243" y="3673024"/>
            <a:ext cx="1366795" cy="58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Sure</a:t>
            </a:r>
          </a:p>
        </p:txBody>
      </p:sp>
    </p:spTree>
    <p:extLst>
      <p:ext uri="{BB962C8B-B14F-4D97-AF65-F5344CB8AC3E}">
        <p14:creationId xmlns:p14="http://schemas.microsoft.com/office/powerpoint/2010/main" val="4239049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5" grpId="0"/>
      <p:bldP spid="25" grpId="1"/>
      <p:bldP spid="26" grpId="0"/>
      <p:bldP spid="22" grpId="0" animBg="1"/>
      <p:bldP spid="27" grpId="0"/>
      <p:bldP spid="29" grpId="0" animBg="1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wo Cartoon Boys Talking Stock Illustrations – 61 Two Cartoon Boys Talking  Stock Illustrations, Vectors &amp; Clipart - Dreamstime">
            <a:extLst>
              <a:ext uri="{FF2B5EF4-FFF2-40B4-BE49-F238E27FC236}">
                <a16:creationId xmlns:a16="http://schemas.microsoft.com/office/drawing/2014/main" id="{79F624DE-B059-4C4B-82CA-554A151FF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t="1915" r="4454" b="10722"/>
          <a:stretch/>
        </p:blipFill>
        <p:spPr bwMode="auto">
          <a:xfrm flipH="1">
            <a:off x="3762998" y="3758260"/>
            <a:ext cx="4262814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مربع نص 22">
            <a:extLst>
              <a:ext uri="{FF2B5EF4-FFF2-40B4-BE49-F238E27FC236}">
                <a16:creationId xmlns:a16="http://schemas.microsoft.com/office/drawing/2014/main" id="{1B6ABF4C-2EC6-4237-A18E-CEBFA1B915BE}"/>
              </a:ext>
            </a:extLst>
          </p:cNvPr>
          <p:cNvSpPr txBox="1"/>
          <p:nvPr/>
        </p:nvSpPr>
        <p:spPr>
          <a:xfrm>
            <a:off x="459839" y="141860"/>
            <a:ext cx="1086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FF0000"/>
                </a:solidFill>
                <a:latin typeface="ProximaNova-Light"/>
              </a:rPr>
              <a:t>Put the conversation in the correct order</a:t>
            </a:r>
          </a:p>
        </p:txBody>
      </p:sp>
      <p:grpSp>
        <p:nvGrpSpPr>
          <p:cNvPr id="8" name="مجموعة 7">
            <a:extLst>
              <a:ext uri="{FF2B5EF4-FFF2-40B4-BE49-F238E27FC236}">
                <a16:creationId xmlns:a16="http://schemas.microsoft.com/office/drawing/2014/main" id="{E1CE3309-D7AA-44FF-86EB-60E9131F68C7}"/>
              </a:ext>
            </a:extLst>
          </p:cNvPr>
          <p:cNvGrpSpPr/>
          <p:nvPr/>
        </p:nvGrpSpPr>
        <p:grpSpPr>
          <a:xfrm>
            <a:off x="7791273" y="1138188"/>
            <a:ext cx="4042082" cy="1255265"/>
            <a:chOff x="7791273" y="1138188"/>
            <a:chExt cx="4042082" cy="1255265"/>
          </a:xfrm>
        </p:grpSpPr>
        <p:sp>
          <p:nvSpPr>
            <p:cNvPr id="22" name="Oval 35">
              <a:extLst>
                <a:ext uri="{FF2B5EF4-FFF2-40B4-BE49-F238E27FC236}">
                  <a16:creationId xmlns:a16="http://schemas.microsoft.com/office/drawing/2014/main" id="{149B7615-2967-4CA2-9377-40CE85653B4C}"/>
                </a:ext>
              </a:extLst>
            </p:cNvPr>
            <p:cNvSpPr/>
            <p:nvPr/>
          </p:nvSpPr>
          <p:spPr>
            <a:xfrm rot="5400000" flipV="1">
              <a:off x="9184681" y="-255220"/>
              <a:ext cx="1255265" cy="4042082"/>
            </a:xfrm>
            <a:prstGeom prst="wedgeRoundRectCallout">
              <a:avLst>
                <a:gd name="adj1" fmla="val 60415"/>
                <a:gd name="adj2" fmla="val 12084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مربع نص 26">
              <a:extLst>
                <a:ext uri="{FF2B5EF4-FFF2-40B4-BE49-F238E27FC236}">
                  <a16:creationId xmlns:a16="http://schemas.microsoft.com/office/drawing/2014/main" id="{EB18A13D-9341-4117-8E23-7B37726CFEAA}"/>
                </a:ext>
              </a:extLst>
            </p:cNvPr>
            <p:cNvSpPr txBox="1"/>
            <p:nvPr/>
          </p:nvSpPr>
          <p:spPr>
            <a:xfrm>
              <a:off x="7985843" y="1334354"/>
              <a:ext cx="374233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4F4F4F"/>
                  </a:solidFill>
                  <a:latin typeface="Comic Sans MS" panose="030F0702030302020204" pitchFamily="66" charset="0"/>
                </a:rPr>
                <a:t>How do you add a picture to Photoshop?</a:t>
              </a:r>
            </a:p>
          </p:txBody>
        </p:sp>
      </p:grp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08B65F7B-297A-489B-A740-86EFDCBAE9E1}"/>
              </a:ext>
            </a:extLst>
          </p:cNvPr>
          <p:cNvGrpSpPr/>
          <p:nvPr/>
        </p:nvGrpSpPr>
        <p:grpSpPr>
          <a:xfrm>
            <a:off x="566656" y="1063782"/>
            <a:ext cx="3746378" cy="1562987"/>
            <a:chOff x="566656" y="1063782"/>
            <a:chExt cx="3746378" cy="156298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F60E92A-A61B-4EE1-9413-96C577C4C3FE}"/>
                </a:ext>
              </a:extLst>
            </p:cNvPr>
            <p:cNvSpPr/>
            <p:nvPr/>
          </p:nvSpPr>
          <p:spPr>
            <a:xfrm rot="5400000" flipV="1">
              <a:off x="1658351" y="-27913"/>
              <a:ext cx="1562987" cy="3746378"/>
            </a:xfrm>
            <a:prstGeom prst="wedgeRoundRectCallout">
              <a:avLst>
                <a:gd name="adj1" fmla="val 56220"/>
                <a:gd name="adj2" fmla="val -10153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مربع نص 36">
              <a:extLst>
                <a:ext uri="{FF2B5EF4-FFF2-40B4-BE49-F238E27FC236}">
                  <a16:creationId xmlns:a16="http://schemas.microsoft.com/office/drawing/2014/main" id="{ED02095E-68CA-47E1-8F77-BD734FDF8300}"/>
                </a:ext>
              </a:extLst>
            </p:cNvPr>
            <p:cNvSpPr txBox="1"/>
            <p:nvPr/>
          </p:nvSpPr>
          <p:spPr>
            <a:xfrm>
              <a:off x="833885" y="1161005"/>
              <a:ext cx="3211918" cy="11313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dirty="0">
                  <a:solidFill>
                    <a:srgbClr val="4F4F4F"/>
                  </a:solidFill>
                  <a:latin typeface="Comic Sans MS" panose="030F0702030302020204" pitchFamily="66" charset="0"/>
                </a:rPr>
                <a:t>Just drag &amp; drop from your files first</a:t>
              </a:r>
              <a:endParaRPr lang="en-US" sz="2400" dirty="0">
                <a:solidFill>
                  <a:srgbClr val="0000FF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F59D9768-9DB4-4478-8010-0A76AAC59314}"/>
              </a:ext>
            </a:extLst>
          </p:cNvPr>
          <p:cNvGrpSpPr/>
          <p:nvPr/>
        </p:nvGrpSpPr>
        <p:grpSpPr>
          <a:xfrm>
            <a:off x="4793492" y="2147020"/>
            <a:ext cx="2517325" cy="934953"/>
            <a:chOff x="4793492" y="2147020"/>
            <a:chExt cx="2517325" cy="934953"/>
          </a:xfrm>
        </p:grpSpPr>
        <p:sp>
          <p:nvSpPr>
            <p:cNvPr id="33" name="Oval 35">
              <a:extLst>
                <a:ext uri="{FF2B5EF4-FFF2-40B4-BE49-F238E27FC236}">
                  <a16:creationId xmlns:a16="http://schemas.microsoft.com/office/drawing/2014/main" id="{F89C012B-0064-4649-BEA4-47DF350BEA2C}"/>
                </a:ext>
              </a:extLst>
            </p:cNvPr>
            <p:cNvSpPr/>
            <p:nvPr/>
          </p:nvSpPr>
          <p:spPr>
            <a:xfrm rot="5400000" flipV="1">
              <a:off x="5584677" y="1355835"/>
              <a:ext cx="934953" cy="2517324"/>
            </a:xfrm>
            <a:prstGeom prst="wedgeRoundRectCallout">
              <a:avLst>
                <a:gd name="adj1" fmla="val 80689"/>
                <a:gd name="adj2" fmla="val -51541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مربع نص 42">
              <a:extLst>
                <a:ext uri="{FF2B5EF4-FFF2-40B4-BE49-F238E27FC236}">
                  <a16:creationId xmlns:a16="http://schemas.microsoft.com/office/drawing/2014/main" id="{08011E7D-210B-4183-B62B-8D66613C8347}"/>
                </a:ext>
              </a:extLst>
            </p:cNvPr>
            <p:cNvSpPr txBox="1"/>
            <p:nvPr/>
          </p:nvSpPr>
          <p:spPr>
            <a:xfrm>
              <a:off x="4881185" y="2305722"/>
              <a:ext cx="2429632" cy="502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rgbClr val="4F4F4F"/>
                  </a:solidFill>
                  <a:latin typeface="Comic Sans MS" panose="030F0702030302020204" pitchFamily="66" charset="0"/>
                </a:rPr>
                <a:t>Ahaa, I get it now</a:t>
              </a:r>
              <a:endParaRPr lang="en-US" sz="2000" dirty="0">
                <a:solidFill>
                  <a:srgbClr val="0000FF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7" name="مجموعة 6">
            <a:extLst>
              <a:ext uri="{FF2B5EF4-FFF2-40B4-BE49-F238E27FC236}">
                <a16:creationId xmlns:a16="http://schemas.microsoft.com/office/drawing/2014/main" id="{FBA17197-3EB6-436C-B91E-7674C4515BCE}"/>
              </a:ext>
            </a:extLst>
          </p:cNvPr>
          <p:cNvGrpSpPr/>
          <p:nvPr/>
        </p:nvGrpSpPr>
        <p:grpSpPr>
          <a:xfrm>
            <a:off x="5075755" y="1063782"/>
            <a:ext cx="2040490" cy="934956"/>
            <a:chOff x="5075755" y="1063782"/>
            <a:chExt cx="2040490" cy="934956"/>
          </a:xfrm>
        </p:grpSpPr>
        <p:sp>
          <p:nvSpPr>
            <p:cNvPr id="42" name="Oval 35">
              <a:extLst>
                <a:ext uri="{FF2B5EF4-FFF2-40B4-BE49-F238E27FC236}">
                  <a16:creationId xmlns:a16="http://schemas.microsoft.com/office/drawing/2014/main" id="{34F64678-3B69-4D88-A3B9-ACC28FCA2780}"/>
                </a:ext>
              </a:extLst>
            </p:cNvPr>
            <p:cNvSpPr/>
            <p:nvPr/>
          </p:nvSpPr>
          <p:spPr>
            <a:xfrm rot="5400000" flipV="1">
              <a:off x="5628522" y="511015"/>
              <a:ext cx="934956" cy="2040490"/>
            </a:xfrm>
            <a:prstGeom prst="wedgeRoundRectCallout">
              <a:avLst>
                <a:gd name="adj1" fmla="val 8819"/>
                <a:gd name="adj2" fmla="val 61892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355600" dist="127000" dir="2700000" algn="tl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contourW="12700">
              <a:bevelT w="120650" h="25400" prst="relaxedInset"/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مربع نص 33">
              <a:extLst>
                <a:ext uri="{FF2B5EF4-FFF2-40B4-BE49-F238E27FC236}">
                  <a16:creationId xmlns:a16="http://schemas.microsoft.com/office/drawing/2014/main" id="{28523F1D-409A-42DE-8357-9E5DCD072165}"/>
                </a:ext>
              </a:extLst>
            </p:cNvPr>
            <p:cNvSpPr txBox="1"/>
            <p:nvPr/>
          </p:nvSpPr>
          <p:spPr>
            <a:xfrm>
              <a:off x="5479840" y="1244915"/>
              <a:ext cx="12323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4F4F4F"/>
                  </a:solidFill>
                  <a:latin typeface="Comic Sans MS" panose="030F0702030302020204" pitchFamily="66" charset="0"/>
                </a:rPr>
                <a:t>Great</a:t>
              </a:r>
            </a:p>
          </p:txBody>
        </p:sp>
      </p:grpSp>
      <p:sp>
        <p:nvSpPr>
          <p:cNvPr id="10" name="شكل بيضاوي 9">
            <a:extLst>
              <a:ext uri="{FF2B5EF4-FFF2-40B4-BE49-F238E27FC236}">
                <a16:creationId xmlns:a16="http://schemas.microsoft.com/office/drawing/2014/main" id="{55B47FBA-4013-428A-8236-F1D4BA8FA0C6}"/>
              </a:ext>
            </a:extLst>
          </p:cNvPr>
          <p:cNvSpPr/>
          <p:nvPr/>
        </p:nvSpPr>
        <p:spPr>
          <a:xfrm>
            <a:off x="7878966" y="1919681"/>
            <a:ext cx="495043" cy="53644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1</a:t>
            </a:r>
            <a:endParaRPr lang="ar-SA" dirty="0"/>
          </a:p>
        </p:txBody>
      </p:sp>
      <p:sp>
        <p:nvSpPr>
          <p:cNvPr id="47" name="شكل بيضاوي 46">
            <a:extLst>
              <a:ext uri="{FF2B5EF4-FFF2-40B4-BE49-F238E27FC236}">
                <a16:creationId xmlns:a16="http://schemas.microsoft.com/office/drawing/2014/main" id="{365BC7DB-8863-4E38-9F8F-24590870A221}"/>
              </a:ext>
            </a:extLst>
          </p:cNvPr>
          <p:cNvSpPr/>
          <p:nvPr/>
        </p:nvSpPr>
        <p:spPr>
          <a:xfrm>
            <a:off x="283750" y="1620418"/>
            <a:ext cx="495043" cy="53644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2</a:t>
            </a:r>
            <a:endParaRPr lang="ar-SA" dirty="0"/>
          </a:p>
        </p:txBody>
      </p:sp>
      <p:sp>
        <p:nvSpPr>
          <p:cNvPr id="48" name="شكل بيضاوي 47">
            <a:extLst>
              <a:ext uri="{FF2B5EF4-FFF2-40B4-BE49-F238E27FC236}">
                <a16:creationId xmlns:a16="http://schemas.microsoft.com/office/drawing/2014/main" id="{8C9C9EBF-A82F-4F80-BD53-D77498849197}"/>
              </a:ext>
            </a:extLst>
          </p:cNvPr>
          <p:cNvSpPr/>
          <p:nvPr/>
        </p:nvSpPr>
        <p:spPr>
          <a:xfrm>
            <a:off x="8126487" y="3928099"/>
            <a:ext cx="495043" cy="53644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3</a:t>
            </a:r>
            <a:endParaRPr lang="ar-SA" dirty="0"/>
          </a:p>
        </p:txBody>
      </p:sp>
      <p:sp>
        <p:nvSpPr>
          <p:cNvPr id="49" name="شكل بيضاوي 48">
            <a:extLst>
              <a:ext uri="{FF2B5EF4-FFF2-40B4-BE49-F238E27FC236}">
                <a16:creationId xmlns:a16="http://schemas.microsoft.com/office/drawing/2014/main" id="{5798BD6B-F84A-4F4D-AF2E-68F052A49E82}"/>
              </a:ext>
            </a:extLst>
          </p:cNvPr>
          <p:cNvSpPr/>
          <p:nvPr/>
        </p:nvSpPr>
        <p:spPr>
          <a:xfrm>
            <a:off x="1511154" y="3758260"/>
            <a:ext cx="495043" cy="53644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342666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0.00416 0.1201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48148E-6 L -0.02018 0.079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48148E-6 L 0.28568 0.2699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-0.29154 0.3937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3" y="1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7" grpId="0" animBg="1"/>
      <p:bldP spid="48" grpId="0" animBg="1"/>
      <p:bldP spid="4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51C940F0-891D-48D9-A7EC-F2927B02FAC2}"/>
              </a:ext>
            </a:extLst>
          </p:cNvPr>
          <p:cNvSpPr txBox="1"/>
          <p:nvPr/>
        </p:nvSpPr>
        <p:spPr>
          <a:xfrm>
            <a:off x="911534" y="3016097"/>
            <a:ext cx="9649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lgerian" panose="04020705040A02060702" pitchFamily="82" charset="0"/>
              </a:rPr>
              <a:t>Thank you! </a:t>
            </a:r>
          </a:p>
          <a:p>
            <a:pPr algn="ctr"/>
            <a:r>
              <a:rPr lang="en-US" sz="3200" dirty="0">
                <a:solidFill>
                  <a:srgbClr val="006600"/>
                </a:solidFill>
                <a:latin typeface="Algerian" panose="04020705040A02060702" pitchFamily="82" charset="0"/>
              </a:rPr>
              <a:t>You have a wonderful day</a:t>
            </a:r>
          </a:p>
          <a:p>
            <a:endParaRPr lang="en-US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433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Rounded MT Bold"/>
            <a:ea typeface="Arial Rounded MT Bold"/>
            <a:cs typeface="Arial Rounded MT Bold"/>
            <a:sym typeface="Arial Rounded MT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Rounded MT Bold"/>
            <a:ea typeface="Arial Rounded MT Bold"/>
            <a:cs typeface="Arial Rounded MT Bold"/>
            <a:sym typeface="Arial Rounded MT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12098</TotalTime>
  <Words>544</Words>
  <Application>Microsoft Macintosh PowerPoint</Application>
  <PresentationFormat>Widescreen</PresentationFormat>
  <Paragraphs>103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Algerian</vt:lpstr>
      <vt:lpstr>Arial</vt:lpstr>
      <vt:lpstr>Calibri</vt:lpstr>
      <vt:lpstr>Calibri Light</vt:lpstr>
      <vt:lpstr>Comic Sans MS</vt:lpstr>
      <vt:lpstr>ProximaNova-Light</vt:lpstr>
      <vt:lpstr>STC-Regular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يوسف اليزيدي</dc:creator>
  <cp:lastModifiedBy>Jaber M Alhassan</cp:lastModifiedBy>
  <cp:revision>400</cp:revision>
  <dcterms:created xsi:type="dcterms:W3CDTF">2020-10-31T09:44:57Z</dcterms:created>
  <dcterms:modified xsi:type="dcterms:W3CDTF">2026-10-20T18:08:50Z</dcterms:modified>
</cp:coreProperties>
</file>