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mp3" ContentType="audio/mpeg"/>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1 min.</a:t>
            </a:r>
          </a:p>
          <a:p>
            <a:r>
              <a:t>Read the title together. The two stickers preview the lesson language (texting abbreviations).</a:t>
            </a:r>
          </a:p>
          <a:p>
            <a:r>
              <a:t>Tap “Start the lesson” (or press →) to move on.</a:t>
            </a:r>
          </a:p>
          <a:p/>
          <a:p>
            <a:r>
              <a:t>HOW THIS DECK WORKS: nothing is pre-revealed. In the slideshow, answers and feedback are invisible until you tap the matching card — then they fade in on the same slide. In edit view you will see them all; that is normal.</a:t>
            </a:r>
          </a:p>
          <a:p>
            <a:r>
              <a:t>Present in PowerPoint 2019+ / Microsoft 365 so Morph and the click triggers work. Exporting to video plays everything back exactly as it behaves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 1 min.</a:t>
            </a:r>
          </a:p>
          <a:p>
            <a:r>
              <a:t>Read the five aims. Tap each row as the lesson reaches it — a green tick fades in. Five empty slots give the class a visible sense of progress through the lesson.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WARM-UP — 4 min.</a:t>
            </a:r>
          </a:p>
          <a:p>
            <a:r>
              <a:t>Ask the question and take a quick class vote: tap YES or NO — a tick marks the option that won.</a:t>
            </a:r>
          </a:p>
          <a:p>
            <a:r>
              <a:t>Then tap “Show examples”: the acronym cloud from the original slide appears. The class reads a few aloud. Ask: do you use any of these when you text in Arabic?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 2 min.</a:t>
            </a:r>
          </a:p>
          <a:p>
            <a:r>
              <a:t>Ask what the cloud shows. Elicit “texting” and “abbreviation” first; then tap “Reveal the words” to confirm both labels.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 3 min.</a:t>
            </a:r>
          </a:p>
          <a:p>
            <a:r>
              <a:t>Pair talk first: how do people shorten words when texting in Arabic? Take two examples from the class. Then tap “e.g.” to reveal three English text abbreviations the lesson reuses later (PLZ, Gr8, B4).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LISTENING 1 — prediction (4 min).</a:t>
            </a:r>
          </a:p>
          <a:p>
            <a:r>
              <a:t>Tap the round play button to hear the conversation. Before the second listen, ask the class to guess: tap “football?” or “….?” — a tick records which guess the class made.</a:t>
            </a:r>
          </a:p>
          <a:p>
            <a:r>
              <a:t>Then tap Check: the real topic appears under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LISTENING 2 — comprehension (6 min).</a:t>
            </a:r>
          </a:p>
          <a:p>
            <a:r>
              <a:t>Play the audio again (small play button, top right). Pairs answer, then tap each question card: the answer fades in inside the card that asked it, so the class checks itself.</a:t>
            </a:r>
          </a:p>
          <a:p>
            <a:r>
              <a:t>“Show all answers” reveals the whole grid for a final review.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 5 min.</a:t>
            </a:r>
          </a:p>
          <a:p>
            <a:r>
              <a:t>Play the audio once more while students follow the script. Then read it in two halves: teacher = Grandma, class = Cara (then swap).</a:t>
            </a:r>
          </a:p>
          <a:p>
            <a:r>
              <a:t>The rail on the right lists the five phrases recycled later; ask students to wave when they hear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CARD — pair work (6 min).</a:t>
            </a:r>
          </a:p>
          <a:p>
            <a:r>
              <a:t>Same instructions as the original slide. Pairs ask and answer; tap a question when the pair is done to mark it.</a:t>
            </a:r>
          </a:p>
          <a:p>
            <a:r>
              <a:t>Q2 has two parts: the acronym grandma learns (DYWT) and the acronyms students use themselves. Q3 opens into a short story — take one or two in open class.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 5 min.</a:t>
            </a:r>
          </a:p>
          <a:p>
            <a:r>
              <a:t>Split the class in half (or into pairs). Tap a character card: only that role’s lines appear, so each half knows exactly what to read.</a:t>
            </a:r>
          </a:p>
          <a:p>
            <a:r>
              <a:t>Run the whole script once, then tap the other card and swap roles. Keep the audio as a model: play a line, the class repeats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VOCABULARY — 6 min.</a:t>
            </a:r>
          </a:p>
          <a:p>
            <a:r>
              <a:t>Two word families: abbreviations (letters left out) and acronyms (the first letters of several words).</a:t>
            </a:r>
          </a:p>
          <a:p>
            <a:r>
              <a:t>Elicit the meaning first, then tap the card: it appears to the right of the word. The cream box on the right is the original slide’s Real Talk reference — keep it visible, the class will need it all lesson.</a:t>
            </a:r>
          </a:p>
          <a:p>
            <a:r>
              <a:t>Finish by asking for one more example of each from the class’s own texting.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AGAIN — noticing (5 min).</a:t>
            </a:r>
          </a:p>
          <a:p>
            <a:r>
              <a:t>Students scan the script for the five phrases. They point, you tap: the line where the phrase appears lights up in the script.</a:t>
            </a:r>
          </a:p>
          <a:p>
            <a:r>
              <a:t>Ask what the phrase means *in that line* before moving on. “Show all” reveals every highlighted line at once.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TALK — 6 min.</a:t>
            </a:r>
          </a:p>
          <a:p>
            <a:r>
              <a:t>Five phrases taken from the audio. Read each sentence with the class, ask what the blue phrase means there, then tap the card: the meaning fades in on the right.</a:t>
            </a:r>
          </a:p>
          <a:p>
            <a:r>
              <a:t>Drill the intonation: “How on earth…” rises; “Hold on” is short and flat.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 6 min.</a:t>
            </a:r>
          </a:p>
          <a:p>
            <a:r>
              <a:t>Students complete each frame with their own idea (a place, a reason, a name). Take three answers per frame, then tap the card to tick it off.</a:t>
            </a:r>
          </a:p>
          <a:p>
            <a:r>
              <a:t>The five frames recycle all five Real Talk phrases — insist on the full phrase, not just the gap word.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UNDERSTANDING — 4 min.</a:t>
            </a:r>
          </a:p>
          <a:p>
            <a:r>
              <a:t>Both statements are true. Students decide in pairs and justify with a line from the audio.</a:t>
            </a:r>
          </a:p>
          <a:p>
            <a:r>
              <a:t>Tap TRUE to reveal the exact line that proves it; tap FALSE to see a gentle “listen again” prompt.</a:t>
            </a:r>
          </a:p>
          <a:p>
            <a:r>
              <a:t>Nothing is printed on the slide, so the class commits to an answer first.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FOR CLARIFICATION — 3 min.</a:t>
            </a:r>
          </a:p>
          <a:p>
            <a:r>
              <a:t>“Which things would you say when you don’t understand something or want an explanation?”</a:t>
            </a:r>
          </a:p>
          <a:p>
            <a:r>
              <a:t>Answers: I don’t understand / Can you explain it? / How do you…? / What does that mean? all ask for clarification. “Does that make sense?” checks your own explanation and “I get it” confirms understanding, so those two are red.</a:t>
            </a:r>
          </a:p>
          <a:p>
            <a:r>
              <a:t>The original slide printed this worksheet with the ticks already filled in; here the ticks only appear when a student commits.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CONFIRMING — 3 min.</a:t>
            </a:r>
          </a:p>
          <a:p>
            <a:r>
              <a:t>“What do you say when you understand something?” Only “I get it.” confirms; every other phrase asks something.</a:t>
            </a:r>
          </a:p>
          <a:p>
            <a:r>
              <a:t>Push for the full sentence: “Ahaa, I get it now.”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CHECKING CLARITY — 3 min.</a:t>
            </a:r>
          </a:p>
          <a:p>
            <a:r>
              <a:t>“What do you say when you want to know if your explanation is clear?” “Does that make sense?” asks the listener to confirm. The others ask for information or confirmation of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 8 min.</a:t>
            </a:r>
          </a:p>
          <a:p>
            <a:r>
              <a:t>Pairs. One student taps a task card; the phrase hints appear inside it. They then build a one-minute conversation that must include the phrases.</a:t>
            </a:r>
          </a:p>
          <a:p>
            <a:r>
              <a:t>Circulate, note two strong conversations, and have those pairs perform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THE PHRASE — 3 min.</a:t>
            </a:r>
          </a:p>
          <a:p>
            <a:r>
              <a:t>Read the exchange. Students choose the phrase that fills the gap, then tap an option: green ring + tick for the right one, a red cross for the others.</a:t>
            </a:r>
          </a:p>
          <a:p>
            <a:r>
              <a:t>Answer: “Hang out” — “Let’s hang out in the mall” means let’s spend time there together.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THE PHRASE — 3 min.</a:t>
            </a:r>
          </a:p>
          <a:p>
            <a:r>
              <a:t>Answer: “get it” (“Yes, I get it” = yes, I understand).</a:t>
            </a:r>
          </a:p>
          <a:p>
            <a:r>
              <a:t>“getting the long of it” is deliberately close to “getting the hang of it” — use it to contrast the two.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THE PHRASE — 3 min.</a:t>
            </a:r>
          </a:p>
          <a:p>
            <a:r>
              <a:t>Answer: “Can you explain..” — the request that fits “… google maps to me, please?”</a:t>
            </a:r>
          </a:p>
          <a:p>
            <a:r>
              <a:t>“Does that make sense?” checks the listener’s understanding; it does not ask for an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THE CONVERSATION — 4 min.</a:t>
            </a:r>
          </a:p>
          <a:p>
            <a:r>
              <a:t>Pairs decide the order, then tap each bubble: its number fades in at the corner.</a:t>
            </a:r>
          </a:p>
          <a:p>
            <a:r>
              <a:t>Correct order: the question → the instruction → “Great” → “Ahaa, I get it now”.</a:t>
            </a:r>
          </a:p>
          <a:p>
            <a:r>
              <a:t>“Show the order” reveals all four numbers for the whole class.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a:t>
            </a:r>
          </a:p>
          <a:p>
            <a:r>
              <a:t>Recap the five objectives in one breath, then send the class off.</a:t>
            </a:r>
          </a:p>
          <a:p>
            <a:r>
              <a:t>“Back to the start” jumps to the title slide, so the deck can be reused with the next class without closing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 Id="rId7"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microsoft.com/office/2007/relationships/media" Target="../media/media1.mp3"/><Relationship Id="rId4" Type="http://schemas.openxmlformats.org/officeDocument/2006/relationships/audio" Target="../media/media1.mp3"/><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microsoft.com/office/2007/relationships/media" Target="../media/media1.mp3"/><Relationship Id="rId4" Type="http://schemas.openxmlformats.org/officeDocument/2006/relationships/audio" Target="../media/media1.mp3"/><Relationship Id="rId5" Type="http://schemas.openxmlformats.org/officeDocument/2006/relationships/image" Target="../media/image8.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microsoft.com/office/2007/relationships/media" Target="../media/media1.mp3"/><Relationship Id="rId4" Type="http://schemas.openxmlformats.org/officeDocument/2006/relationships/audio" Target="../media/media1.mp3"/><Relationship Id="rId5" Type="http://schemas.openxmlformats.org/officeDocument/2006/relationships/image" Target="../media/image8.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microsoft.com/office/2007/relationships/media" Target="../media/media1.mp3"/><Relationship Id="rId4" Type="http://schemas.openxmlformats.org/officeDocument/2006/relationships/audio" Target="../media/media1.mp3"/><Relationship Id="rId5" Type="http://schemas.openxmlformats.org/officeDocument/2006/relationships/image" Target="../media/image8.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0.jp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0.jp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1.jp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4.xml"/><Relationship Id="rId4" Type="http://schemas.openxmlformats.org/officeDocument/2006/relationships/slide" Target="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bg1"/>
          <p:cNvSpPr/>
          <p:nvPr/>
        </p:nvSpPr>
        <p:spPr>
          <a:xfrm>
            <a:off x="7680960" y="-1828800"/>
            <a:ext cx="6583680" cy="6583680"/>
          </a:xfrm>
          <a:prstGeom prst="ellipse">
            <a:avLst/>
          </a:prstGeom>
          <a:solidFill>
            <a:srgbClr val="14284A">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645920" y="4389120"/>
            <a:ext cx="4023360" cy="4023360"/>
          </a:xfrm>
          <a:prstGeom prst="ellipse">
            <a:avLst/>
          </a:prstGeom>
          <a:solidFill>
            <a:srgbClr val="14284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Rectangle 3"/>
          <p:cNvSpPr/>
          <p:nvPr/>
        </p:nvSpPr>
        <p:spPr>
          <a:xfrm>
            <a:off x="868680" y="1133856"/>
            <a:ext cx="804672" cy="68580"/>
          </a:xfrm>
          <a:prstGeom prst="rect">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TextBox 4"/>
          <p:cNvSpPr txBox="1"/>
          <p:nvPr/>
        </p:nvSpPr>
        <p:spPr>
          <a:xfrm>
            <a:off x="868680" y="1353312"/>
            <a:ext cx="6766560" cy="292608"/>
          </a:xfrm>
          <a:prstGeom prst="rect">
            <a:avLst/>
          </a:prstGeom>
          <a:noFill/>
        </p:spPr>
        <p:txBody>
          <a:bodyPr wrap="square" anchor="t" lIns="0" tIns="0" rIns="0" bIns="0"/>
          <a:lstStyle/>
          <a:p>
            <a:pPr algn="l">
              <a:lnSpc>
                <a:spcPct val="95000"/>
              </a:lnSpc>
              <a:spcBef>
                <a:spcPts val="0"/>
              </a:spcBef>
              <a:spcAft>
                <a:spcPts val="0"/>
              </a:spcAft>
            </a:pPr>
            <a:r>
              <a:rPr sz="1200" b="1" i="0" spc="260">
                <a:solidFill>
                  <a:srgbClr val="8FB0FF"/>
                </a:solidFill>
                <a:latin typeface="Calibri"/>
              </a:rPr>
              <a:t>CONVERSATION</a:t>
            </a:r>
          </a:p>
        </p:txBody>
      </p:sp>
      <p:sp>
        <p:nvSpPr>
          <p:cNvPr id="6" name="TextBox 5"/>
          <p:cNvSpPr txBox="1"/>
          <p:nvPr/>
        </p:nvSpPr>
        <p:spPr>
          <a:xfrm>
            <a:off x="868680" y="1755648"/>
            <a:ext cx="7178040" cy="2148840"/>
          </a:xfrm>
          <a:prstGeom prst="rect">
            <a:avLst/>
          </a:prstGeom>
          <a:noFill/>
        </p:spPr>
        <p:txBody>
          <a:bodyPr wrap="square" anchor="t" lIns="0" tIns="0" rIns="0" bIns="0"/>
          <a:lstStyle/>
          <a:p>
            <a:pPr algn="l">
              <a:lnSpc>
                <a:spcPct val="92000"/>
              </a:lnSpc>
              <a:spcBef>
                <a:spcPts val="0"/>
              </a:spcBef>
              <a:spcAft>
                <a:spcPts val="0"/>
              </a:spcAft>
            </a:pPr>
            <a:r>
              <a:rPr sz="4300" b="1" i="0">
                <a:solidFill>
                  <a:srgbClr val="FFFFFF"/>
                </a:solidFill>
                <a:latin typeface="Trebuchet MS"/>
              </a:rPr>
              <a:t>Connected by</a:t>
            </a:r>
          </a:p>
          <a:p>
            <a:pPr algn="l">
              <a:lnSpc>
                <a:spcPct val="92000"/>
              </a:lnSpc>
              <a:spcBef>
                <a:spcPts val="0"/>
              </a:spcBef>
              <a:spcAft>
                <a:spcPts val="0"/>
              </a:spcAft>
            </a:pPr>
            <a:r>
              <a:rPr sz="4300" b="1" i="0">
                <a:solidFill>
                  <a:srgbClr val="FFFFFF"/>
                </a:solidFill>
                <a:latin typeface="Trebuchet MS"/>
              </a:rPr>
              <a:t>Technology</a:t>
            </a:r>
          </a:p>
          <a:p>
            <a:pPr algn="l">
              <a:lnSpc>
                <a:spcPct val="92000"/>
              </a:lnSpc>
              <a:spcBef>
                <a:spcPts val="0"/>
              </a:spcBef>
              <a:spcAft>
                <a:spcPts val="0"/>
              </a:spcAft>
            </a:pPr>
            <a:r>
              <a:rPr sz="4300" b="1" i="0">
                <a:solidFill>
                  <a:srgbClr val="8FB0FF"/>
                </a:solidFill>
                <a:latin typeface="Trebuchet MS"/>
              </a:rPr>
              <a:t>Conversation</a:t>
            </a:r>
          </a:p>
        </p:txBody>
      </p:sp>
      <p:sp>
        <p:nvSpPr>
          <p:cNvPr id="7" name="TextBox 6"/>
          <p:cNvSpPr txBox="1"/>
          <p:nvPr/>
        </p:nvSpPr>
        <p:spPr>
          <a:xfrm>
            <a:off x="868680" y="3968496"/>
            <a:ext cx="6583680" cy="292608"/>
          </a:xfrm>
          <a:prstGeom prst="rect">
            <a:avLst/>
          </a:prstGeom>
          <a:noFill/>
        </p:spPr>
        <p:txBody>
          <a:bodyPr wrap="square" anchor="t" lIns="0" tIns="0" rIns="0" bIns="0"/>
          <a:lstStyle/>
          <a:p>
            <a:pPr algn="l">
              <a:lnSpc>
                <a:spcPct val="95000"/>
              </a:lnSpc>
              <a:spcBef>
                <a:spcPts val="0"/>
              </a:spcBef>
              <a:spcAft>
                <a:spcPts val="0"/>
              </a:spcAft>
            </a:pPr>
            <a:r>
              <a:rPr sz="1250" b="0" i="0">
                <a:solidFill>
                  <a:srgbClr val="A9BCD9"/>
                </a:solidFill>
                <a:latin typeface="Calibri"/>
              </a:rPr>
              <a:t>●  Interactive — tap the cards as you go</a:t>
            </a:r>
          </a:p>
        </p:txBody>
      </p:sp>
      <p:sp>
        <p:nvSpPr>
          <p:cNvPr id="8" name="btn_start">
            <a:hlinkClick action="ppaction://hlinksldjump" r:id="rId7"/>
          </p:cNvPr>
          <p:cNvSpPr/>
          <p:nvPr/>
        </p:nvSpPr>
        <p:spPr>
          <a:xfrm>
            <a:off x="868680" y="4443984"/>
            <a:ext cx="2880360" cy="603504"/>
          </a:xfrm>
          <a:prstGeom prst="roundRect">
            <a:avLst>
              <a:gd name="adj" fmla="val 50000"/>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500" b="1" i="0">
                <a:solidFill>
                  <a:srgbClr val="FFFFFF"/>
                </a:solidFill>
                <a:latin typeface="Calibri"/>
              </a:rPr>
              <a:t>Start the lesson</a:t>
            </a:r>
          </a:p>
        </p:txBody>
      </p:sp>
      <p:sp>
        <p:nvSpPr>
          <p:cNvPr id="9" name="Rounded Rectangle 8"/>
          <p:cNvSpPr/>
          <p:nvPr/>
        </p:nvSpPr>
        <p:spPr>
          <a:xfrm>
            <a:off x="7699248" y="1024128"/>
            <a:ext cx="3968496" cy="4809744"/>
          </a:xfrm>
          <a:prstGeom prst="roundRect">
            <a:avLst>
              <a:gd name="adj" fmla="val 8294"/>
            </a:avLst>
          </a:prstGeom>
          <a:solidFill>
            <a:srgbClr val="14284A"/>
          </a:solidFill>
          <a:ln w="13970">
            <a:solidFill>
              <a:srgbClr val="2A4470"/>
            </a:solidFill>
          </a:ln>
          <a:effectLst>
            <a:outerShdw blurRad="508000" dist="127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image3.png"/>
          <p:cNvPicPr>
            <a:picLocks noChangeAspect="1"/>
          </p:cNvPicPr>
          <p:nvPr/>
        </p:nvPicPr>
        <p:blipFill>
          <a:blip r:embed="rId2"/>
          <a:stretch>
            <a:fillRect/>
          </a:stretch>
        </p:blipFill>
        <p:spPr>
          <a:xfrm>
            <a:off x="8405286" y="1225296"/>
            <a:ext cx="2583851" cy="3246120"/>
          </a:xfrm>
          <a:prstGeom prst="rect">
            <a:avLst/>
          </a:prstGeom>
        </p:spPr>
      </p:pic>
      <p:pic>
        <p:nvPicPr>
          <p:cNvPr id="11" name="Picture 10" descr="image14.png"/>
          <p:cNvPicPr>
            <a:picLocks noChangeAspect="1"/>
          </p:cNvPicPr>
          <p:nvPr/>
        </p:nvPicPr>
        <p:blipFill>
          <a:blip r:embed="rId3"/>
          <a:stretch>
            <a:fillRect/>
          </a:stretch>
        </p:blipFill>
        <p:spPr>
          <a:xfrm>
            <a:off x="7918704" y="4956048"/>
            <a:ext cx="971126" cy="676656"/>
          </a:xfrm>
          <a:prstGeom prst="rect">
            <a:avLst/>
          </a:prstGeom>
        </p:spPr>
      </p:pic>
      <p:pic>
        <p:nvPicPr>
          <p:cNvPr id="12" name="Picture 11" descr="image13.png"/>
          <p:cNvPicPr>
            <a:picLocks noChangeAspect="1"/>
          </p:cNvPicPr>
          <p:nvPr/>
        </p:nvPicPr>
        <p:blipFill>
          <a:blip r:embed="rId4"/>
          <a:stretch>
            <a:fillRect/>
          </a:stretch>
        </p:blipFill>
        <p:spPr>
          <a:xfrm>
            <a:off x="9162288" y="4809744"/>
            <a:ext cx="960285" cy="923544"/>
          </a:xfrm>
          <a:prstGeom prst="rect">
            <a:avLst/>
          </a:prstGeom>
        </p:spPr>
      </p:pic>
      <p:sp>
        <p:nvSpPr>
          <p:cNvPr id="13" name="TextBox 12"/>
          <p:cNvSpPr txBox="1"/>
          <p:nvPr/>
        </p:nvSpPr>
        <p:spPr>
          <a:xfrm>
            <a:off x="868680" y="5989320"/>
            <a:ext cx="8778240" cy="274320"/>
          </a:xfrm>
          <a:prstGeom prst="rect">
            <a:avLst/>
          </a:prstGeom>
          <a:noFill/>
        </p:spPr>
        <p:txBody>
          <a:bodyPr wrap="square" anchor="t" lIns="0" tIns="0" rIns="0" bIns="0"/>
          <a:lstStyle/>
          <a:p>
            <a:pPr algn="l">
              <a:lnSpc>
                <a:spcPct val="95000"/>
              </a:lnSpc>
              <a:spcBef>
                <a:spcPts val="0"/>
              </a:spcBef>
              <a:spcAft>
                <a:spcPts val="0"/>
              </a:spcAft>
            </a:pPr>
            <a:r>
              <a:rPr sz="1250" b="0" i="0">
                <a:solidFill>
                  <a:srgbClr val="93A9CC"/>
                </a:solidFill>
                <a:latin typeface="Calibri"/>
              </a:rPr>
              <a:t>Every question in this lesson answers when you tap it.</a:t>
            </a:r>
          </a:p>
        </p:txBody>
      </p:sp>
      <p:sp>
        <p:nvSpPr>
          <p:cNvPr id="14" name="Rounded Rectangle 13"/>
          <p:cNvSpPr/>
          <p:nvPr/>
        </p:nvSpPr>
        <p:spPr>
          <a:xfrm>
            <a:off x="8338479" y="118872"/>
            <a:ext cx="3432592" cy="43891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5" name="Picture 14" descr="logos_strip.png"/>
          <p:cNvPicPr>
            <a:picLocks noChangeAspect="1"/>
          </p:cNvPicPr>
          <p:nvPr/>
        </p:nvPicPr>
        <p:blipFill>
          <a:blip r:embed="rId5"/>
          <a:stretch>
            <a:fillRect/>
          </a:stretch>
        </p:blipFill>
        <p:spPr>
          <a:xfrm>
            <a:off x="8484782" y="192024"/>
            <a:ext cx="3139984" cy="2743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1033272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1015975"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02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OBJECTIVES</a:t>
            </a:r>
          </a:p>
        </p:txBody>
      </p:sp>
      <p:sp>
        <p:nvSpPr>
          <p:cNvPr id="12" name="TextBox 11"/>
          <p:cNvSpPr txBox="1"/>
          <p:nvPr/>
        </p:nvSpPr>
        <p:spPr>
          <a:xfrm>
            <a:off x="566928" y="786384"/>
            <a:ext cx="7589520" cy="1371600"/>
          </a:xfrm>
          <a:prstGeom prst="rect">
            <a:avLst/>
          </a:prstGeom>
          <a:noFill/>
        </p:spPr>
        <p:txBody>
          <a:bodyPr wrap="square" anchor="t" lIns="0" tIns="0" rIns="0" bIns="0"/>
          <a:lstStyle/>
          <a:p>
            <a:pPr algn="l">
              <a:lnSpc>
                <a:spcPct val="92000"/>
              </a:lnSpc>
              <a:spcBef>
                <a:spcPts val="0"/>
              </a:spcBef>
              <a:spcAft>
                <a:spcPts val="0"/>
              </a:spcAft>
            </a:pPr>
            <a:r>
              <a:rPr sz="3400" b="1" i="0">
                <a:solidFill>
                  <a:srgbClr val="0F1B33"/>
                </a:solidFill>
                <a:latin typeface="Trebuchet MS"/>
              </a:rPr>
              <a:t>Lesson Objectives</a:t>
            </a:r>
          </a:p>
        </p:txBody>
      </p:sp>
      <p:sp>
        <p:nvSpPr>
          <p:cNvPr id="13" name="TextBox 12"/>
          <p:cNvSpPr txBox="1"/>
          <p:nvPr/>
        </p:nvSpPr>
        <p:spPr>
          <a:xfrm>
            <a:off x="566928" y="1426464"/>
            <a:ext cx="7589520" cy="310896"/>
          </a:xfrm>
          <a:prstGeom prst="rect">
            <a:avLst/>
          </a:prstGeom>
          <a:noFill/>
        </p:spPr>
        <p:txBody>
          <a:bodyPr wrap="square" anchor="t" lIns="0" tIns="0" rIns="0" bIns="0"/>
          <a:lstStyle/>
          <a:p>
            <a:pPr algn="l">
              <a:lnSpc>
                <a:spcPct val="95000"/>
              </a:lnSpc>
              <a:spcBef>
                <a:spcPts val="0"/>
              </a:spcBef>
              <a:spcAft>
                <a:spcPts val="0"/>
              </a:spcAft>
            </a:pPr>
            <a:r>
              <a:rPr sz="1600" b="0" i="0">
                <a:solidFill>
                  <a:srgbClr val="5C6C86"/>
                </a:solidFill>
                <a:latin typeface="Calibri"/>
              </a:rPr>
              <a:t>The students will be able to :</a:t>
            </a:r>
          </a:p>
        </p:txBody>
      </p:sp>
      <p:sp>
        <p:nvSpPr>
          <p:cNvPr id="14" name="Rounded Rectangle 13"/>
          <p:cNvSpPr/>
          <p:nvPr/>
        </p:nvSpPr>
        <p:spPr>
          <a:xfrm>
            <a:off x="566928" y="1847088"/>
            <a:ext cx="7635240" cy="749808"/>
          </a:xfrm>
          <a:prstGeom prst="roundRect">
            <a:avLst>
              <a:gd name="adj" fmla="val 1951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54864" rIns="777240" bIns="54864"/>
          <a:lstStyle/>
          <a:p>
            <a:pPr algn="l">
              <a:lnSpc>
                <a:spcPct val="95000"/>
              </a:lnSpc>
              <a:spcBef>
                <a:spcPts val="0"/>
              </a:spcBef>
              <a:spcAft>
                <a:spcPts val="0"/>
              </a:spcAft>
            </a:pPr>
            <a:r>
              <a:rPr sz="1700" b="0" i="0">
                <a:solidFill>
                  <a:srgbClr val="0F1B33"/>
                </a:solidFill>
                <a:latin typeface="Calibri"/>
              </a:rPr>
              <a:t>1 – Predict the topic of a conversation .</a:t>
            </a:r>
          </a:p>
        </p:txBody>
      </p:sp>
      <p:sp>
        <p:nvSpPr>
          <p:cNvPr id="15" name="Oval 14"/>
          <p:cNvSpPr/>
          <p:nvPr/>
        </p:nvSpPr>
        <p:spPr>
          <a:xfrm>
            <a:off x="7370064" y="2043684"/>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Connector 15"/>
          <p:cNvCxnSpPr/>
          <p:nvPr/>
        </p:nvCxnSpPr>
        <p:spPr>
          <a:xfrm>
            <a:off x="7477597" y="2239548"/>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542886" y="2158898"/>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66928" y="2706624"/>
            <a:ext cx="7635240" cy="749808"/>
          </a:xfrm>
          <a:prstGeom prst="roundRect">
            <a:avLst>
              <a:gd name="adj" fmla="val 1951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54864" rIns="777240" bIns="54864"/>
          <a:lstStyle/>
          <a:p>
            <a:pPr algn="l">
              <a:lnSpc>
                <a:spcPct val="95000"/>
              </a:lnSpc>
              <a:spcBef>
                <a:spcPts val="0"/>
              </a:spcBef>
              <a:spcAft>
                <a:spcPts val="0"/>
              </a:spcAft>
            </a:pPr>
            <a:r>
              <a:rPr sz="1700" b="0" i="0">
                <a:solidFill>
                  <a:srgbClr val="0F1B33"/>
                </a:solidFill>
                <a:latin typeface="Calibri"/>
              </a:rPr>
              <a:t>2 – Understand the conversation .</a:t>
            </a:r>
          </a:p>
        </p:txBody>
      </p:sp>
      <p:sp>
        <p:nvSpPr>
          <p:cNvPr id="23" name="Oval 22"/>
          <p:cNvSpPr/>
          <p:nvPr/>
        </p:nvSpPr>
        <p:spPr>
          <a:xfrm>
            <a:off x="7370064" y="2903220"/>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Connector 23"/>
          <p:cNvCxnSpPr/>
          <p:nvPr/>
        </p:nvCxnSpPr>
        <p:spPr>
          <a:xfrm>
            <a:off x="7477597" y="3099084"/>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542886" y="3018434"/>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66928" y="3566160"/>
            <a:ext cx="7635240" cy="749808"/>
          </a:xfrm>
          <a:prstGeom prst="roundRect">
            <a:avLst>
              <a:gd name="adj" fmla="val 1951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54864" rIns="777240" bIns="54864"/>
          <a:lstStyle/>
          <a:p>
            <a:pPr algn="l">
              <a:lnSpc>
                <a:spcPct val="95000"/>
              </a:lnSpc>
              <a:spcBef>
                <a:spcPts val="0"/>
              </a:spcBef>
              <a:spcAft>
                <a:spcPts val="0"/>
              </a:spcAft>
            </a:pPr>
            <a:r>
              <a:rPr sz="1700" b="0" i="0">
                <a:solidFill>
                  <a:srgbClr val="0F1B33"/>
                </a:solidFill>
                <a:latin typeface="Calibri"/>
              </a:rPr>
              <a:t>3 – Use some texting abbreviation &amp; Acronym  in a text message .</a:t>
            </a:r>
          </a:p>
        </p:txBody>
      </p:sp>
      <p:sp>
        <p:nvSpPr>
          <p:cNvPr id="34" name="Oval 33"/>
          <p:cNvSpPr/>
          <p:nvPr/>
        </p:nvSpPr>
        <p:spPr>
          <a:xfrm>
            <a:off x="7370064" y="3762756"/>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Connector 34"/>
          <p:cNvCxnSpPr/>
          <p:nvPr/>
        </p:nvCxnSpPr>
        <p:spPr>
          <a:xfrm>
            <a:off x="7477597" y="3958620"/>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542886" y="3877970"/>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66928" y="4425696"/>
            <a:ext cx="7635240" cy="749808"/>
          </a:xfrm>
          <a:prstGeom prst="roundRect">
            <a:avLst>
              <a:gd name="adj" fmla="val 1951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54864" rIns="777240" bIns="54864"/>
          <a:lstStyle/>
          <a:p>
            <a:pPr algn="l">
              <a:lnSpc>
                <a:spcPct val="95000"/>
              </a:lnSpc>
              <a:spcBef>
                <a:spcPts val="0"/>
              </a:spcBef>
              <a:spcAft>
                <a:spcPts val="0"/>
              </a:spcAft>
            </a:pPr>
            <a:r>
              <a:rPr sz="1700" b="0" i="0">
                <a:solidFill>
                  <a:srgbClr val="0F1B33"/>
                </a:solidFill>
                <a:latin typeface="Calibri"/>
              </a:rPr>
              <a:t>4 –  Use the “real talk” phrases in a conversation .</a:t>
            </a:r>
          </a:p>
        </p:txBody>
      </p:sp>
      <p:sp>
        <p:nvSpPr>
          <p:cNvPr id="45" name="Oval 44"/>
          <p:cNvSpPr/>
          <p:nvPr/>
        </p:nvSpPr>
        <p:spPr>
          <a:xfrm>
            <a:off x="7370064" y="4622292"/>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Connector 45"/>
          <p:cNvCxnSpPr/>
          <p:nvPr/>
        </p:nvCxnSpPr>
        <p:spPr>
          <a:xfrm>
            <a:off x="7477597" y="4818156"/>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7542886" y="4737506"/>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566928" y="5285232"/>
            <a:ext cx="7635240" cy="749808"/>
          </a:xfrm>
          <a:prstGeom prst="roundRect">
            <a:avLst>
              <a:gd name="adj" fmla="val 1951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54864" rIns="777240" bIns="54864"/>
          <a:lstStyle/>
          <a:p>
            <a:pPr algn="l">
              <a:lnSpc>
                <a:spcPct val="95000"/>
              </a:lnSpc>
              <a:spcBef>
                <a:spcPts val="0"/>
              </a:spcBef>
              <a:spcAft>
                <a:spcPts val="0"/>
              </a:spcAft>
            </a:pPr>
            <a:r>
              <a:rPr sz="1700" b="0" i="0">
                <a:solidFill>
                  <a:srgbClr val="0F1B33"/>
                </a:solidFill>
                <a:latin typeface="Calibri"/>
              </a:rPr>
              <a:t>5 – Ask for clarifications in a conversation .</a:t>
            </a:r>
          </a:p>
        </p:txBody>
      </p:sp>
      <p:sp>
        <p:nvSpPr>
          <p:cNvPr id="56" name="Oval 55"/>
          <p:cNvSpPr/>
          <p:nvPr/>
        </p:nvSpPr>
        <p:spPr>
          <a:xfrm>
            <a:off x="7370064" y="5481828"/>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7" name="Connector 56"/>
          <p:cNvCxnSpPr/>
          <p:nvPr/>
        </p:nvCxnSpPr>
        <p:spPr>
          <a:xfrm>
            <a:off x="7477597" y="5677692"/>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542886" y="5597042"/>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8485632" y="1847088"/>
            <a:ext cx="3108960" cy="2615184"/>
          </a:xfrm>
          <a:prstGeom prst="roundRect">
            <a:avLst>
              <a:gd name="adj" fmla="val 9090"/>
            </a:avLst>
          </a:prstGeom>
          <a:solidFill>
            <a:srgbClr val="F4F8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67" name="Picture 66" descr="image2.png"/>
          <p:cNvPicPr>
            <a:picLocks noChangeAspect="1"/>
          </p:cNvPicPr>
          <p:nvPr/>
        </p:nvPicPr>
        <p:blipFill>
          <a:blip r:embed="rId3"/>
          <a:stretch>
            <a:fillRect/>
          </a:stretch>
        </p:blipFill>
        <p:spPr>
          <a:xfrm>
            <a:off x="8964438" y="1956816"/>
            <a:ext cx="2151347" cy="2395728"/>
          </a:xfrm>
          <a:prstGeom prst="rect">
            <a:avLst/>
          </a:prstGeom>
        </p:spPr>
      </p:pic>
      <p:sp>
        <p:nvSpPr>
          <p:cNvPr id="68" name="TextBox 67"/>
          <p:cNvSpPr txBox="1"/>
          <p:nvPr/>
        </p:nvSpPr>
        <p:spPr>
          <a:xfrm>
            <a:off x="8321040" y="4773168"/>
            <a:ext cx="3429000" cy="548640"/>
          </a:xfrm>
          <a:prstGeom prst="rect">
            <a:avLst/>
          </a:prstGeom>
          <a:noFill/>
        </p:spPr>
        <p:txBody>
          <a:bodyPr wrap="square" anchor="t" lIns="0" tIns="0" rIns="0" bIns="0"/>
          <a:lstStyle/>
          <a:p>
            <a:pPr algn="ctr">
              <a:lnSpc>
                <a:spcPct val="95000"/>
              </a:lnSpc>
              <a:spcBef>
                <a:spcPts val="0"/>
              </a:spcBef>
              <a:spcAft>
                <a:spcPts val="0"/>
              </a:spcAft>
            </a:pPr>
            <a:r>
              <a:rPr sz="1200" b="0" i="0">
                <a:solidFill>
                  <a:srgbClr val="5C6C86"/>
                </a:solidFill>
                <a:latin typeface="Calibri"/>
              </a:rPr>
              <a:t>Tick a row once the class has covered it.</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4"/>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par>
                          <p:cTn id="16" presetID="10" presetClass="entr"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350"/>
                                  <p:tgtEl>
                                    <p:spTgt spid="16"/>
                                  </p:tgtEl>
                                </p:cBhvr>
                              </p:animEffect>
                            </p:childTnLst>
                          </p:cTn>
                        </p:par>
                        <p:par>
                          <p:cTn id="19" presetID="10" presetClass="entr"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350"/>
                                  <p:tgtEl>
                                    <p:spTgt spid="17"/>
                                  </p:tgtEl>
                                </p:cBhvr>
                              </p:animEffect>
                            </p:childTnLst>
                          </p:cTn>
                        </p:par>
                      </p:childTnLst>
                    </p:cTn>
                  </p:par>
                </p:childTnLst>
              </p:cTn>
            </p:seq>
            <p:seq concurrent="1" nextAc="seek">
              <p:cTn id="22" restart="whenNotActive" fill="hold" evtFilter="cancelBubble" nodeType="interactiveSeq">
                <p:stCondLst>
                  <p:cond evt="onClick" delay="0">
                    <p:tgtEl>
                      <p:spTgt spid="22"/>
                    </p:tgtEl>
                  </p:cond>
                </p:stCondLst>
                <p:endSync evt="end" delay="0">
                  <p:rtn val="all"/>
                </p:endSync>
                <p:childTnLst>
                  <p:par>
                    <p:cTn id="23" fill="hold">
                      <p:stCondLst>
                        <p:cond delay="0"/>
                      </p:stCondLst>
                      <p:childTnLst>
                        <p:par>
                          <p:cTn id="24" presetID="10" presetClass="entr"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350"/>
                                  <p:tgtEl>
                                    <p:spTgt spid="23"/>
                                  </p:tgtEl>
                                </p:cBhvr>
                              </p:animEffect>
                            </p:childTnLst>
                          </p:cTn>
                        </p:par>
                        <p:par>
                          <p:cTn id="27" presetID="10" presetClass="entr"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350"/>
                                  <p:tgtEl>
                                    <p:spTgt spid="24"/>
                                  </p:tgtEl>
                                </p:cBhvr>
                              </p:animEffect>
                            </p:childTnLst>
                          </p:cTn>
                        </p:par>
                        <p:par>
                          <p:cTn id="30" presetID="10" presetClass="entr"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350"/>
                                  <p:tgtEl>
                                    <p:spTgt spid="25"/>
                                  </p:tgtEl>
                                </p:cBhvr>
                              </p:animEffect>
                            </p:childTnLst>
                          </p:cTn>
                        </p:par>
                      </p:childTnLst>
                    </p:cTn>
                  </p:par>
                </p:childTnLst>
              </p:cTn>
            </p:seq>
            <p:seq concurrent="1" nextAc="seek">
              <p:cTn id="33" restart="whenNotActive" fill="hold" evtFilter="cancelBubble" nodeType="interactiveSeq">
                <p:stCondLst>
                  <p:cond evt="onClick" delay="0">
                    <p:tgtEl>
                      <p:spTgt spid="33"/>
                    </p:tgtEl>
                  </p:cond>
                </p:stCondLst>
                <p:endSync evt="end" delay="0">
                  <p:rtn val="all"/>
                </p:endSync>
                <p:childTnLst>
                  <p:par>
                    <p:cTn id="34" fill="hold">
                      <p:stCondLst>
                        <p:cond delay="0"/>
                      </p:stCondLst>
                      <p:childTnLst>
                        <p:par>
                          <p:cTn id="35" presetID="10" presetClass="entr"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350"/>
                                  <p:tgtEl>
                                    <p:spTgt spid="34"/>
                                  </p:tgtEl>
                                </p:cBhvr>
                              </p:animEffect>
                            </p:childTnLst>
                          </p:cTn>
                        </p:par>
                        <p:par>
                          <p:cTn id="38" presetID="10" presetClass="entr"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350"/>
                                  <p:tgtEl>
                                    <p:spTgt spid="35"/>
                                  </p:tgtEl>
                                </p:cBhvr>
                              </p:animEffect>
                            </p:childTnLst>
                          </p:cTn>
                        </p:par>
                        <p:par>
                          <p:cTn id="41" presetID="10" presetClass="entr"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350"/>
                                  <p:tgtEl>
                                    <p:spTgt spid="36"/>
                                  </p:tgtEl>
                                </p:cBhvr>
                              </p:animEffect>
                            </p:childTnLst>
                          </p:cTn>
                        </p:par>
                      </p:childTnLst>
                    </p:cTn>
                  </p:par>
                </p:childTnLst>
              </p:cTn>
            </p:seq>
            <p:seq concurrent="1" nextAc="seek">
              <p:cTn id="44" restart="whenNotActive" fill="hold" evtFilter="cancelBubble" nodeType="interactiveSeq">
                <p:stCondLst>
                  <p:cond evt="onClick" delay="0">
                    <p:tgtEl>
                      <p:spTgt spid="44"/>
                    </p:tgtEl>
                  </p:cond>
                </p:stCondLst>
                <p:endSync evt="end" delay="0">
                  <p:rtn val="all"/>
                </p:endSync>
                <p:childTnLst>
                  <p:par>
                    <p:cTn id="45" fill="hold">
                      <p:stCondLst>
                        <p:cond delay="0"/>
                      </p:stCondLst>
                      <p:childTnLst>
                        <p:par>
                          <p:cTn id="46" presetID="10" presetClass="entr"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350"/>
                                  <p:tgtEl>
                                    <p:spTgt spid="45"/>
                                  </p:tgtEl>
                                </p:cBhvr>
                              </p:animEffect>
                            </p:childTnLst>
                          </p:cTn>
                        </p:par>
                        <p:par>
                          <p:cTn id="49" presetID="10" presetClass="entr"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350"/>
                                  <p:tgtEl>
                                    <p:spTgt spid="46"/>
                                  </p:tgtEl>
                                </p:cBhvr>
                              </p:animEffect>
                            </p:childTnLst>
                          </p:cTn>
                        </p:par>
                        <p:par>
                          <p:cTn id="52" presetID="10" presetClass="entr"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350"/>
                                  <p:tgtEl>
                                    <p:spTgt spid="47"/>
                                  </p:tgtEl>
                                </p:cBhvr>
                              </p:animEffect>
                            </p:childTnLst>
                          </p:cTn>
                        </p:par>
                      </p:childTnLst>
                    </p:cTn>
                  </p:par>
                </p:childTnLst>
              </p:cTn>
            </p:seq>
            <p:seq concurrent="1" nextAc="seek">
              <p:cTn id="55" restart="whenNotActive" fill="hold" evtFilter="cancelBubble" nodeType="interactiveSeq">
                <p:stCondLst>
                  <p:cond evt="onClick" delay="0">
                    <p:tgtEl>
                      <p:spTgt spid="55"/>
                    </p:tgtEl>
                  </p:cond>
                </p:stCondLst>
                <p:endSync evt="end" delay="0">
                  <p:rtn val="all"/>
                </p:endSync>
                <p:childTnLst>
                  <p:par>
                    <p:cTn id="56" fill="hold">
                      <p:stCondLst>
                        <p:cond delay="0"/>
                      </p:stCondLst>
                      <p:childTnLst>
                        <p:par>
                          <p:cTn id="57" presetID="10" presetClass="entr" fill="hold" grpId="0"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350"/>
                                  <p:tgtEl>
                                    <p:spTgt spid="56"/>
                                  </p:tgtEl>
                                </p:cBhvr>
                              </p:animEffect>
                            </p:childTnLst>
                          </p:cTn>
                        </p:par>
                        <p:par>
                          <p:cTn id="60" presetID="10" presetClass="entr" fill="hold" grpId="0" nodeType="with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fade">
                                <p:cBhvr>
                                  <p:cTn id="62" dur="350"/>
                                  <p:tgtEl>
                                    <p:spTgt spid="57"/>
                                  </p:tgtEl>
                                </p:cBhvr>
                              </p:animEffect>
                            </p:childTnLst>
                          </p:cTn>
                        </p:par>
                        <p:par>
                          <p:cTn id="63" presetID="10" presetClass="entr"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fade">
                                <p:cBhvr>
                                  <p:cTn id="65" dur="350"/>
                                  <p:tgtEl>
                                    <p:spTgt spid="58"/>
                                  </p:tgtEl>
                                </p:cBhvr>
                              </p:animEffect>
                            </p:childTnLst>
                          </p:cTn>
                        </p:par>
                      </p:childTnLst>
                    </p:cTn>
                  </p:par>
                </p:childTn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1523962"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03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WARM-UP</a:t>
            </a:r>
          </a:p>
        </p:txBody>
      </p:sp>
      <p:sp>
        <p:nvSpPr>
          <p:cNvPr id="12" name="TextBox 11"/>
          <p:cNvSpPr txBox="1"/>
          <p:nvPr/>
        </p:nvSpPr>
        <p:spPr>
          <a:xfrm>
            <a:off x="566928" y="786384"/>
            <a:ext cx="6400800" cy="1371600"/>
          </a:xfrm>
          <a:prstGeom prst="rect">
            <a:avLst/>
          </a:prstGeom>
          <a:noFill/>
        </p:spPr>
        <p:txBody>
          <a:bodyPr wrap="square" anchor="t" lIns="0" tIns="0" rIns="0" bIns="0"/>
          <a:lstStyle/>
          <a:p>
            <a:pPr algn="l">
              <a:lnSpc>
                <a:spcPct val="92000"/>
              </a:lnSpc>
              <a:spcBef>
                <a:spcPts val="0"/>
              </a:spcBef>
              <a:spcAft>
                <a:spcPts val="0"/>
              </a:spcAft>
            </a:pPr>
            <a:r>
              <a:rPr sz="3100" b="1" i="0">
                <a:solidFill>
                  <a:srgbClr val="0F1B33"/>
                </a:solidFill>
                <a:latin typeface="Trebuchet MS"/>
              </a:rPr>
              <a:t>Is texting a common means of communication ?</a:t>
            </a:r>
          </a:p>
        </p:txBody>
      </p:sp>
      <p:sp>
        <p:nvSpPr>
          <p:cNvPr id="13" name="Rounded Rectangular Callout 12"/>
          <p:cNvSpPr/>
          <p:nvPr/>
        </p:nvSpPr>
        <p:spPr>
          <a:xfrm>
            <a:off x="566928" y="2743200"/>
            <a:ext cx="2331720" cy="868680"/>
          </a:xfrm>
          <a:prstGeom prst="wedgeRoundRectCallout">
            <a:avLst>
              <a:gd name="adj1" fmla="val 22000"/>
              <a:gd name="adj2" fmla="val 30000"/>
              <a:gd name="adj3" fmla="val -42000"/>
            </a:avLst>
          </a:prstGeom>
          <a:solidFill>
            <a:srgbClr val="FFFFFF"/>
          </a:solidFill>
          <a:ln w="13970">
            <a:solidFill>
              <a:srgbClr val="BFE3CB"/>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310896" bIns="146304"/>
          <a:lstStyle/>
          <a:p>
            <a:pPr algn="ctr">
              <a:lnSpc>
                <a:spcPct val="95000"/>
              </a:lnSpc>
              <a:spcBef>
                <a:spcPts val="0"/>
              </a:spcBef>
              <a:spcAft>
                <a:spcPts val="0"/>
              </a:spcAft>
            </a:pPr>
            <a:r>
              <a:rPr sz="2000" b="1" i="0">
                <a:solidFill>
                  <a:srgbClr val="0F1B33"/>
                </a:solidFill>
                <a:latin typeface="Calibri"/>
              </a:rPr>
              <a:t>YES</a:t>
            </a:r>
          </a:p>
        </p:txBody>
      </p:sp>
      <p:sp>
        <p:nvSpPr>
          <p:cNvPr id="14" name="Rounded Rectangular Callout 13"/>
          <p:cNvSpPr/>
          <p:nvPr/>
        </p:nvSpPr>
        <p:spPr>
          <a:xfrm>
            <a:off x="3108960" y="2743200"/>
            <a:ext cx="2331720" cy="868680"/>
          </a:xfrm>
          <a:prstGeom prst="wedgeRoundRectCallout">
            <a:avLst>
              <a:gd name="adj1" fmla="val 22000"/>
              <a:gd name="adj2" fmla="val 30000"/>
              <a:gd name="adj3" fmla="val -42000"/>
            </a:avLst>
          </a:prstGeom>
          <a:solidFill>
            <a:srgbClr val="FFFFFF"/>
          </a:solidFill>
          <a:ln w="13970">
            <a:solidFill>
              <a:srgbClr val="F3C9C4"/>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310896" bIns="146304"/>
          <a:lstStyle/>
          <a:p>
            <a:pPr algn="ctr">
              <a:lnSpc>
                <a:spcPct val="95000"/>
              </a:lnSpc>
              <a:spcBef>
                <a:spcPts val="0"/>
              </a:spcBef>
              <a:spcAft>
                <a:spcPts val="0"/>
              </a:spcAft>
            </a:pPr>
            <a:r>
              <a:rPr sz="2000" b="1" i="0">
                <a:solidFill>
                  <a:srgbClr val="0F1B33"/>
                </a:solidFill>
                <a:latin typeface="Calibri"/>
              </a:rPr>
              <a:t>NO</a:t>
            </a:r>
          </a:p>
        </p:txBody>
      </p:sp>
      <p:sp>
        <p:nvSpPr>
          <p:cNvPr id="15" name="Oval 14"/>
          <p:cNvSpPr/>
          <p:nvPr/>
        </p:nvSpPr>
        <p:spPr>
          <a:xfrm>
            <a:off x="2423160" y="3022092"/>
            <a:ext cx="310896" cy="310896"/>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Connector 15"/>
          <p:cNvCxnSpPr/>
          <p:nvPr/>
        </p:nvCxnSpPr>
        <p:spPr>
          <a:xfrm>
            <a:off x="2510211" y="3180649"/>
            <a:ext cx="52852" cy="55961"/>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563063" y="3115361"/>
            <a:ext cx="90160" cy="121249"/>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965192" y="3022092"/>
            <a:ext cx="310896" cy="310896"/>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Connector 18"/>
          <p:cNvCxnSpPr/>
          <p:nvPr/>
        </p:nvCxnSpPr>
        <p:spPr>
          <a:xfrm>
            <a:off x="5052243" y="3180649"/>
            <a:ext cx="52852" cy="55961"/>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5105095" y="3115361"/>
            <a:ext cx="90160" cy="121249"/>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66928" y="4023360"/>
            <a:ext cx="3063240" cy="548640"/>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400" b="1" i="0">
                <a:solidFill>
                  <a:srgbClr val="1B3FA8"/>
                </a:solidFill>
                <a:latin typeface="Calibri"/>
              </a:rPr>
              <a:t>Show examples</a:t>
            </a:r>
          </a:p>
        </p:txBody>
      </p:sp>
      <p:sp>
        <p:nvSpPr>
          <p:cNvPr id="34" name="TextBox 33"/>
          <p:cNvSpPr txBox="1"/>
          <p:nvPr/>
        </p:nvSpPr>
        <p:spPr>
          <a:xfrm>
            <a:off x="566928" y="4709160"/>
            <a:ext cx="4480560" cy="457200"/>
          </a:xfrm>
          <a:prstGeom prst="rect">
            <a:avLst/>
          </a:prstGeom>
          <a:noFill/>
        </p:spPr>
        <p:txBody>
          <a:bodyPr wrap="square" anchor="t" lIns="0" tIns="0" rIns="0" bIns="0"/>
          <a:lstStyle/>
          <a:p>
            <a:pPr algn="l">
              <a:lnSpc>
                <a:spcPct val="95000"/>
              </a:lnSpc>
              <a:spcBef>
                <a:spcPts val="0"/>
              </a:spcBef>
              <a:spcAft>
                <a:spcPts val="0"/>
              </a:spcAft>
            </a:pPr>
            <a:r>
              <a:rPr sz="1250" b="0" i="1">
                <a:solidFill>
                  <a:srgbClr val="5C6C86"/>
                </a:solidFill>
                <a:latin typeface="Calibri"/>
              </a:rPr>
              <a:t>Vote first — hands up for YES, hands up for NO.</a:t>
            </a:r>
          </a:p>
        </p:txBody>
      </p:sp>
      <p:sp>
        <p:nvSpPr>
          <p:cNvPr id="35" name="Rounded Rectangle 34"/>
          <p:cNvSpPr/>
          <p:nvPr/>
        </p:nvSpPr>
        <p:spPr>
          <a:xfrm>
            <a:off x="7269480" y="1152144"/>
            <a:ext cx="4343400" cy="3310128"/>
          </a:xfrm>
          <a:prstGeom prst="roundRect">
            <a:avLst>
              <a:gd name="adj" fmla="val 7734"/>
            </a:avLst>
          </a:prstGeom>
          <a:solidFill>
            <a:srgbClr val="FFFFFF"/>
          </a:solidFill>
          <a:ln w="11430">
            <a:solidFill>
              <a:srgbClr val="DCE5F2"/>
            </a:solidFill>
          </a:ln>
          <a:effectLst>
            <a:outerShdw blurRad="304800" dist="76200" dir="5400000" rotWithShape="0">
              <a:srgbClr val="0F1B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6" name="Picture 35" descr="image4.png"/>
          <p:cNvPicPr>
            <a:picLocks noChangeAspect="1"/>
          </p:cNvPicPr>
          <p:nvPr/>
        </p:nvPicPr>
        <p:blipFill>
          <a:blip r:embed="rId3"/>
          <a:stretch>
            <a:fillRect/>
          </a:stretch>
        </p:blipFill>
        <p:spPr>
          <a:xfrm>
            <a:off x="7635118" y="1261872"/>
            <a:ext cx="3612123" cy="2926080"/>
          </a:xfrm>
          <a:prstGeom prst="rect">
            <a:avLst/>
          </a:prstGeom>
        </p:spPr>
      </p:pic>
      <p:sp>
        <p:nvSpPr>
          <p:cNvPr id="37" name="TextBox 36"/>
          <p:cNvSpPr txBox="1"/>
          <p:nvPr/>
        </p:nvSpPr>
        <p:spPr>
          <a:xfrm>
            <a:off x="7269480" y="3346704"/>
            <a:ext cx="4343400" cy="310896"/>
          </a:xfrm>
          <a:prstGeom prst="rect">
            <a:avLst/>
          </a:prstGeom>
          <a:noFill/>
        </p:spPr>
        <p:txBody>
          <a:bodyPr wrap="square" anchor="t" lIns="0" tIns="0" rIns="0" bIns="0"/>
          <a:lstStyle/>
          <a:p>
            <a:pPr algn="ctr">
              <a:lnSpc>
                <a:spcPct val="95000"/>
              </a:lnSpc>
              <a:spcBef>
                <a:spcPts val="0"/>
              </a:spcBef>
              <a:spcAft>
                <a:spcPts val="0"/>
              </a:spcAft>
            </a:pPr>
            <a:r>
              <a:rPr sz="1250" b="1" i="0">
                <a:solidFill>
                  <a:srgbClr val="1B3FA8"/>
                </a:solidFill>
                <a:latin typeface="Calibri"/>
              </a:rPr>
              <a:t>texting abbreviations</a:t>
            </a:r>
          </a:p>
        </p:txBody>
      </p:sp>
      <p:sp>
        <p:nvSpPr>
          <p:cNvPr id="41" name="Rounded Rectangle 40"/>
          <p:cNvSpPr/>
          <p:nvPr/>
        </p:nvSpPr>
        <p:spPr>
          <a:xfrm>
            <a:off x="9098280" y="4590288"/>
            <a:ext cx="2331720" cy="1417320"/>
          </a:xfrm>
          <a:prstGeom prst="roundRect">
            <a:avLst>
              <a:gd name="adj" fmla="val 14193"/>
            </a:avLst>
          </a:prstGeom>
          <a:solidFill>
            <a:srgbClr val="F4F8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42" name="Picture 41" descr="image3.png"/>
          <p:cNvPicPr>
            <a:picLocks noChangeAspect="1"/>
          </p:cNvPicPr>
          <p:nvPr/>
        </p:nvPicPr>
        <p:blipFill>
          <a:blip r:embed="rId4"/>
          <a:stretch>
            <a:fillRect/>
          </a:stretch>
        </p:blipFill>
        <p:spPr>
          <a:xfrm>
            <a:off x="9754648" y="4663440"/>
            <a:ext cx="1018983" cy="1280160"/>
          </a:xfrm>
          <a:prstGeom prst="rect">
            <a:avLst/>
          </a:prstGeom>
        </p:spPr>
      </p:pic>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3"/>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par>
                          <p:cTn id="16" presetID="10" presetClass="entr"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350"/>
                                  <p:tgtEl>
                                    <p:spTgt spid="16"/>
                                  </p:tgtEl>
                                </p:cBhvr>
                              </p:animEffect>
                            </p:childTnLst>
                          </p:cTn>
                        </p:par>
                        <p:par>
                          <p:cTn id="19" presetID="10" presetClass="entr"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350"/>
                                  <p:tgtEl>
                                    <p:spTgt spid="17"/>
                                  </p:tgtEl>
                                </p:cBhvr>
                              </p:animEffect>
                            </p:childTnLst>
                          </p:cTn>
                        </p:par>
                      </p:childTnLst>
                    </p:cTn>
                  </p:par>
                </p:childTnLst>
              </p:cTn>
            </p:seq>
            <p:seq concurrent="1" nextAc="seek">
              <p:cTn id="22" restart="whenNotActive" fill="hold" evtFilter="cancelBubble" nodeType="interactiveSeq">
                <p:stCondLst>
                  <p:cond evt="onClick" delay="0">
                    <p:tgtEl>
                      <p:spTgt spid="14"/>
                    </p:tgtEl>
                  </p:cond>
                </p:stCondLst>
                <p:endSync evt="end" delay="0">
                  <p:rtn val="all"/>
                </p:endSync>
                <p:childTnLst>
                  <p:par>
                    <p:cTn id="23" fill="hold">
                      <p:stCondLst>
                        <p:cond delay="0"/>
                      </p:stCondLst>
                      <p:childTnLst>
                        <p:par>
                          <p:cTn id="24" presetID="10" presetClass="entr"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350"/>
                                  <p:tgtEl>
                                    <p:spTgt spid="18"/>
                                  </p:tgtEl>
                                </p:cBhvr>
                              </p:animEffect>
                            </p:childTnLst>
                          </p:cTn>
                        </p:par>
                        <p:par>
                          <p:cTn id="27" presetID="10" presetClass="entr"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350"/>
                                  <p:tgtEl>
                                    <p:spTgt spid="19"/>
                                  </p:tgtEl>
                                </p:cBhvr>
                              </p:animEffect>
                            </p:childTnLst>
                          </p:cTn>
                        </p:par>
                        <p:par>
                          <p:cTn id="30" presetID="10" presetClass="entr"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50"/>
                                  <p:tgtEl>
                                    <p:spTgt spid="20"/>
                                  </p:tgtEl>
                                </p:cBhvr>
                              </p:animEffect>
                            </p:childTnLst>
                          </p:cTn>
                        </p:par>
                      </p:childTnLst>
                    </p:cTn>
                  </p:par>
                </p:childTnLst>
              </p:cTn>
            </p:seq>
            <p:seq concurrent="1" nextAc="seek">
              <p:cTn id="33" restart="whenNotActive" fill="hold" evtFilter="cancelBubble" nodeType="interactiveSeq">
                <p:stCondLst>
                  <p:cond evt="onClick" delay="0">
                    <p:tgtEl>
                      <p:spTgt spid="33"/>
                    </p:tgtEl>
                  </p:cond>
                </p:stCondLst>
                <p:endSync evt="end" delay="0">
                  <p:rtn val="all"/>
                </p:endSync>
                <p:childTnLst>
                  <p:par>
                    <p:cTn id="34" fill="hold">
                      <p:stCondLst>
                        <p:cond delay="0"/>
                      </p:stCondLst>
                      <p:childTnLst>
                        <p:par>
                          <p:cTn id="35" presetID="10" presetClass="entr"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350"/>
                                  <p:tgtEl>
                                    <p:spTgt spid="35"/>
                                  </p:tgtEl>
                                </p:cBhvr>
                              </p:animEffect>
                            </p:childTnLst>
                          </p:cTn>
                        </p:par>
                        <p:par>
                          <p:cTn id="38" presetID="10" presetClass="entr"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350"/>
                                  <p:tgtEl>
                                    <p:spTgt spid="37"/>
                                  </p:tgtEl>
                                </p:cBhvr>
                              </p:animEffect>
                            </p:childTnLst>
                          </p:cTn>
                        </p:par>
                      </p:childTnLst>
                    </p:cTn>
                  </p:par>
                </p:childTnLst>
              </p:cTn>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1005840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2031949"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04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LOOK</a:t>
            </a:r>
          </a:p>
        </p:txBody>
      </p:sp>
      <p:sp>
        <p:nvSpPr>
          <p:cNvPr id="12" name="TextBox 11"/>
          <p:cNvSpPr txBox="1"/>
          <p:nvPr/>
        </p:nvSpPr>
        <p:spPr>
          <a:xfrm>
            <a:off x="566928" y="859536"/>
            <a:ext cx="2926080" cy="1371600"/>
          </a:xfrm>
          <a:prstGeom prst="rect">
            <a:avLst/>
          </a:prstGeom>
          <a:noFill/>
        </p:spPr>
        <p:txBody>
          <a:bodyPr wrap="square" anchor="t" lIns="0" tIns="0" rIns="0" bIns="0"/>
          <a:lstStyle/>
          <a:p>
            <a:pPr algn="l">
              <a:lnSpc>
                <a:spcPct val="92000"/>
              </a:lnSpc>
              <a:spcBef>
                <a:spcPts val="0"/>
              </a:spcBef>
              <a:spcAft>
                <a:spcPts val="0"/>
              </a:spcAft>
            </a:pPr>
            <a:r>
              <a:rPr sz="4400" b="1" i="0">
                <a:solidFill>
                  <a:srgbClr val="0F1B33"/>
                </a:solidFill>
                <a:latin typeface="Trebuchet MS"/>
              </a:rPr>
              <a:t>WHAT ?</a:t>
            </a:r>
          </a:p>
        </p:txBody>
      </p:sp>
      <p:sp>
        <p:nvSpPr>
          <p:cNvPr id="13" name="Rounded Rectangle 12"/>
          <p:cNvSpPr/>
          <p:nvPr/>
        </p:nvSpPr>
        <p:spPr>
          <a:xfrm>
            <a:off x="3584448" y="1170432"/>
            <a:ext cx="5577840" cy="4389120"/>
          </a:xfrm>
          <a:prstGeom prst="roundRect">
            <a:avLst>
              <a:gd name="adj" fmla="val 6666"/>
            </a:avLst>
          </a:prstGeom>
          <a:solidFill>
            <a:srgbClr val="FFFFFF"/>
          </a:solidFill>
          <a:ln w="11430">
            <a:solidFill>
              <a:srgbClr val="DCE5F2"/>
            </a:solidFill>
          </a:ln>
          <a:effectLst>
            <a:outerShdw blurRad="330200" dist="76200" dir="5400000" rotWithShape="0">
              <a:srgbClr val="0F1B33">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4" name="Picture 13" descr="image4.png"/>
          <p:cNvPicPr>
            <a:picLocks noChangeAspect="1"/>
          </p:cNvPicPr>
          <p:nvPr/>
        </p:nvPicPr>
        <p:blipFill>
          <a:blip r:embed="rId3"/>
          <a:stretch>
            <a:fillRect/>
          </a:stretch>
        </p:blipFill>
        <p:spPr>
          <a:xfrm>
            <a:off x="3946472" y="1298448"/>
            <a:ext cx="4853791" cy="3931920"/>
          </a:xfrm>
          <a:prstGeom prst="rect">
            <a:avLst/>
          </a:prstGeom>
        </p:spPr>
      </p:pic>
      <p:pic>
        <p:nvPicPr>
          <p:cNvPr id="15" name="Picture 14" descr="image6.png"/>
          <p:cNvPicPr>
            <a:picLocks noChangeAspect="1"/>
          </p:cNvPicPr>
          <p:nvPr/>
        </p:nvPicPr>
        <p:blipFill>
          <a:blip r:embed="rId4"/>
          <a:stretch>
            <a:fillRect/>
          </a:stretch>
        </p:blipFill>
        <p:spPr>
          <a:xfrm>
            <a:off x="8937156" y="4224528"/>
            <a:ext cx="1008046" cy="1463040"/>
          </a:xfrm>
          <a:prstGeom prst="rect">
            <a:avLst/>
          </a:prstGeom>
        </p:spPr>
      </p:pic>
      <p:sp>
        <p:nvSpPr>
          <p:cNvPr id="16" name="Rounded Rectangle 15"/>
          <p:cNvSpPr/>
          <p:nvPr/>
        </p:nvSpPr>
        <p:spPr>
          <a:xfrm>
            <a:off x="566928" y="2304288"/>
            <a:ext cx="2834640" cy="694944"/>
          </a:xfrm>
          <a:prstGeom prst="roundRect">
            <a:avLst>
              <a:gd name="adj" fmla="val 21052"/>
            </a:avLst>
          </a:prstGeom>
          <a:solidFill>
            <a:srgbClr val="E8EFFF"/>
          </a:solidFill>
          <a:ln w="15240">
            <a:solidFill>
              <a:srgbClr val="C3D4FF"/>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2500" b="1" i="0">
                <a:solidFill>
                  <a:srgbClr val="1B3FA8"/>
                </a:solidFill>
                <a:latin typeface="Trebuchet MS"/>
              </a:rPr>
              <a:t>texting</a:t>
            </a:r>
          </a:p>
        </p:txBody>
      </p:sp>
      <p:sp>
        <p:nvSpPr>
          <p:cNvPr id="17" name="Rounded Rectangle 16"/>
          <p:cNvSpPr/>
          <p:nvPr/>
        </p:nvSpPr>
        <p:spPr>
          <a:xfrm>
            <a:off x="566928" y="3145536"/>
            <a:ext cx="2834640" cy="694944"/>
          </a:xfrm>
          <a:prstGeom prst="roundRect">
            <a:avLst>
              <a:gd name="adj" fmla="val 21052"/>
            </a:avLst>
          </a:prstGeom>
          <a:solidFill>
            <a:srgbClr val="E8EFFF"/>
          </a:solidFill>
          <a:ln w="15240">
            <a:solidFill>
              <a:srgbClr val="C3D4FF"/>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2200" b="1" i="0">
                <a:solidFill>
                  <a:srgbClr val="1B3FA8"/>
                </a:solidFill>
                <a:latin typeface="Trebuchet MS"/>
              </a:rPr>
              <a:t>abbreviation</a:t>
            </a:r>
          </a:p>
        </p:txBody>
      </p:sp>
      <p:sp>
        <p:nvSpPr>
          <p:cNvPr id="18" name="Rounded Rectangle 17"/>
          <p:cNvSpPr/>
          <p:nvPr/>
        </p:nvSpPr>
        <p:spPr>
          <a:xfrm>
            <a:off x="566928" y="4096512"/>
            <a:ext cx="2834640" cy="530352"/>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300" b="1" i="0">
                <a:solidFill>
                  <a:srgbClr val="1B3FA8"/>
                </a:solidFill>
                <a:latin typeface="Calibri"/>
              </a:rPr>
              <a:t>Reveal the words</a:t>
            </a:r>
          </a:p>
        </p:txBody>
      </p:sp>
      <p:sp>
        <p:nvSpPr>
          <p:cNvPr id="19" name="TextBox 18"/>
          <p:cNvSpPr txBox="1"/>
          <p:nvPr/>
        </p:nvSpPr>
        <p:spPr>
          <a:xfrm>
            <a:off x="566928" y="4791456"/>
            <a:ext cx="2880360" cy="457200"/>
          </a:xfrm>
          <a:prstGeom prst="rect">
            <a:avLst/>
          </a:prstGeom>
          <a:noFill/>
        </p:spPr>
        <p:txBody>
          <a:bodyPr wrap="square" anchor="t" lIns="0" tIns="0" rIns="0" bIns="0"/>
          <a:lstStyle/>
          <a:p>
            <a:pPr algn="l">
              <a:lnSpc>
                <a:spcPct val="95000"/>
              </a:lnSpc>
              <a:spcBef>
                <a:spcPts val="0"/>
              </a:spcBef>
              <a:spcAft>
                <a:spcPts val="0"/>
              </a:spcAft>
            </a:pPr>
            <a:r>
              <a:rPr sz="1250" b="0" i="1">
                <a:solidFill>
                  <a:srgbClr val="5C6C86"/>
                </a:solidFill>
                <a:latin typeface="Calibri"/>
              </a:rPr>
              <a:t>What can you see?</a:t>
            </a:r>
          </a:p>
          <a:p>
            <a:pPr algn="l">
              <a:lnSpc>
                <a:spcPct val="95000"/>
              </a:lnSpc>
              <a:spcBef>
                <a:spcPts val="0"/>
              </a:spcBef>
              <a:spcAft>
                <a:spcPts val="0"/>
              </a:spcAft>
            </a:pPr>
            <a:r>
              <a:rPr sz="1250" b="0" i="1">
                <a:solidFill>
                  <a:srgbClr val="5C6C86"/>
                </a:solidFill>
                <a:latin typeface="Calibri"/>
              </a:rPr>
              <a:t>Say the words before you tap.</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8"/>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childTnLst>
                    </p:cTn>
                  </p:par>
                </p:childTnLst>
              </p:cTn>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2539936"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05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THINK</a:t>
            </a:r>
          </a:p>
        </p:txBody>
      </p:sp>
      <p:sp>
        <p:nvSpPr>
          <p:cNvPr id="12" name="TextBox 11"/>
          <p:cNvSpPr txBox="1"/>
          <p:nvPr/>
        </p:nvSpPr>
        <p:spPr>
          <a:xfrm>
            <a:off x="566928" y="786384"/>
            <a:ext cx="8778240" cy="1371600"/>
          </a:xfrm>
          <a:prstGeom prst="rect">
            <a:avLst/>
          </a:prstGeom>
          <a:noFill/>
        </p:spPr>
        <p:txBody>
          <a:bodyPr wrap="square" anchor="t" lIns="0" tIns="0" rIns="0" bIns="0"/>
          <a:lstStyle/>
          <a:p>
            <a:pPr algn="l">
              <a:lnSpc>
                <a:spcPct val="92000"/>
              </a:lnSpc>
              <a:spcBef>
                <a:spcPts val="0"/>
              </a:spcBef>
              <a:spcAft>
                <a:spcPts val="0"/>
              </a:spcAft>
            </a:pPr>
            <a:r>
              <a:rPr sz="3100" b="1" i="0">
                <a:solidFill>
                  <a:srgbClr val="0F1B33"/>
                </a:solidFill>
                <a:latin typeface="Trebuchet MS"/>
              </a:rPr>
              <a:t>How do people text in your language?</a:t>
            </a:r>
          </a:p>
        </p:txBody>
      </p:sp>
      <p:sp>
        <p:nvSpPr>
          <p:cNvPr id="13" name="btn_eg"/>
          <p:cNvSpPr/>
          <p:nvPr/>
        </p:nvSpPr>
        <p:spPr>
          <a:xfrm>
            <a:off x="566928" y="2148840"/>
            <a:ext cx="2377440" cy="960120"/>
          </a:xfrm>
          <a:prstGeom prst="roundRect">
            <a:avLst>
              <a:gd name="adj" fmla="val 20952"/>
            </a:avLst>
          </a:prstGeom>
          <a:solidFill>
            <a:srgbClr val="E8EFFF"/>
          </a:solidFill>
          <a:ln w="17780">
            <a:solidFill>
              <a:srgbClr val="C3D4FF"/>
            </a:solidFill>
          </a:ln>
          <a:effectLst>
            <a:outerShdw blurRad="2286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95000"/>
              </a:lnSpc>
              <a:spcBef>
                <a:spcPts val="0"/>
              </a:spcBef>
              <a:spcAft>
                <a:spcPts val="0"/>
              </a:spcAft>
            </a:pPr>
            <a:r>
              <a:rPr sz="3000" b="1" i="0">
                <a:solidFill>
                  <a:srgbClr val="1B3FA8"/>
                </a:solidFill>
                <a:latin typeface="Trebuchet MS"/>
              </a:rPr>
              <a:t>e.g.</a:t>
            </a:r>
          </a:p>
        </p:txBody>
      </p:sp>
      <p:sp>
        <p:nvSpPr>
          <p:cNvPr id="14" name="Rounded Rectangle 13"/>
          <p:cNvSpPr/>
          <p:nvPr/>
        </p:nvSpPr>
        <p:spPr>
          <a:xfrm>
            <a:off x="566928" y="3858768"/>
            <a:ext cx="3310128" cy="896112"/>
          </a:xfrm>
          <a:prstGeom prst="roundRect">
            <a:avLst>
              <a:gd name="adj" fmla="val 20408"/>
            </a:avLst>
          </a:prstGeom>
          <a:solidFill>
            <a:srgbClr val="FFFFFF"/>
          </a:solidFill>
          <a:ln w="11430">
            <a:solidFill>
              <a:srgbClr val="DCE5F2"/>
            </a:solidFill>
          </a:ln>
          <a:effectLst>
            <a:outerShdw blurRad="2286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73152" rIns="182880" bIns="73152"/>
          <a:lstStyle/>
          <a:p>
            <a:pPr algn="l">
              <a:lnSpc>
                <a:spcPct val="95000"/>
              </a:lnSpc>
              <a:spcBef>
                <a:spcPts val="0"/>
              </a:spcBef>
              <a:spcAft>
                <a:spcPts val="0"/>
              </a:spcAft>
            </a:pPr>
            <a:r>
              <a:rPr sz="2000" b="1" i="0">
                <a:solidFill>
                  <a:srgbClr val="1D4ED8"/>
                </a:solidFill>
                <a:latin typeface="Calibri"/>
              </a:rPr>
              <a:t>PLZ   =   </a:t>
            </a:r>
            <a:r>
              <a:rPr sz="2000" b="0" i="0">
                <a:solidFill>
                  <a:srgbClr val="0F1B33"/>
                </a:solidFill>
                <a:latin typeface="Calibri"/>
              </a:rPr>
              <a:t>please</a:t>
            </a:r>
          </a:p>
        </p:txBody>
      </p:sp>
      <p:sp>
        <p:nvSpPr>
          <p:cNvPr id="15" name="Rounded Rectangle 14"/>
          <p:cNvSpPr/>
          <p:nvPr/>
        </p:nvSpPr>
        <p:spPr>
          <a:xfrm>
            <a:off x="4151376" y="3858768"/>
            <a:ext cx="3310128" cy="896112"/>
          </a:xfrm>
          <a:prstGeom prst="roundRect">
            <a:avLst>
              <a:gd name="adj" fmla="val 20408"/>
            </a:avLst>
          </a:prstGeom>
          <a:solidFill>
            <a:srgbClr val="FFFFFF"/>
          </a:solidFill>
          <a:ln w="11430">
            <a:solidFill>
              <a:srgbClr val="DCE5F2"/>
            </a:solidFill>
          </a:ln>
          <a:effectLst>
            <a:outerShdw blurRad="2286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73152" rIns="182880" bIns="73152"/>
          <a:lstStyle/>
          <a:p>
            <a:pPr algn="l">
              <a:lnSpc>
                <a:spcPct val="95000"/>
              </a:lnSpc>
              <a:spcBef>
                <a:spcPts val="0"/>
              </a:spcBef>
              <a:spcAft>
                <a:spcPts val="0"/>
              </a:spcAft>
            </a:pPr>
            <a:r>
              <a:rPr sz="2000" b="1" i="0">
                <a:solidFill>
                  <a:srgbClr val="1D4ED8"/>
                </a:solidFill>
                <a:latin typeface="Calibri"/>
              </a:rPr>
              <a:t>Gr8   =   </a:t>
            </a:r>
            <a:r>
              <a:rPr sz="2000" b="0" i="0">
                <a:solidFill>
                  <a:srgbClr val="0F1B33"/>
                </a:solidFill>
                <a:latin typeface="Calibri"/>
              </a:rPr>
              <a:t>great</a:t>
            </a:r>
          </a:p>
        </p:txBody>
      </p:sp>
      <p:sp>
        <p:nvSpPr>
          <p:cNvPr id="16" name="Rounded Rectangle 15"/>
          <p:cNvSpPr/>
          <p:nvPr/>
        </p:nvSpPr>
        <p:spPr>
          <a:xfrm>
            <a:off x="7735824" y="3858768"/>
            <a:ext cx="3310128" cy="896112"/>
          </a:xfrm>
          <a:prstGeom prst="roundRect">
            <a:avLst>
              <a:gd name="adj" fmla="val 20408"/>
            </a:avLst>
          </a:prstGeom>
          <a:solidFill>
            <a:srgbClr val="FFFFFF"/>
          </a:solidFill>
          <a:ln w="11430">
            <a:solidFill>
              <a:srgbClr val="DCE5F2"/>
            </a:solidFill>
          </a:ln>
          <a:effectLst>
            <a:outerShdw blurRad="2286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73152" rIns="182880" bIns="73152"/>
          <a:lstStyle/>
          <a:p>
            <a:pPr algn="l">
              <a:lnSpc>
                <a:spcPct val="95000"/>
              </a:lnSpc>
              <a:spcBef>
                <a:spcPts val="0"/>
              </a:spcBef>
              <a:spcAft>
                <a:spcPts val="0"/>
              </a:spcAft>
            </a:pPr>
            <a:r>
              <a:rPr sz="2000" b="1" i="0">
                <a:solidFill>
                  <a:srgbClr val="1D4ED8"/>
                </a:solidFill>
                <a:latin typeface="Calibri"/>
              </a:rPr>
              <a:t>B4   =   </a:t>
            </a:r>
            <a:r>
              <a:rPr sz="2000" b="0" i="0">
                <a:solidFill>
                  <a:srgbClr val="0F1B33"/>
                </a:solidFill>
                <a:latin typeface="Calibri"/>
              </a:rPr>
              <a:t>before</a:t>
            </a:r>
          </a:p>
        </p:txBody>
      </p:sp>
      <p:sp>
        <p:nvSpPr>
          <p:cNvPr id="22" name="Rounded Rectangle 21"/>
          <p:cNvSpPr/>
          <p:nvPr/>
        </p:nvSpPr>
        <p:spPr>
          <a:xfrm>
            <a:off x="8961120" y="1170432"/>
            <a:ext cx="2651760" cy="2157984"/>
          </a:xfrm>
          <a:prstGeom prst="roundRect">
            <a:avLst>
              <a:gd name="adj" fmla="val 10169"/>
            </a:avLst>
          </a:prstGeom>
          <a:solidFill>
            <a:srgbClr val="F4F8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23" name="Picture 22" descr="image3.png"/>
          <p:cNvPicPr>
            <a:picLocks noChangeAspect="1"/>
          </p:cNvPicPr>
          <p:nvPr/>
        </p:nvPicPr>
        <p:blipFill>
          <a:blip r:embed="rId3"/>
          <a:stretch>
            <a:fillRect/>
          </a:stretch>
        </p:blipFill>
        <p:spPr>
          <a:xfrm>
            <a:off x="9515483" y="1280160"/>
            <a:ext cx="1543032" cy="1938528"/>
          </a:xfrm>
          <a:prstGeom prst="rect">
            <a:avLst/>
          </a:prstGeom>
        </p:spPr>
      </p:pic>
      <p:sp>
        <p:nvSpPr>
          <p:cNvPr id="24" name="TextBox 23"/>
          <p:cNvSpPr txBox="1"/>
          <p:nvPr/>
        </p:nvSpPr>
        <p:spPr>
          <a:xfrm>
            <a:off x="566928" y="5074920"/>
            <a:ext cx="8046720" cy="457200"/>
          </a:xfrm>
          <a:prstGeom prst="rect">
            <a:avLst/>
          </a:prstGeom>
          <a:noFill/>
        </p:spPr>
        <p:txBody>
          <a:bodyPr wrap="square" anchor="t" lIns="0" tIns="0" rIns="0" bIns="0"/>
          <a:lstStyle/>
          <a:p>
            <a:pPr algn="l">
              <a:lnSpc>
                <a:spcPct val="95000"/>
              </a:lnSpc>
              <a:spcBef>
                <a:spcPts val="0"/>
              </a:spcBef>
              <a:spcAft>
                <a:spcPts val="0"/>
              </a:spcAft>
            </a:pPr>
            <a:r>
              <a:rPr sz="1300" b="0" i="1">
                <a:solidFill>
                  <a:srgbClr val="5C6C86"/>
                </a:solidFill>
                <a:latin typeface="Calibri"/>
              </a:rPr>
              <a:t>How do you shorten words when you text in Arabic? Say two examples, then tap e.g. for three English ones.</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3"/>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50"/>
                                  <p:tgtEl>
                                    <p:spTgt spid="14"/>
                                  </p:tgtEl>
                                </p:cBhvr>
                              </p:animEffect>
                            </p:childTnLst>
                          </p:cTn>
                        </p:par>
                        <p:par>
                          <p:cTn id="16" presetID="10" presetClass="entr"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350"/>
                                  <p:tgtEl>
                                    <p:spTgt spid="15"/>
                                  </p:tgtEl>
                                </p:cBhvr>
                              </p:animEffect>
                            </p:childTnLst>
                          </p:cTn>
                        </p:par>
                        <p:par>
                          <p:cTn id="19" presetID="10" presetClass="entr"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50"/>
                                  <p:tgtEl>
                                    <p:spTgt spid="16"/>
                                  </p:tgtEl>
                                </p:cBhvr>
                              </p:animEffect>
                            </p:childTnLst>
                          </p:cTn>
                        </p:par>
                      </p:childTnLst>
                    </p:cTn>
                  </p:par>
                </p:childTnLst>
              </p:cTn>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3047924"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06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LISTENING</a:t>
            </a:r>
          </a:p>
        </p:txBody>
      </p:sp>
      <p:sp>
        <p:nvSpPr>
          <p:cNvPr id="12" name="TextBox 11"/>
          <p:cNvSpPr txBox="1"/>
          <p:nvPr/>
        </p:nvSpPr>
        <p:spPr>
          <a:xfrm>
            <a:off x="566928" y="786384"/>
            <a:ext cx="6583680" cy="1371600"/>
          </a:xfrm>
          <a:prstGeom prst="rect">
            <a:avLst/>
          </a:prstGeom>
          <a:noFill/>
        </p:spPr>
        <p:txBody>
          <a:bodyPr wrap="square" anchor="t" lIns="0" tIns="0" rIns="0" bIns="0"/>
          <a:lstStyle/>
          <a:p>
            <a:pPr algn="l">
              <a:lnSpc>
                <a:spcPct val="92000"/>
              </a:lnSpc>
              <a:spcBef>
                <a:spcPts val="0"/>
              </a:spcBef>
              <a:spcAft>
                <a:spcPts val="0"/>
              </a:spcAft>
            </a:pPr>
            <a:r>
              <a:rPr sz="3000" b="1" i="0">
                <a:solidFill>
                  <a:srgbClr val="0F1B33"/>
                </a:solidFill>
                <a:latin typeface="Trebuchet MS"/>
              </a:rPr>
              <a:t>What do you think they are talking about ?</a:t>
            </a:r>
          </a:p>
        </p:txBody>
      </p:sp>
      <p:sp>
        <p:nvSpPr>
          <p:cNvPr id="14" name="TextBox 13"/>
          <p:cNvSpPr txBox="1"/>
          <p:nvPr/>
        </p:nvSpPr>
        <p:spPr>
          <a:xfrm>
            <a:off x="1444752" y="1993392"/>
            <a:ext cx="4023360" cy="457200"/>
          </a:xfrm>
          <a:prstGeom prst="rect">
            <a:avLst/>
          </a:prstGeom>
          <a:noFill/>
        </p:spPr>
        <p:txBody>
          <a:bodyPr wrap="square" anchor="t" lIns="0" tIns="0" rIns="0" bIns="0"/>
          <a:lstStyle/>
          <a:p>
            <a:pPr algn="l">
              <a:lnSpc>
                <a:spcPct val="95000"/>
              </a:lnSpc>
              <a:spcBef>
                <a:spcPts val="0"/>
              </a:spcBef>
              <a:spcAft>
                <a:spcPts val="0"/>
              </a:spcAft>
            </a:pPr>
            <a:r>
              <a:rPr sz="1500" b="1" i="0">
                <a:solidFill>
                  <a:srgbClr val="0F1B33"/>
                </a:solidFill>
                <a:latin typeface="Trebuchet MS"/>
              </a:rPr>
              <a:t>Listen to the audio</a:t>
            </a:r>
          </a:p>
        </p:txBody>
      </p:sp>
      <p:sp>
        <p:nvSpPr>
          <p:cNvPr id="15" name="Rounded Rectangular Callout 14"/>
          <p:cNvSpPr/>
          <p:nvPr/>
        </p:nvSpPr>
        <p:spPr>
          <a:xfrm>
            <a:off x="566928" y="2706624"/>
            <a:ext cx="2651760" cy="960120"/>
          </a:xfrm>
          <a:prstGeom prst="wedgeRoundRectCallout">
            <a:avLst>
              <a:gd name="adj1" fmla="val 22000"/>
              <a:gd name="adj2" fmla="val 30000"/>
              <a:gd name="adj3" fmla="val -42000"/>
            </a:avLst>
          </a:prstGeom>
          <a:solidFill>
            <a:srgbClr val="FFFFFF"/>
          </a:solidFill>
          <a:ln w="13970">
            <a:solidFill>
              <a:srgbClr val="C3D4FF"/>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685800" bIns="146304"/>
          <a:lstStyle/>
          <a:p>
            <a:pPr algn="ctr">
              <a:lnSpc>
                <a:spcPct val="95000"/>
              </a:lnSpc>
              <a:spcBef>
                <a:spcPts val="0"/>
              </a:spcBef>
              <a:spcAft>
                <a:spcPts val="0"/>
              </a:spcAft>
            </a:pPr>
            <a:r>
              <a:rPr sz="2400" b="0" i="0">
                <a:solidFill>
                  <a:srgbClr val="0F1B33"/>
                </a:solidFill>
                <a:latin typeface="Calibri"/>
              </a:rPr>
              <a:t>football?</a:t>
            </a:r>
          </a:p>
        </p:txBody>
      </p:sp>
      <p:sp>
        <p:nvSpPr>
          <p:cNvPr id="16" name="Rounded Rectangular Callout 15"/>
          <p:cNvSpPr/>
          <p:nvPr/>
        </p:nvSpPr>
        <p:spPr>
          <a:xfrm>
            <a:off x="3474720" y="2706624"/>
            <a:ext cx="2286000" cy="960120"/>
          </a:xfrm>
          <a:prstGeom prst="wedgeRoundRectCallout">
            <a:avLst>
              <a:gd name="adj1" fmla="val 22000"/>
              <a:gd name="adj2" fmla="val 30000"/>
              <a:gd name="adj3" fmla="val -42000"/>
            </a:avLst>
          </a:prstGeom>
          <a:solidFill>
            <a:srgbClr val="FFFFFF"/>
          </a:solidFill>
          <a:ln w="13970">
            <a:solidFill>
              <a:srgbClr val="DCE5F2"/>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685800" bIns="146304"/>
          <a:lstStyle/>
          <a:p>
            <a:pPr algn="ctr">
              <a:lnSpc>
                <a:spcPct val="95000"/>
              </a:lnSpc>
              <a:spcBef>
                <a:spcPts val="0"/>
              </a:spcBef>
              <a:spcAft>
                <a:spcPts val="0"/>
              </a:spcAft>
            </a:pPr>
            <a:r>
              <a:rPr sz="2400" b="0" i="0">
                <a:solidFill>
                  <a:srgbClr val="0F1B33"/>
                </a:solidFill>
                <a:latin typeface="Calibri"/>
              </a:rPr>
              <a:t>….?</a:t>
            </a:r>
          </a:p>
        </p:txBody>
      </p:sp>
      <p:sp>
        <p:nvSpPr>
          <p:cNvPr id="17" name="Oval 16"/>
          <p:cNvSpPr/>
          <p:nvPr/>
        </p:nvSpPr>
        <p:spPr>
          <a:xfrm>
            <a:off x="2715768" y="3035808"/>
            <a:ext cx="310896" cy="310896"/>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Connector 17"/>
          <p:cNvCxnSpPr/>
          <p:nvPr/>
        </p:nvCxnSpPr>
        <p:spPr>
          <a:xfrm>
            <a:off x="2802819" y="3194365"/>
            <a:ext cx="52852" cy="55961"/>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855671" y="3129077"/>
            <a:ext cx="90160" cy="121249"/>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276088" y="3035808"/>
            <a:ext cx="310896" cy="310896"/>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Connector 20"/>
          <p:cNvCxnSpPr/>
          <p:nvPr/>
        </p:nvCxnSpPr>
        <p:spPr>
          <a:xfrm>
            <a:off x="5363139" y="3194365"/>
            <a:ext cx="52852" cy="55961"/>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415991" y="3129077"/>
            <a:ext cx="90160" cy="121249"/>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66928" y="4023360"/>
            <a:ext cx="2103120" cy="512064"/>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300" b="1" i="0">
                <a:solidFill>
                  <a:srgbClr val="1B3FA8"/>
                </a:solidFill>
                <a:latin typeface="Calibri"/>
              </a:rPr>
              <a:t>Check</a:t>
            </a:r>
          </a:p>
        </p:txBody>
      </p:sp>
      <p:sp>
        <p:nvSpPr>
          <p:cNvPr id="34" name="Rounded Rectangle 33"/>
          <p:cNvSpPr/>
          <p:nvPr/>
        </p:nvSpPr>
        <p:spPr>
          <a:xfrm>
            <a:off x="566928" y="4718304"/>
            <a:ext cx="5943600" cy="731520"/>
          </a:xfrm>
          <a:prstGeom prst="roundRect">
            <a:avLst>
              <a:gd name="adj" fmla="val 22499"/>
            </a:avLst>
          </a:prstGeom>
          <a:solidFill>
            <a:srgbClr val="E7F6EC"/>
          </a:solidFill>
          <a:ln w="12700">
            <a:solidFill>
              <a:srgbClr val="BFE3CB"/>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TextBox 34"/>
          <p:cNvSpPr txBox="1"/>
          <p:nvPr/>
        </p:nvSpPr>
        <p:spPr>
          <a:xfrm>
            <a:off x="804672" y="4882896"/>
            <a:ext cx="5394960" cy="411480"/>
          </a:xfrm>
          <a:prstGeom prst="rect">
            <a:avLst/>
          </a:prstGeom>
          <a:noFill/>
        </p:spPr>
        <p:txBody>
          <a:bodyPr wrap="square" anchor="t" lIns="0" tIns="0" rIns="0" bIns="0"/>
          <a:lstStyle/>
          <a:p>
            <a:pPr algn="l">
              <a:lnSpc>
                <a:spcPct val="95000"/>
              </a:lnSpc>
              <a:spcBef>
                <a:spcPts val="0"/>
              </a:spcBef>
              <a:spcAft>
                <a:spcPts val="0"/>
              </a:spcAft>
            </a:pPr>
            <a:r>
              <a:rPr sz="1800" b="1" i="0">
                <a:solidFill>
                  <a:srgbClr val="0F6B33"/>
                </a:solidFill>
                <a:latin typeface="Calibri"/>
              </a:rPr>
              <a:t>Cara is texting Maria.</a:t>
            </a:r>
          </a:p>
        </p:txBody>
      </p:sp>
      <p:sp>
        <p:nvSpPr>
          <p:cNvPr id="38" name="TextBox 37"/>
          <p:cNvSpPr txBox="1"/>
          <p:nvPr/>
        </p:nvSpPr>
        <p:spPr>
          <a:xfrm>
            <a:off x="566928" y="5650992"/>
            <a:ext cx="6035040" cy="457200"/>
          </a:xfrm>
          <a:prstGeom prst="rect">
            <a:avLst/>
          </a:prstGeom>
          <a:noFill/>
        </p:spPr>
        <p:txBody>
          <a:bodyPr wrap="square" anchor="t" lIns="0" tIns="0" rIns="0" bIns="0"/>
          <a:lstStyle/>
          <a:p>
            <a:pPr algn="l">
              <a:lnSpc>
                <a:spcPct val="95000"/>
              </a:lnSpc>
              <a:spcBef>
                <a:spcPts val="0"/>
              </a:spcBef>
              <a:spcAft>
                <a:spcPts val="0"/>
              </a:spcAft>
            </a:pPr>
            <a:r>
              <a:rPr sz="1250" b="0" i="1">
                <a:solidFill>
                  <a:srgbClr val="5C6C86"/>
                </a:solidFill>
                <a:latin typeface="Calibri"/>
              </a:rPr>
              <a:t>Guess first, then tap Check.</a:t>
            </a:r>
          </a:p>
        </p:txBody>
      </p:sp>
      <p:sp>
        <p:nvSpPr>
          <p:cNvPr id="39" name="Rounded Rectangle 38"/>
          <p:cNvSpPr/>
          <p:nvPr/>
        </p:nvSpPr>
        <p:spPr>
          <a:xfrm>
            <a:off x="7589520" y="1170432"/>
            <a:ext cx="4041648" cy="4572000"/>
          </a:xfrm>
          <a:prstGeom prst="roundRect">
            <a:avLst>
              <a:gd name="adj" fmla="val 6334"/>
            </a:avLst>
          </a:prstGeom>
          <a:solidFill>
            <a:srgbClr val="F4F8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40" name="Picture 39" descr="image8.png"/>
          <p:cNvPicPr>
            <a:picLocks noChangeAspect="1"/>
          </p:cNvPicPr>
          <p:nvPr/>
        </p:nvPicPr>
        <p:blipFill>
          <a:blip r:embed="rId6"/>
          <a:stretch>
            <a:fillRect/>
          </a:stretch>
        </p:blipFill>
        <p:spPr>
          <a:xfrm>
            <a:off x="8205980" y="1298448"/>
            <a:ext cx="2808727" cy="3913632"/>
          </a:xfrm>
          <a:prstGeom prst="rect">
            <a:avLst/>
          </a:prstGeom>
        </p:spPr>
      </p:pic>
      <p:sp>
        <p:nvSpPr>
          <p:cNvPr id="41" name="TextBox 40"/>
          <p:cNvSpPr txBox="1"/>
          <p:nvPr/>
        </p:nvSpPr>
        <p:spPr>
          <a:xfrm>
            <a:off x="7589520" y="5285232"/>
            <a:ext cx="4041648" cy="310896"/>
          </a:xfrm>
          <a:prstGeom prst="rect">
            <a:avLst/>
          </a:prstGeom>
          <a:noFill/>
        </p:spPr>
        <p:txBody>
          <a:bodyPr wrap="square" anchor="t" lIns="0" tIns="0" rIns="0" bIns="0"/>
          <a:lstStyle/>
          <a:p>
            <a:pPr algn="ctr">
              <a:lnSpc>
                <a:spcPct val="95000"/>
              </a:lnSpc>
              <a:spcBef>
                <a:spcPts val="0"/>
              </a:spcBef>
              <a:spcAft>
                <a:spcPts val="0"/>
              </a:spcAft>
            </a:pPr>
            <a:r>
              <a:rPr sz="1200" b="0" i="0">
                <a:solidFill>
                  <a:srgbClr val="5C6C86"/>
                </a:solidFill>
                <a:latin typeface="Calibri"/>
              </a:rPr>
              <a:t>Grandma  ·  Cara</a:t>
            </a:r>
          </a:p>
        </p:txBody>
      </p:sp>
      <p:pic>
        <p:nvPicPr>
          <p:cNvPr id="13" name="!!audio">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566928" y="1828800"/>
            <a:ext cx="731520" cy="731520"/>
          </a:xfrm>
          <a:prstGeom prst="rect">
            <a:avLst/>
          </a:prstGeom>
        </p:spPr>
      </p:pic>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11" restart="whenNotActive" fill="hold" evtFilter="cancelBubble" nodeType="interactiveSeq">
                <p:stCondLst>
                  <p:cond evt="onClick" delay="0">
                    <p:tgtEl>
                      <p:spTgt spid="15"/>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350"/>
                                  <p:tgtEl>
                                    <p:spTgt spid="17"/>
                                  </p:tgtEl>
                                </p:cBhvr>
                              </p:animEffect>
                            </p:childTnLst>
                          </p:cTn>
                        </p:par>
                        <p:par>
                          <p:cTn id="16" presetID="10" presetClass="entr"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50"/>
                                  <p:tgtEl>
                                    <p:spTgt spid="18"/>
                                  </p:tgtEl>
                                </p:cBhvr>
                              </p:animEffect>
                            </p:childTnLst>
                          </p:cTn>
                        </p:par>
                        <p:par>
                          <p:cTn id="19" presetID="10" presetClass="entr"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350"/>
                                  <p:tgtEl>
                                    <p:spTgt spid="19"/>
                                  </p:tgtEl>
                                </p:cBhvr>
                              </p:animEffect>
                            </p:childTnLst>
                          </p:cTn>
                        </p:par>
                      </p:childTnLst>
                    </p:cTn>
                  </p:par>
                </p:childTnLst>
              </p:cTn>
            </p:seq>
            <p:seq concurrent="1" nextAc="seek">
              <p:cTn id="22" restart="whenNotActive" fill="hold" evtFilter="cancelBubble" nodeType="interactiveSeq">
                <p:stCondLst>
                  <p:cond evt="onClick" delay="0">
                    <p:tgtEl>
                      <p:spTgt spid="16"/>
                    </p:tgtEl>
                  </p:cond>
                </p:stCondLst>
                <p:endSync evt="end" delay="0">
                  <p:rtn val="all"/>
                </p:endSync>
                <p:childTnLst>
                  <p:par>
                    <p:cTn id="23" fill="hold">
                      <p:stCondLst>
                        <p:cond delay="0"/>
                      </p:stCondLst>
                      <p:childTnLst>
                        <p:par>
                          <p:cTn id="24" presetID="10" presetClass="entr"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50"/>
                                  <p:tgtEl>
                                    <p:spTgt spid="20"/>
                                  </p:tgtEl>
                                </p:cBhvr>
                              </p:animEffect>
                            </p:childTnLst>
                          </p:cTn>
                        </p:par>
                        <p:par>
                          <p:cTn id="27" presetID="10" presetClass="entr"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350"/>
                                  <p:tgtEl>
                                    <p:spTgt spid="21"/>
                                  </p:tgtEl>
                                </p:cBhvr>
                              </p:animEffect>
                            </p:childTnLst>
                          </p:cTn>
                        </p:par>
                        <p:par>
                          <p:cTn id="30" presetID="10" presetClass="entr"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350"/>
                                  <p:tgtEl>
                                    <p:spTgt spid="22"/>
                                  </p:tgtEl>
                                </p:cBhvr>
                              </p:animEffect>
                            </p:childTnLst>
                          </p:cTn>
                        </p:par>
                      </p:childTnLst>
                    </p:cTn>
                  </p:par>
                </p:childTnLst>
              </p:cTn>
            </p:seq>
            <p:seq concurrent="1" nextAc="seek">
              <p:cTn id="33" restart="whenNotActive" fill="hold" evtFilter="cancelBubble" nodeType="interactiveSeq">
                <p:stCondLst>
                  <p:cond evt="onClick" delay="0">
                    <p:tgtEl>
                      <p:spTgt spid="33"/>
                    </p:tgtEl>
                  </p:cond>
                </p:stCondLst>
                <p:endSync evt="end" delay="0">
                  <p:rtn val="all"/>
                </p:endSync>
                <p:childTnLst>
                  <p:par>
                    <p:cTn id="34" fill="hold">
                      <p:stCondLst>
                        <p:cond delay="0"/>
                      </p:stCondLst>
                      <p:childTnLst>
                        <p:par>
                          <p:cTn id="35" presetID="10" presetClass="entr"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350"/>
                                  <p:tgtEl>
                                    <p:spTgt spid="34"/>
                                  </p:tgtEl>
                                </p:cBhvr>
                              </p:animEffect>
                            </p:childTnLst>
                          </p:cTn>
                        </p:par>
                      </p:childTnLst>
                    </p:cTn>
                  </p:par>
                </p:childTnLst>
              </p:cTn>
            </p:seq>
            <p:audio>
              <p:cMediaNode vol="80000">
                <p:cTn id="38" fill="hold" display="0">
                  <p:stCondLst>
                    <p:cond delay="indefinite"/>
                  </p:stCondLst>
                  <p:endCondLst>
                    <p:cond evt="onStopAudio" delay="0">
                      <p:tgtEl>
                        <p:sldTgt/>
                      </p:tgtEl>
                    </p:cond>
                  </p:endCondLst>
                </p:cTn>
                <p:tgtEl>
                  <p:spTgt spid="13"/>
                </p:tgtEl>
              </p:cMediaNode>
            </p:audi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3555911"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07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LISTENING</a:t>
            </a:r>
          </a:p>
        </p:txBody>
      </p:sp>
      <p:sp>
        <p:nvSpPr>
          <p:cNvPr id="12" name="TextBox 11"/>
          <p:cNvSpPr txBox="1"/>
          <p:nvPr/>
        </p:nvSpPr>
        <p:spPr>
          <a:xfrm>
            <a:off x="566928" y="841248"/>
            <a:ext cx="6949440" cy="1371600"/>
          </a:xfrm>
          <a:prstGeom prst="rect">
            <a:avLst/>
          </a:prstGeom>
          <a:noFill/>
        </p:spPr>
        <p:txBody>
          <a:bodyPr wrap="square" anchor="t" lIns="0" tIns="0" rIns="0" bIns="0"/>
          <a:lstStyle/>
          <a:p>
            <a:pPr algn="l">
              <a:lnSpc>
                <a:spcPct val="92000"/>
              </a:lnSpc>
              <a:spcBef>
                <a:spcPts val="0"/>
              </a:spcBef>
              <a:spcAft>
                <a:spcPts val="0"/>
              </a:spcAft>
            </a:pPr>
            <a:r>
              <a:rPr sz="2600" b="1" i="0">
                <a:solidFill>
                  <a:srgbClr val="0F1B33"/>
                </a:solidFill>
                <a:latin typeface="Trebuchet MS"/>
              </a:rPr>
              <a:t>Listen to the audio</a:t>
            </a:r>
          </a:p>
        </p:txBody>
      </p:sp>
      <p:sp>
        <p:nvSpPr>
          <p:cNvPr id="14" name="Rounded Rectangle 13"/>
          <p:cNvSpPr/>
          <p:nvPr/>
        </p:nvSpPr>
        <p:spPr>
          <a:xfrm>
            <a:off x="566928" y="1481328"/>
            <a:ext cx="5449824" cy="1170432"/>
          </a:xfrm>
          <a:prstGeom prst="roundRect">
            <a:avLst>
              <a:gd name="adj" fmla="val 1406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19456" tIns="91440" rIns="420624" bIns="91440"/>
          <a:lstStyle/>
          <a:p>
            <a:pPr algn="l">
              <a:lnSpc>
                <a:spcPct val="95000"/>
              </a:lnSpc>
              <a:spcBef>
                <a:spcPts val="0"/>
              </a:spcBef>
              <a:spcAft>
                <a:spcPts val="0"/>
              </a:spcAft>
            </a:pPr>
            <a:r>
              <a:rPr sz="1650" b="0" i="0">
                <a:solidFill>
                  <a:srgbClr val="0F1B33"/>
                </a:solidFill>
                <a:latin typeface="Calibri"/>
              </a:rPr>
              <a:t>What are they talking about ?</a:t>
            </a:r>
          </a:p>
        </p:txBody>
      </p:sp>
      <p:sp>
        <p:nvSpPr>
          <p:cNvPr id="15" name="Rounded Rectangle 14"/>
          <p:cNvSpPr/>
          <p:nvPr/>
        </p:nvSpPr>
        <p:spPr>
          <a:xfrm>
            <a:off x="694944" y="2212848"/>
            <a:ext cx="5175504" cy="347472"/>
          </a:xfrm>
          <a:prstGeom prst="roundRect">
            <a:avLst>
              <a:gd name="adj" fmla="val 31578"/>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tIns="18288" rIns="128016" bIns="18288"/>
          <a:lstStyle/>
          <a:p>
            <a:pPr algn="l">
              <a:lnSpc>
                <a:spcPct val="95000"/>
              </a:lnSpc>
              <a:spcBef>
                <a:spcPts val="0"/>
              </a:spcBef>
              <a:spcAft>
                <a:spcPts val="0"/>
              </a:spcAft>
            </a:pPr>
            <a:r>
              <a:rPr sz="1250" b="1" i="0">
                <a:solidFill>
                  <a:srgbClr val="0F6B33"/>
                </a:solidFill>
                <a:latin typeface="Calibri"/>
              </a:rPr>
              <a:t>Texting — Cara is texting Maria.</a:t>
            </a:r>
          </a:p>
        </p:txBody>
      </p:sp>
      <p:sp>
        <p:nvSpPr>
          <p:cNvPr id="16" name="Oval 15"/>
          <p:cNvSpPr/>
          <p:nvPr/>
        </p:nvSpPr>
        <p:spPr>
          <a:xfrm>
            <a:off x="5564124" y="1623060"/>
            <a:ext cx="301752" cy="30175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Connector 16"/>
          <p:cNvCxnSpPr/>
          <p:nvPr/>
        </p:nvCxnSpPr>
        <p:spPr>
          <a:xfrm>
            <a:off x="5648615" y="1776954"/>
            <a:ext cx="51297" cy="54315"/>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699912" y="1713586"/>
            <a:ext cx="87508" cy="117683"/>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99632" y="1481328"/>
            <a:ext cx="5449824" cy="1170432"/>
          </a:xfrm>
          <a:prstGeom prst="roundRect">
            <a:avLst>
              <a:gd name="adj" fmla="val 1406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19456" tIns="91440" rIns="420624" bIns="91440"/>
          <a:lstStyle/>
          <a:p>
            <a:pPr algn="l">
              <a:lnSpc>
                <a:spcPct val="95000"/>
              </a:lnSpc>
              <a:spcBef>
                <a:spcPts val="0"/>
              </a:spcBef>
              <a:spcAft>
                <a:spcPts val="0"/>
              </a:spcAft>
            </a:pPr>
            <a:r>
              <a:rPr sz="1650" b="0" i="0">
                <a:solidFill>
                  <a:srgbClr val="0F1B33"/>
                </a:solidFill>
                <a:latin typeface="Calibri"/>
              </a:rPr>
              <a:t>What is the granddaughter’s name ?</a:t>
            </a:r>
          </a:p>
        </p:txBody>
      </p:sp>
      <p:sp>
        <p:nvSpPr>
          <p:cNvPr id="26" name="Rounded Rectangle 25"/>
          <p:cNvSpPr/>
          <p:nvPr/>
        </p:nvSpPr>
        <p:spPr>
          <a:xfrm>
            <a:off x="6327648" y="2212848"/>
            <a:ext cx="5175504" cy="347472"/>
          </a:xfrm>
          <a:prstGeom prst="roundRect">
            <a:avLst>
              <a:gd name="adj" fmla="val 31578"/>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tIns="18288" rIns="128016" bIns="18288"/>
          <a:lstStyle/>
          <a:p>
            <a:pPr algn="l">
              <a:lnSpc>
                <a:spcPct val="95000"/>
              </a:lnSpc>
              <a:spcBef>
                <a:spcPts val="0"/>
              </a:spcBef>
              <a:spcAft>
                <a:spcPts val="0"/>
              </a:spcAft>
            </a:pPr>
            <a:r>
              <a:rPr sz="1250" b="1" i="0">
                <a:solidFill>
                  <a:srgbClr val="0F6B33"/>
                </a:solidFill>
                <a:latin typeface="Calibri"/>
              </a:rPr>
              <a:t>Cara.</a:t>
            </a:r>
          </a:p>
        </p:txBody>
      </p:sp>
      <p:sp>
        <p:nvSpPr>
          <p:cNvPr id="27" name="Oval 26"/>
          <p:cNvSpPr/>
          <p:nvPr/>
        </p:nvSpPr>
        <p:spPr>
          <a:xfrm>
            <a:off x="11196828" y="1623060"/>
            <a:ext cx="301752" cy="30175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Connector 27"/>
          <p:cNvCxnSpPr/>
          <p:nvPr/>
        </p:nvCxnSpPr>
        <p:spPr>
          <a:xfrm>
            <a:off x="11281319" y="1776954"/>
            <a:ext cx="51297" cy="54315"/>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1332616" y="1713586"/>
            <a:ext cx="87508" cy="117683"/>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66928" y="2779776"/>
            <a:ext cx="5449824" cy="1170432"/>
          </a:xfrm>
          <a:prstGeom prst="roundRect">
            <a:avLst>
              <a:gd name="adj" fmla="val 1406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19456" tIns="91440" rIns="420624" bIns="91440"/>
          <a:lstStyle/>
          <a:p>
            <a:pPr algn="l">
              <a:lnSpc>
                <a:spcPct val="95000"/>
              </a:lnSpc>
              <a:spcBef>
                <a:spcPts val="0"/>
              </a:spcBef>
              <a:spcAft>
                <a:spcPts val="0"/>
              </a:spcAft>
            </a:pPr>
            <a:r>
              <a:rPr sz="1650" b="0" i="0">
                <a:solidFill>
                  <a:srgbClr val="0F1B33"/>
                </a:solidFill>
                <a:latin typeface="Calibri"/>
              </a:rPr>
              <a:t>What is Cara’s friend  name ?</a:t>
            </a:r>
          </a:p>
        </p:txBody>
      </p:sp>
      <p:sp>
        <p:nvSpPr>
          <p:cNvPr id="40" name="Rounded Rectangle 39"/>
          <p:cNvSpPr/>
          <p:nvPr/>
        </p:nvSpPr>
        <p:spPr>
          <a:xfrm>
            <a:off x="694944" y="3511296"/>
            <a:ext cx="5175504" cy="347472"/>
          </a:xfrm>
          <a:prstGeom prst="roundRect">
            <a:avLst>
              <a:gd name="adj" fmla="val 31578"/>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tIns="18288" rIns="128016" bIns="18288"/>
          <a:lstStyle/>
          <a:p>
            <a:pPr algn="l">
              <a:lnSpc>
                <a:spcPct val="95000"/>
              </a:lnSpc>
              <a:spcBef>
                <a:spcPts val="0"/>
              </a:spcBef>
              <a:spcAft>
                <a:spcPts val="0"/>
              </a:spcAft>
            </a:pPr>
            <a:r>
              <a:rPr sz="1250" b="1" i="0">
                <a:solidFill>
                  <a:srgbClr val="0F6B33"/>
                </a:solidFill>
                <a:latin typeface="Calibri"/>
              </a:rPr>
              <a:t>Maria.</a:t>
            </a:r>
          </a:p>
        </p:txBody>
      </p:sp>
      <p:sp>
        <p:nvSpPr>
          <p:cNvPr id="41" name="Oval 40"/>
          <p:cNvSpPr/>
          <p:nvPr/>
        </p:nvSpPr>
        <p:spPr>
          <a:xfrm>
            <a:off x="5564124" y="2921508"/>
            <a:ext cx="301752" cy="30175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Connector 41"/>
          <p:cNvCxnSpPr/>
          <p:nvPr/>
        </p:nvCxnSpPr>
        <p:spPr>
          <a:xfrm>
            <a:off x="5648615" y="3075402"/>
            <a:ext cx="51297" cy="54315"/>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699912" y="3012034"/>
            <a:ext cx="87508" cy="117683"/>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6199632" y="2779776"/>
            <a:ext cx="5449824" cy="1170432"/>
          </a:xfrm>
          <a:prstGeom prst="roundRect">
            <a:avLst>
              <a:gd name="adj" fmla="val 1406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19456" tIns="91440" rIns="420624" bIns="91440"/>
          <a:lstStyle/>
          <a:p>
            <a:pPr algn="l">
              <a:lnSpc>
                <a:spcPct val="95000"/>
              </a:lnSpc>
              <a:spcBef>
                <a:spcPts val="0"/>
              </a:spcBef>
              <a:spcAft>
                <a:spcPts val="0"/>
              </a:spcAft>
            </a:pPr>
            <a:r>
              <a:rPr sz="1650" b="0" i="0">
                <a:solidFill>
                  <a:srgbClr val="0F1B33"/>
                </a:solidFill>
                <a:latin typeface="Calibri"/>
              </a:rPr>
              <a:t>What is Cara doing ?</a:t>
            </a:r>
          </a:p>
        </p:txBody>
      </p:sp>
      <p:sp>
        <p:nvSpPr>
          <p:cNvPr id="54" name="Rounded Rectangle 53"/>
          <p:cNvSpPr/>
          <p:nvPr/>
        </p:nvSpPr>
        <p:spPr>
          <a:xfrm>
            <a:off x="6327648" y="3511296"/>
            <a:ext cx="5175504" cy="347472"/>
          </a:xfrm>
          <a:prstGeom prst="roundRect">
            <a:avLst>
              <a:gd name="adj" fmla="val 31578"/>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tIns="18288" rIns="128016" bIns="18288"/>
          <a:lstStyle/>
          <a:p>
            <a:pPr algn="l">
              <a:lnSpc>
                <a:spcPct val="95000"/>
              </a:lnSpc>
              <a:spcBef>
                <a:spcPts val="0"/>
              </a:spcBef>
              <a:spcAft>
                <a:spcPts val="0"/>
              </a:spcAft>
            </a:pPr>
            <a:r>
              <a:rPr sz="1250" b="1" i="0">
                <a:solidFill>
                  <a:srgbClr val="0F6B33"/>
                </a:solidFill>
                <a:latin typeface="Calibri"/>
              </a:rPr>
              <a:t>She is texting Maria.</a:t>
            </a:r>
          </a:p>
        </p:txBody>
      </p:sp>
      <p:sp>
        <p:nvSpPr>
          <p:cNvPr id="55" name="Oval 54"/>
          <p:cNvSpPr/>
          <p:nvPr/>
        </p:nvSpPr>
        <p:spPr>
          <a:xfrm>
            <a:off x="11196828" y="2921508"/>
            <a:ext cx="301752" cy="30175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6" name="Connector 55"/>
          <p:cNvCxnSpPr/>
          <p:nvPr/>
        </p:nvCxnSpPr>
        <p:spPr>
          <a:xfrm>
            <a:off x="11281319" y="3075402"/>
            <a:ext cx="51297" cy="54315"/>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1332616" y="3012034"/>
            <a:ext cx="87508" cy="117683"/>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566928" y="4078224"/>
            <a:ext cx="5449824" cy="1170432"/>
          </a:xfrm>
          <a:prstGeom prst="roundRect">
            <a:avLst>
              <a:gd name="adj" fmla="val 1406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19456" tIns="91440" rIns="420624" bIns="91440"/>
          <a:lstStyle/>
          <a:p>
            <a:pPr algn="l">
              <a:lnSpc>
                <a:spcPct val="95000"/>
              </a:lnSpc>
              <a:spcBef>
                <a:spcPts val="0"/>
              </a:spcBef>
              <a:spcAft>
                <a:spcPts val="0"/>
              </a:spcAft>
            </a:pPr>
            <a:r>
              <a:rPr sz="1650" b="0" i="0">
                <a:solidFill>
                  <a:srgbClr val="0F1B33"/>
                </a:solidFill>
                <a:latin typeface="Calibri"/>
              </a:rPr>
              <a:t>What is the sound grandma heard first ?</a:t>
            </a:r>
          </a:p>
        </p:txBody>
      </p:sp>
      <p:sp>
        <p:nvSpPr>
          <p:cNvPr id="68" name="Rounded Rectangle 67"/>
          <p:cNvSpPr/>
          <p:nvPr/>
        </p:nvSpPr>
        <p:spPr>
          <a:xfrm>
            <a:off x="694944" y="4809744"/>
            <a:ext cx="5175504" cy="347472"/>
          </a:xfrm>
          <a:prstGeom prst="roundRect">
            <a:avLst>
              <a:gd name="adj" fmla="val 31578"/>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tIns="18288" rIns="128016" bIns="18288"/>
          <a:lstStyle/>
          <a:p>
            <a:pPr algn="l">
              <a:lnSpc>
                <a:spcPct val="95000"/>
              </a:lnSpc>
              <a:spcBef>
                <a:spcPts val="0"/>
              </a:spcBef>
              <a:spcAft>
                <a:spcPts val="0"/>
              </a:spcAft>
            </a:pPr>
            <a:r>
              <a:rPr sz="1250" b="1" i="0">
                <a:solidFill>
                  <a:srgbClr val="0F6B33"/>
                </a:solidFill>
                <a:latin typeface="Calibri"/>
              </a:rPr>
              <a:t>A beep.</a:t>
            </a:r>
          </a:p>
        </p:txBody>
      </p:sp>
      <p:sp>
        <p:nvSpPr>
          <p:cNvPr id="69" name="Oval 68"/>
          <p:cNvSpPr/>
          <p:nvPr/>
        </p:nvSpPr>
        <p:spPr>
          <a:xfrm>
            <a:off x="5564124" y="4219956"/>
            <a:ext cx="301752" cy="30175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70" name="Connector 69"/>
          <p:cNvCxnSpPr/>
          <p:nvPr/>
        </p:nvCxnSpPr>
        <p:spPr>
          <a:xfrm>
            <a:off x="5648615" y="4373850"/>
            <a:ext cx="51297" cy="54315"/>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5699912" y="4310482"/>
            <a:ext cx="87508" cy="117683"/>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sp>
        <p:nvSpPr>
          <p:cNvPr id="81" name="Rounded Rectangle 80"/>
          <p:cNvSpPr/>
          <p:nvPr/>
        </p:nvSpPr>
        <p:spPr>
          <a:xfrm>
            <a:off x="6199632" y="4078224"/>
            <a:ext cx="5449824" cy="1170432"/>
          </a:xfrm>
          <a:prstGeom prst="roundRect">
            <a:avLst>
              <a:gd name="adj" fmla="val 14062"/>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19456" tIns="91440" rIns="420624" bIns="91440"/>
          <a:lstStyle/>
          <a:p>
            <a:pPr algn="l">
              <a:lnSpc>
                <a:spcPct val="95000"/>
              </a:lnSpc>
              <a:spcBef>
                <a:spcPts val="0"/>
              </a:spcBef>
              <a:spcAft>
                <a:spcPts val="0"/>
              </a:spcAft>
            </a:pPr>
            <a:r>
              <a:rPr sz="1650" b="0" i="0">
                <a:solidFill>
                  <a:srgbClr val="0F1B33"/>
                </a:solidFill>
                <a:latin typeface="Calibri"/>
              </a:rPr>
              <a:t>Does grandma know how to text ?</a:t>
            </a:r>
          </a:p>
        </p:txBody>
      </p:sp>
      <p:sp>
        <p:nvSpPr>
          <p:cNvPr id="82" name="Rounded Rectangle 81"/>
          <p:cNvSpPr/>
          <p:nvPr/>
        </p:nvSpPr>
        <p:spPr>
          <a:xfrm>
            <a:off x="6327648" y="4809744"/>
            <a:ext cx="5175504" cy="347472"/>
          </a:xfrm>
          <a:prstGeom prst="roundRect">
            <a:avLst>
              <a:gd name="adj" fmla="val 31578"/>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tIns="18288" rIns="128016" bIns="18288"/>
          <a:lstStyle/>
          <a:p>
            <a:pPr algn="l">
              <a:lnSpc>
                <a:spcPct val="95000"/>
              </a:lnSpc>
              <a:spcBef>
                <a:spcPts val="0"/>
              </a:spcBef>
              <a:spcAft>
                <a:spcPts val="0"/>
              </a:spcAft>
            </a:pPr>
            <a:r>
              <a:rPr sz="1250" b="1" i="0">
                <a:solidFill>
                  <a:srgbClr val="0F6B33"/>
                </a:solidFill>
                <a:latin typeface="Calibri"/>
              </a:rPr>
              <a:t>No — Cara shows her how.</a:t>
            </a:r>
          </a:p>
        </p:txBody>
      </p:sp>
      <p:sp>
        <p:nvSpPr>
          <p:cNvPr id="83" name="Oval 82"/>
          <p:cNvSpPr/>
          <p:nvPr/>
        </p:nvSpPr>
        <p:spPr>
          <a:xfrm>
            <a:off x="11196828" y="4219956"/>
            <a:ext cx="301752" cy="30175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84" name="Connector 83"/>
          <p:cNvCxnSpPr/>
          <p:nvPr/>
        </p:nvCxnSpPr>
        <p:spPr>
          <a:xfrm>
            <a:off x="11281319" y="4373850"/>
            <a:ext cx="51297" cy="54315"/>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1332616" y="4310482"/>
            <a:ext cx="87508" cy="117683"/>
          </a:xfrm>
          <a:prstGeom prst="line">
            <a:avLst/>
          </a:prstGeom>
          <a:ln w="20955">
            <a:solidFill>
              <a:srgbClr val="FFFFFF"/>
            </a:solidFill>
          </a:ln>
        </p:spPr>
        <p:style>
          <a:lnRef idx="2">
            <a:schemeClr val="accent1"/>
          </a:lnRef>
          <a:fillRef idx="0">
            <a:schemeClr val="accent1"/>
          </a:fillRef>
          <a:effectRef idx="1">
            <a:schemeClr val="accent1"/>
          </a:effectRef>
          <a:fontRef idx="minor">
            <a:schemeClr val="tx1"/>
          </a:fontRef>
        </p:style>
      </p:cxnSp>
      <p:sp>
        <p:nvSpPr>
          <p:cNvPr id="95" name="Rounded Rectangle 94"/>
          <p:cNvSpPr/>
          <p:nvPr/>
        </p:nvSpPr>
        <p:spPr>
          <a:xfrm>
            <a:off x="8915400" y="5687568"/>
            <a:ext cx="2377440" cy="457200"/>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200" b="1" i="0">
                <a:solidFill>
                  <a:srgbClr val="1B3FA8"/>
                </a:solidFill>
                <a:latin typeface="Calibri"/>
              </a:rPr>
              <a:t>Show all answers</a:t>
            </a:r>
          </a:p>
        </p:txBody>
      </p:sp>
      <p:sp>
        <p:nvSpPr>
          <p:cNvPr id="169" name="TextBox 168"/>
          <p:cNvSpPr txBox="1"/>
          <p:nvPr/>
        </p:nvSpPr>
        <p:spPr>
          <a:xfrm>
            <a:off x="566928" y="5788152"/>
            <a:ext cx="786384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a question to check the answer.</a:t>
            </a:r>
          </a:p>
        </p:txBody>
      </p:sp>
      <p:pic>
        <p:nvPicPr>
          <p:cNvPr id="13" name="!!audio">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10927080" y="530352"/>
            <a:ext cx="530352" cy="530352"/>
          </a:xfrm>
          <a:prstGeom prst="rect">
            <a:avLst/>
          </a:prstGeom>
        </p:spPr>
      </p:pic>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11" restart="whenNotActive" fill="hold" evtFilter="cancelBubble" nodeType="interactiveSeq">
                <p:stCondLst>
                  <p:cond evt="onClick" delay="0">
                    <p:tgtEl>
                      <p:spTgt spid="14"/>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par>
                          <p:cTn id="16" presetID="10" presetClass="entr"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350"/>
                                  <p:tgtEl>
                                    <p:spTgt spid="16"/>
                                  </p:tgtEl>
                                </p:cBhvr>
                              </p:animEffect>
                            </p:childTnLst>
                          </p:cTn>
                        </p:par>
                        <p:par>
                          <p:cTn id="19" presetID="10" presetClass="entr"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350"/>
                                  <p:tgtEl>
                                    <p:spTgt spid="17"/>
                                  </p:tgtEl>
                                </p:cBhvr>
                              </p:animEffect>
                            </p:childTnLst>
                          </p:cTn>
                        </p:par>
                        <p:par>
                          <p:cTn id="22" presetID="10" presetClass="entr"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50"/>
                                  <p:tgtEl>
                                    <p:spTgt spid="18"/>
                                  </p:tgtEl>
                                </p:cBhvr>
                              </p:animEffect>
                            </p:childTnLst>
                          </p:cTn>
                        </p:par>
                      </p:childTnLst>
                    </p:cTn>
                  </p:par>
                </p:childTnLst>
              </p:cTn>
            </p:seq>
            <p:seq concurrent="1" nextAc="seek">
              <p:cTn id="25" restart="whenNotActive" fill="hold" evtFilter="cancelBubble" nodeType="interactiveSeq">
                <p:stCondLst>
                  <p:cond evt="onClick" delay="0">
                    <p:tgtEl>
                      <p:spTgt spid="25"/>
                    </p:tgtEl>
                  </p:cond>
                </p:stCondLst>
                <p:endSync evt="end" delay="0">
                  <p:rtn val="all"/>
                </p:endSync>
                <p:childTnLst>
                  <p:par>
                    <p:cTn id="26" fill="hold">
                      <p:stCondLst>
                        <p:cond delay="0"/>
                      </p:stCondLst>
                      <p:childTnLst>
                        <p:par>
                          <p:cTn id="27" presetID="10" presetClass="entr"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350"/>
                                  <p:tgtEl>
                                    <p:spTgt spid="26"/>
                                  </p:tgtEl>
                                </p:cBhvr>
                              </p:animEffect>
                            </p:childTnLst>
                          </p:cTn>
                        </p:par>
                        <p:par>
                          <p:cTn id="30" presetID="10" presetClass="entr"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10" presetClass="entr"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350"/>
                                  <p:tgtEl>
                                    <p:spTgt spid="28"/>
                                  </p:tgtEl>
                                </p:cBhvr>
                              </p:animEffect>
                            </p:childTnLst>
                          </p:cTn>
                        </p:par>
                        <p:par>
                          <p:cTn id="36" presetID="10" presetClass="entr"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350"/>
                                  <p:tgtEl>
                                    <p:spTgt spid="29"/>
                                  </p:tgtEl>
                                </p:cBhvr>
                              </p:animEffect>
                            </p:childTnLst>
                          </p:cTn>
                        </p:par>
                      </p:childTnLst>
                    </p:cTn>
                  </p:par>
                </p:childTnLst>
              </p:cTn>
            </p:seq>
            <p:seq concurrent="1" nextAc="seek">
              <p:cTn id="39" restart="whenNotActive" fill="hold" evtFilter="cancelBubble" nodeType="interactiveSeq">
                <p:stCondLst>
                  <p:cond evt="onClick" delay="0">
                    <p:tgtEl>
                      <p:spTgt spid="39"/>
                    </p:tgtEl>
                  </p:cond>
                </p:stCondLst>
                <p:endSync evt="end" delay="0">
                  <p:rtn val="all"/>
                </p:endSync>
                <p:childTnLst>
                  <p:par>
                    <p:cTn id="40" fill="hold">
                      <p:stCondLst>
                        <p:cond delay="0"/>
                      </p:stCondLst>
                      <p:childTnLst>
                        <p:par>
                          <p:cTn id="41" presetID="10" presetClass="entr"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350"/>
                                  <p:tgtEl>
                                    <p:spTgt spid="40"/>
                                  </p:tgtEl>
                                </p:cBhvr>
                              </p:animEffect>
                            </p:childTnLst>
                          </p:cTn>
                        </p:par>
                        <p:par>
                          <p:cTn id="44" presetID="10" presetClass="entr"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seq>
            <p:seq concurrent="1" nextAc="seek">
              <p:cTn id="53" restart="whenNotActive" fill="hold" evtFilter="cancelBubble" nodeType="interactiveSeq">
                <p:stCondLst>
                  <p:cond evt="onClick" delay="0">
                    <p:tgtEl>
                      <p:spTgt spid="53"/>
                    </p:tgtEl>
                  </p:cond>
                </p:stCondLst>
                <p:endSync evt="end" delay="0">
                  <p:rtn val="all"/>
                </p:endSync>
                <p:childTnLst>
                  <p:par>
                    <p:cTn id="54" fill="hold">
                      <p:stCondLst>
                        <p:cond delay="0"/>
                      </p:stCondLst>
                      <p:childTnLst>
                        <p:par>
                          <p:cTn id="55" presetID="10" presetClass="entr" fill="hold" grpId="0"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fade">
                                <p:cBhvr>
                                  <p:cTn id="57" dur="350"/>
                                  <p:tgtEl>
                                    <p:spTgt spid="54"/>
                                  </p:tgtEl>
                                </p:cBhvr>
                              </p:animEffect>
                            </p:childTnLst>
                          </p:cTn>
                        </p:par>
                        <p:par>
                          <p:cTn id="58" presetID="10" presetClass="entr" fill="hold" grpId="0" nodeType="with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fade">
                                <p:cBhvr>
                                  <p:cTn id="60" dur="350"/>
                                  <p:tgtEl>
                                    <p:spTgt spid="55"/>
                                  </p:tgtEl>
                                </p:cBhvr>
                              </p:animEffect>
                            </p:childTnLst>
                          </p:cTn>
                        </p:par>
                        <p:par>
                          <p:cTn id="61" presetID="10" presetClass="entr"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350"/>
                                  <p:tgtEl>
                                    <p:spTgt spid="56"/>
                                  </p:tgtEl>
                                </p:cBhvr>
                              </p:animEffect>
                            </p:childTnLst>
                          </p:cTn>
                        </p:par>
                        <p:par>
                          <p:cTn id="64" presetID="10" presetClass="entr" fill="hold" grpId="0" nodeType="withEffect">
                            <p:stCondLst>
                              <p:cond delay="0"/>
                            </p:stCondLst>
                            <p:childTnLst>
                              <p:set>
                                <p:cBhvr>
                                  <p:cTn id="65" dur="1" fill="hold">
                                    <p:stCondLst>
                                      <p:cond delay="0"/>
                                    </p:stCondLst>
                                  </p:cTn>
                                  <p:tgtEl>
                                    <p:spTgt spid="57"/>
                                  </p:tgtEl>
                                  <p:attrNameLst>
                                    <p:attrName>style.visibility</p:attrName>
                                  </p:attrNameLst>
                                </p:cBhvr>
                                <p:to>
                                  <p:strVal val="visible"/>
                                </p:to>
                              </p:set>
                              <p:animEffect transition="in" filter="fade">
                                <p:cBhvr>
                                  <p:cTn id="66" dur="350"/>
                                  <p:tgtEl>
                                    <p:spTgt spid="57"/>
                                  </p:tgtEl>
                                </p:cBhvr>
                              </p:animEffect>
                            </p:childTnLst>
                          </p:cTn>
                        </p:par>
                      </p:childTnLst>
                    </p:cTn>
                  </p:par>
                </p:childTnLst>
              </p:cTn>
            </p:seq>
            <p:seq concurrent="1" nextAc="seek">
              <p:cTn id="67" restart="whenNotActive" fill="hold" evtFilter="cancelBubble" nodeType="interactiveSeq">
                <p:stCondLst>
                  <p:cond evt="onClick" delay="0">
                    <p:tgtEl>
                      <p:spTgt spid="67"/>
                    </p:tgtEl>
                  </p:cond>
                </p:stCondLst>
                <p:endSync evt="end" delay="0">
                  <p:rtn val="all"/>
                </p:endSync>
                <p:childTnLst>
                  <p:par>
                    <p:cTn id="68" fill="hold">
                      <p:stCondLst>
                        <p:cond delay="0"/>
                      </p:stCondLst>
                      <p:childTnLst>
                        <p:par>
                          <p:cTn id="69" presetID="10" presetClass="entr" fill="hold" grpId="0" nodeType="clickEffect">
                            <p:stCondLst>
                              <p:cond delay="0"/>
                            </p:stCondLst>
                            <p:childTnLst>
                              <p:set>
                                <p:cBhvr>
                                  <p:cTn id="70" dur="1" fill="hold">
                                    <p:stCondLst>
                                      <p:cond delay="0"/>
                                    </p:stCondLst>
                                  </p:cTn>
                                  <p:tgtEl>
                                    <p:spTgt spid="68"/>
                                  </p:tgtEl>
                                  <p:attrNameLst>
                                    <p:attrName>style.visibility</p:attrName>
                                  </p:attrNameLst>
                                </p:cBhvr>
                                <p:to>
                                  <p:strVal val="visible"/>
                                </p:to>
                              </p:set>
                              <p:animEffect transition="in" filter="fade">
                                <p:cBhvr>
                                  <p:cTn id="71" dur="350"/>
                                  <p:tgtEl>
                                    <p:spTgt spid="68"/>
                                  </p:tgtEl>
                                </p:cBhvr>
                              </p:animEffect>
                            </p:childTnLst>
                          </p:cTn>
                        </p:par>
                        <p:par>
                          <p:cTn id="72" presetID="10" presetClass="entr" fill="hold" grpId="0" nodeType="withEffect">
                            <p:stCondLst>
                              <p:cond delay="0"/>
                            </p:stCondLst>
                            <p:childTnLst>
                              <p:set>
                                <p:cBhvr>
                                  <p:cTn id="73" dur="1" fill="hold">
                                    <p:stCondLst>
                                      <p:cond delay="0"/>
                                    </p:stCondLst>
                                  </p:cTn>
                                  <p:tgtEl>
                                    <p:spTgt spid="69"/>
                                  </p:tgtEl>
                                  <p:attrNameLst>
                                    <p:attrName>style.visibility</p:attrName>
                                  </p:attrNameLst>
                                </p:cBhvr>
                                <p:to>
                                  <p:strVal val="visible"/>
                                </p:to>
                              </p:set>
                              <p:animEffect transition="in" filter="fade">
                                <p:cBhvr>
                                  <p:cTn id="74" dur="350"/>
                                  <p:tgtEl>
                                    <p:spTgt spid="69"/>
                                  </p:tgtEl>
                                </p:cBhvr>
                              </p:animEffect>
                            </p:childTnLst>
                          </p:cTn>
                        </p:par>
                        <p:par>
                          <p:cTn id="75" presetID="10" presetClass="entr" fill="hold" grpId="0" nodeType="withEffect">
                            <p:stCondLst>
                              <p:cond delay="0"/>
                            </p:stCondLst>
                            <p:childTnLst>
                              <p:set>
                                <p:cBhvr>
                                  <p:cTn id="76" dur="1" fill="hold">
                                    <p:stCondLst>
                                      <p:cond delay="0"/>
                                    </p:stCondLst>
                                  </p:cTn>
                                  <p:tgtEl>
                                    <p:spTgt spid="70"/>
                                  </p:tgtEl>
                                  <p:attrNameLst>
                                    <p:attrName>style.visibility</p:attrName>
                                  </p:attrNameLst>
                                </p:cBhvr>
                                <p:to>
                                  <p:strVal val="visible"/>
                                </p:to>
                              </p:set>
                              <p:animEffect transition="in" filter="fade">
                                <p:cBhvr>
                                  <p:cTn id="77" dur="350"/>
                                  <p:tgtEl>
                                    <p:spTgt spid="70"/>
                                  </p:tgtEl>
                                </p:cBhvr>
                              </p:animEffect>
                            </p:childTnLst>
                          </p:cTn>
                        </p:par>
                        <p:par>
                          <p:cTn id="78" presetID="10" presetClass="entr" fill="hold" grpId="0" nodeType="withEffect">
                            <p:stCondLst>
                              <p:cond delay="0"/>
                            </p:stCondLst>
                            <p:childTnLst>
                              <p:set>
                                <p:cBhvr>
                                  <p:cTn id="79" dur="1" fill="hold">
                                    <p:stCondLst>
                                      <p:cond delay="0"/>
                                    </p:stCondLst>
                                  </p:cTn>
                                  <p:tgtEl>
                                    <p:spTgt spid="71"/>
                                  </p:tgtEl>
                                  <p:attrNameLst>
                                    <p:attrName>style.visibility</p:attrName>
                                  </p:attrNameLst>
                                </p:cBhvr>
                                <p:to>
                                  <p:strVal val="visible"/>
                                </p:to>
                              </p:set>
                              <p:animEffect transition="in" filter="fade">
                                <p:cBhvr>
                                  <p:cTn id="80" dur="350"/>
                                  <p:tgtEl>
                                    <p:spTgt spid="71"/>
                                  </p:tgtEl>
                                </p:cBhvr>
                              </p:animEffect>
                            </p:childTnLst>
                          </p:cTn>
                        </p:par>
                      </p:childTnLst>
                    </p:cTn>
                  </p:par>
                </p:childTnLst>
              </p:cTn>
            </p:seq>
            <p:seq concurrent="1" nextAc="seek">
              <p:cTn id="81" restart="whenNotActive" fill="hold" evtFilter="cancelBubble" nodeType="interactiveSeq">
                <p:stCondLst>
                  <p:cond evt="onClick" delay="0">
                    <p:tgtEl>
                      <p:spTgt spid="81"/>
                    </p:tgtEl>
                  </p:cond>
                </p:stCondLst>
                <p:endSync evt="end" delay="0">
                  <p:rtn val="all"/>
                </p:endSync>
                <p:childTnLst>
                  <p:par>
                    <p:cTn id="82" fill="hold">
                      <p:stCondLst>
                        <p:cond delay="0"/>
                      </p:stCondLst>
                      <p:childTnLst>
                        <p:par>
                          <p:cTn id="83" presetID="10" presetClass="entr" fill="hold" grpId="0" nodeType="clickEffect">
                            <p:stCondLst>
                              <p:cond delay="0"/>
                            </p:stCondLst>
                            <p:childTnLst>
                              <p:set>
                                <p:cBhvr>
                                  <p:cTn id="84" dur="1" fill="hold">
                                    <p:stCondLst>
                                      <p:cond delay="0"/>
                                    </p:stCondLst>
                                  </p:cTn>
                                  <p:tgtEl>
                                    <p:spTgt spid="82"/>
                                  </p:tgtEl>
                                  <p:attrNameLst>
                                    <p:attrName>style.visibility</p:attrName>
                                  </p:attrNameLst>
                                </p:cBhvr>
                                <p:to>
                                  <p:strVal val="visible"/>
                                </p:to>
                              </p:set>
                              <p:animEffect transition="in" filter="fade">
                                <p:cBhvr>
                                  <p:cTn id="85" dur="350"/>
                                  <p:tgtEl>
                                    <p:spTgt spid="82"/>
                                  </p:tgtEl>
                                </p:cBhvr>
                              </p:animEffect>
                            </p:childTnLst>
                          </p:cTn>
                        </p:par>
                        <p:par>
                          <p:cTn id="86" presetID="10" presetClass="entr" fill="hold" grpId="0" nodeType="withEffect">
                            <p:stCondLst>
                              <p:cond delay="0"/>
                            </p:stCondLst>
                            <p:childTnLst>
                              <p:set>
                                <p:cBhvr>
                                  <p:cTn id="87" dur="1" fill="hold">
                                    <p:stCondLst>
                                      <p:cond delay="0"/>
                                    </p:stCondLst>
                                  </p:cTn>
                                  <p:tgtEl>
                                    <p:spTgt spid="83"/>
                                  </p:tgtEl>
                                  <p:attrNameLst>
                                    <p:attrName>style.visibility</p:attrName>
                                  </p:attrNameLst>
                                </p:cBhvr>
                                <p:to>
                                  <p:strVal val="visible"/>
                                </p:to>
                              </p:set>
                              <p:animEffect transition="in" filter="fade">
                                <p:cBhvr>
                                  <p:cTn id="88" dur="350"/>
                                  <p:tgtEl>
                                    <p:spTgt spid="83"/>
                                  </p:tgtEl>
                                </p:cBhvr>
                              </p:animEffect>
                            </p:childTnLst>
                          </p:cTn>
                        </p:par>
                        <p:par>
                          <p:cTn id="89" presetID="10" presetClass="entr" fill="hold" grpId="0" nodeType="withEffect">
                            <p:stCondLst>
                              <p:cond delay="0"/>
                            </p:stCondLst>
                            <p:childTnLst>
                              <p:set>
                                <p:cBhvr>
                                  <p:cTn id="90" dur="1" fill="hold">
                                    <p:stCondLst>
                                      <p:cond delay="0"/>
                                    </p:stCondLst>
                                  </p:cTn>
                                  <p:tgtEl>
                                    <p:spTgt spid="84"/>
                                  </p:tgtEl>
                                  <p:attrNameLst>
                                    <p:attrName>style.visibility</p:attrName>
                                  </p:attrNameLst>
                                </p:cBhvr>
                                <p:to>
                                  <p:strVal val="visible"/>
                                </p:to>
                              </p:set>
                              <p:animEffect transition="in" filter="fade">
                                <p:cBhvr>
                                  <p:cTn id="91" dur="350"/>
                                  <p:tgtEl>
                                    <p:spTgt spid="84"/>
                                  </p:tgtEl>
                                </p:cBhvr>
                              </p:animEffect>
                            </p:childTnLst>
                          </p:cTn>
                        </p:par>
                        <p:par>
                          <p:cTn id="92" presetID="10" presetClass="entr" fill="hold" grpId="0" nodeType="withEffect">
                            <p:stCondLst>
                              <p:cond delay="0"/>
                            </p:stCondLst>
                            <p:childTnLst>
                              <p:set>
                                <p:cBhvr>
                                  <p:cTn id="93" dur="1" fill="hold">
                                    <p:stCondLst>
                                      <p:cond delay="0"/>
                                    </p:stCondLst>
                                  </p:cTn>
                                  <p:tgtEl>
                                    <p:spTgt spid="85"/>
                                  </p:tgtEl>
                                  <p:attrNameLst>
                                    <p:attrName>style.visibility</p:attrName>
                                  </p:attrNameLst>
                                </p:cBhvr>
                                <p:to>
                                  <p:strVal val="visible"/>
                                </p:to>
                              </p:set>
                              <p:animEffect transition="in" filter="fade">
                                <p:cBhvr>
                                  <p:cTn id="94" dur="350"/>
                                  <p:tgtEl>
                                    <p:spTgt spid="85"/>
                                  </p:tgtEl>
                                </p:cBhvr>
                              </p:animEffect>
                            </p:childTnLst>
                          </p:cTn>
                        </p:par>
                      </p:childTnLst>
                    </p:cTn>
                  </p:par>
                </p:childTnLst>
              </p:cTn>
            </p:seq>
            <p:seq concurrent="1" nextAc="seek">
              <p:cTn id="95" restart="whenNotActive" fill="hold" evtFilter="cancelBubble" nodeType="interactiveSeq">
                <p:stCondLst>
                  <p:cond evt="onClick" delay="0">
                    <p:tgtEl>
                      <p:spTgt spid="95"/>
                    </p:tgtEl>
                  </p:cond>
                </p:stCondLst>
                <p:endSync evt="end" delay="0">
                  <p:rtn val="all"/>
                </p:endSync>
                <p:childTnLst>
                  <p:par>
                    <p:cTn id="96" fill="hold">
                      <p:stCondLst>
                        <p:cond delay="0"/>
                      </p:stCondLst>
                      <p:childTnLst>
                        <p:par>
                          <p:cTn id="97" presetID="10" presetClass="entr" fill="hold" grpId="0" nodeType="click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fade">
                                <p:cBhvr>
                                  <p:cTn id="99" dur="350"/>
                                  <p:tgtEl>
                                    <p:spTgt spid="15"/>
                                  </p:tgtEl>
                                </p:cBhvr>
                              </p:animEffect>
                            </p:childTnLst>
                          </p:cTn>
                        </p:par>
                        <p:par>
                          <p:cTn id="100" presetID="10" presetClass="entr" fill="hold" grpId="0" nodeType="withEffect">
                            <p:stCondLst>
                              <p:cond delay="0"/>
                            </p:stCondLst>
                            <p:childTnLst>
                              <p:set>
                                <p:cBhvr>
                                  <p:cTn id="101" dur="1" fill="hold">
                                    <p:stCondLst>
                                      <p:cond delay="0"/>
                                    </p:stCondLst>
                                  </p:cTn>
                                  <p:tgtEl>
                                    <p:spTgt spid="16"/>
                                  </p:tgtEl>
                                  <p:attrNameLst>
                                    <p:attrName>style.visibility</p:attrName>
                                  </p:attrNameLst>
                                </p:cBhvr>
                                <p:to>
                                  <p:strVal val="visible"/>
                                </p:to>
                              </p:set>
                              <p:animEffect transition="in" filter="fade">
                                <p:cBhvr>
                                  <p:cTn id="102" dur="350"/>
                                  <p:tgtEl>
                                    <p:spTgt spid="16"/>
                                  </p:tgtEl>
                                </p:cBhvr>
                              </p:animEffect>
                            </p:childTnLst>
                          </p:cTn>
                        </p:par>
                        <p:par>
                          <p:cTn id="103" presetID="10" presetClass="entr" fill="hold" grpId="0" nodeType="withEffect">
                            <p:stCondLst>
                              <p:cond delay="0"/>
                            </p:stCondLst>
                            <p:childTnLst>
                              <p:set>
                                <p:cBhvr>
                                  <p:cTn id="104" dur="1" fill="hold">
                                    <p:stCondLst>
                                      <p:cond delay="0"/>
                                    </p:stCondLst>
                                  </p:cTn>
                                  <p:tgtEl>
                                    <p:spTgt spid="17"/>
                                  </p:tgtEl>
                                  <p:attrNameLst>
                                    <p:attrName>style.visibility</p:attrName>
                                  </p:attrNameLst>
                                </p:cBhvr>
                                <p:to>
                                  <p:strVal val="visible"/>
                                </p:to>
                              </p:set>
                              <p:animEffect transition="in" filter="fade">
                                <p:cBhvr>
                                  <p:cTn id="105" dur="350"/>
                                  <p:tgtEl>
                                    <p:spTgt spid="17"/>
                                  </p:tgtEl>
                                </p:cBhvr>
                              </p:animEffect>
                            </p:childTnLst>
                          </p:cTn>
                        </p:par>
                        <p:par>
                          <p:cTn id="106" presetID="10" presetClass="entr" fill="hold" grpId="0" nodeType="withEffect">
                            <p:stCondLst>
                              <p:cond delay="0"/>
                            </p:stCondLst>
                            <p:childTnLst>
                              <p:set>
                                <p:cBhvr>
                                  <p:cTn id="107" dur="1" fill="hold">
                                    <p:stCondLst>
                                      <p:cond delay="0"/>
                                    </p:stCondLst>
                                  </p:cTn>
                                  <p:tgtEl>
                                    <p:spTgt spid="18"/>
                                  </p:tgtEl>
                                  <p:attrNameLst>
                                    <p:attrName>style.visibility</p:attrName>
                                  </p:attrNameLst>
                                </p:cBhvr>
                                <p:to>
                                  <p:strVal val="visible"/>
                                </p:to>
                              </p:set>
                              <p:animEffect transition="in" filter="fade">
                                <p:cBhvr>
                                  <p:cTn id="108" dur="350"/>
                                  <p:tgtEl>
                                    <p:spTgt spid="18"/>
                                  </p:tgtEl>
                                </p:cBhvr>
                              </p:animEffect>
                            </p:childTnLst>
                          </p:cTn>
                        </p:par>
                        <p:par>
                          <p:cTn id="109" presetID="10" presetClass="entr" fill="hold" grpId="0" nodeType="with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fade">
                                <p:cBhvr>
                                  <p:cTn id="111" dur="350"/>
                                  <p:tgtEl>
                                    <p:spTgt spid="26"/>
                                  </p:tgtEl>
                                </p:cBhvr>
                              </p:animEffect>
                            </p:childTnLst>
                          </p:cTn>
                        </p:par>
                        <p:par>
                          <p:cTn id="112" presetID="10" presetClass="entr" fill="hold" grpId="0" nodeType="withEffect">
                            <p:stCondLst>
                              <p:cond delay="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350"/>
                                  <p:tgtEl>
                                    <p:spTgt spid="27"/>
                                  </p:tgtEl>
                                </p:cBhvr>
                              </p:animEffect>
                            </p:childTnLst>
                          </p:cTn>
                        </p:par>
                        <p:par>
                          <p:cTn id="115" presetID="10" presetClass="entr" fill="hold" grpId="0" nodeType="withEffect">
                            <p:stCondLst>
                              <p:cond delay="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350"/>
                                  <p:tgtEl>
                                    <p:spTgt spid="28"/>
                                  </p:tgtEl>
                                </p:cBhvr>
                              </p:animEffect>
                            </p:childTnLst>
                          </p:cTn>
                        </p:par>
                        <p:par>
                          <p:cTn id="118" presetID="10" presetClass="entr" fill="hold" grpId="0" nodeType="withEffect">
                            <p:stCondLst>
                              <p:cond delay="0"/>
                            </p:stCondLst>
                            <p:childTnLst>
                              <p:set>
                                <p:cBhvr>
                                  <p:cTn id="119" dur="1" fill="hold">
                                    <p:stCondLst>
                                      <p:cond delay="0"/>
                                    </p:stCondLst>
                                  </p:cTn>
                                  <p:tgtEl>
                                    <p:spTgt spid="29"/>
                                  </p:tgtEl>
                                  <p:attrNameLst>
                                    <p:attrName>style.visibility</p:attrName>
                                  </p:attrNameLst>
                                </p:cBhvr>
                                <p:to>
                                  <p:strVal val="visible"/>
                                </p:to>
                              </p:set>
                              <p:animEffect transition="in" filter="fade">
                                <p:cBhvr>
                                  <p:cTn id="120" dur="350"/>
                                  <p:tgtEl>
                                    <p:spTgt spid="29"/>
                                  </p:tgtEl>
                                </p:cBhvr>
                              </p:animEffect>
                            </p:childTnLst>
                          </p:cTn>
                        </p:par>
                        <p:par>
                          <p:cTn id="121" presetID="10" presetClass="entr" fill="hold" grpId="0" nodeType="with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350"/>
                                  <p:tgtEl>
                                    <p:spTgt spid="40"/>
                                  </p:tgtEl>
                                </p:cBhvr>
                              </p:animEffect>
                            </p:childTnLst>
                          </p:cTn>
                        </p:par>
                        <p:par>
                          <p:cTn id="124" presetID="10" presetClass="entr" fill="hold" grpId="0" nodeType="withEffect">
                            <p:stCondLst>
                              <p:cond delay="0"/>
                            </p:stCondLst>
                            <p:childTnLst>
                              <p:set>
                                <p:cBhvr>
                                  <p:cTn id="125" dur="1" fill="hold">
                                    <p:stCondLst>
                                      <p:cond delay="0"/>
                                    </p:stCondLst>
                                  </p:cTn>
                                  <p:tgtEl>
                                    <p:spTgt spid="41"/>
                                  </p:tgtEl>
                                  <p:attrNameLst>
                                    <p:attrName>style.visibility</p:attrName>
                                  </p:attrNameLst>
                                </p:cBhvr>
                                <p:to>
                                  <p:strVal val="visible"/>
                                </p:to>
                              </p:set>
                              <p:animEffect transition="in" filter="fade">
                                <p:cBhvr>
                                  <p:cTn id="126" dur="350"/>
                                  <p:tgtEl>
                                    <p:spTgt spid="41"/>
                                  </p:tgtEl>
                                </p:cBhvr>
                              </p:animEffect>
                            </p:childTnLst>
                          </p:cTn>
                        </p:par>
                        <p:par>
                          <p:cTn id="127" presetID="10" presetClass="entr" fill="hold" grpId="0" nodeType="withEffect">
                            <p:stCondLst>
                              <p:cond delay="0"/>
                            </p:stCondLst>
                            <p:childTnLst>
                              <p:set>
                                <p:cBhvr>
                                  <p:cTn id="128" dur="1" fill="hold">
                                    <p:stCondLst>
                                      <p:cond delay="0"/>
                                    </p:stCondLst>
                                  </p:cTn>
                                  <p:tgtEl>
                                    <p:spTgt spid="42"/>
                                  </p:tgtEl>
                                  <p:attrNameLst>
                                    <p:attrName>style.visibility</p:attrName>
                                  </p:attrNameLst>
                                </p:cBhvr>
                                <p:to>
                                  <p:strVal val="visible"/>
                                </p:to>
                              </p:set>
                              <p:animEffect transition="in" filter="fade">
                                <p:cBhvr>
                                  <p:cTn id="129" dur="350"/>
                                  <p:tgtEl>
                                    <p:spTgt spid="42"/>
                                  </p:tgtEl>
                                </p:cBhvr>
                              </p:animEffect>
                            </p:childTnLst>
                          </p:cTn>
                        </p:par>
                        <p:par>
                          <p:cTn id="130" presetID="10" presetClass="entr" fill="hold" grpId="0" nodeType="withEffect">
                            <p:stCondLst>
                              <p:cond delay="0"/>
                            </p:stCondLst>
                            <p:childTnLst>
                              <p:set>
                                <p:cBhvr>
                                  <p:cTn id="131" dur="1" fill="hold">
                                    <p:stCondLst>
                                      <p:cond delay="0"/>
                                    </p:stCondLst>
                                  </p:cTn>
                                  <p:tgtEl>
                                    <p:spTgt spid="43"/>
                                  </p:tgtEl>
                                  <p:attrNameLst>
                                    <p:attrName>style.visibility</p:attrName>
                                  </p:attrNameLst>
                                </p:cBhvr>
                                <p:to>
                                  <p:strVal val="visible"/>
                                </p:to>
                              </p:set>
                              <p:animEffect transition="in" filter="fade">
                                <p:cBhvr>
                                  <p:cTn id="132" dur="350"/>
                                  <p:tgtEl>
                                    <p:spTgt spid="43"/>
                                  </p:tgtEl>
                                </p:cBhvr>
                              </p:animEffect>
                            </p:childTnLst>
                          </p:cTn>
                        </p:par>
                        <p:par>
                          <p:cTn id="133" presetID="10" presetClass="entr" fill="hold" grpId="0" nodeType="withEffect">
                            <p:stCondLst>
                              <p:cond delay="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5" dur="350"/>
                                  <p:tgtEl>
                                    <p:spTgt spid="54"/>
                                  </p:tgtEl>
                                </p:cBhvr>
                              </p:animEffect>
                            </p:childTnLst>
                          </p:cTn>
                        </p:par>
                        <p:par>
                          <p:cTn id="136" presetID="10" presetClass="entr" fill="hold" grpId="0" nodeType="withEffect">
                            <p:stCondLst>
                              <p:cond delay="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8" dur="350"/>
                                  <p:tgtEl>
                                    <p:spTgt spid="55"/>
                                  </p:tgtEl>
                                </p:cBhvr>
                              </p:animEffect>
                            </p:childTnLst>
                          </p:cTn>
                        </p:par>
                        <p:par>
                          <p:cTn id="139" presetID="10" presetClass="entr" fill="hold" grpId="0" nodeType="withEffect">
                            <p:stCondLst>
                              <p:cond delay="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41" dur="350"/>
                                  <p:tgtEl>
                                    <p:spTgt spid="56"/>
                                  </p:tgtEl>
                                </p:cBhvr>
                              </p:animEffect>
                            </p:childTnLst>
                          </p:cTn>
                        </p:par>
                        <p:par>
                          <p:cTn id="142" presetID="10" presetClass="entr" fill="hold" grpId="0" nodeType="withEffect">
                            <p:stCondLst>
                              <p:cond delay="0"/>
                            </p:stCondLst>
                            <p:childTnLst>
                              <p:set>
                                <p:cBhvr>
                                  <p:cTn id="143" dur="1" fill="hold">
                                    <p:stCondLst>
                                      <p:cond delay="0"/>
                                    </p:stCondLst>
                                  </p:cTn>
                                  <p:tgtEl>
                                    <p:spTgt spid="57"/>
                                  </p:tgtEl>
                                  <p:attrNameLst>
                                    <p:attrName>style.visibility</p:attrName>
                                  </p:attrNameLst>
                                </p:cBhvr>
                                <p:to>
                                  <p:strVal val="visible"/>
                                </p:to>
                              </p:set>
                              <p:animEffect transition="in" filter="fade">
                                <p:cBhvr>
                                  <p:cTn id="144" dur="350"/>
                                  <p:tgtEl>
                                    <p:spTgt spid="57"/>
                                  </p:tgtEl>
                                </p:cBhvr>
                              </p:animEffect>
                            </p:childTnLst>
                          </p:cTn>
                        </p:par>
                        <p:par>
                          <p:cTn id="145" presetID="10" presetClass="entr" fill="hold" grpId="0" nodeType="withEffect">
                            <p:stCondLst>
                              <p:cond delay="0"/>
                            </p:stCondLst>
                            <p:childTnLst>
                              <p:set>
                                <p:cBhvr>
                                  <p:cTn id="146" dur="1" fill="hold">
                                    <p:stCondLst>
                                      <p:cond delay="0"/>
                                    </p:stCondLst>
                                  </p:cTn>
                                  <p:tgtEl>
                                    <p:spTgt spid="68"/>
                                  </p:tgtEl>
                                  <p:attrNameLst>
                                    <p:attrName>style.visibility</p:attrName>
                                  </p:attrNameLst>
                                </p:cBhvr>
                                <p:to>
                                  <p:strVal val="visible"/>
                                </p:to>
                              </p:set>
                              <p:animEffect transition="in" filter="fade">
                                <p:cBhvr>
                                  <p:cTn id="147" dur="350"/>
                                  <p:tgtEl>
                                    <p:spTgt spid="68"/>
                                  </p:tgtEl>
                                </p:cBhvr>
                              </p:animEffect>
                            </p:childTnLst>
                          </p:cTn>
                        </p:par>
                        <p:par>
                          <p:cTn id="148" presetID="10" presetClass="entr" fill="hold" grpId="0" nodeType="withEffect">
                            <p:stCondLst>
                              <p:cond delay="0"/>
                            </p:stCondLst>
                            <p:childTnLst>
                              <p:set>
                                <p:cBhvr>
                                  <p:cTn id="149" dur="1" fill="hold">
                                    <p:stCondLst>
                                      <p:cond delay="0"/>
                                    </p:stCondLst>
                                  </p:cTn>
                                  <p:tgtEl>
                                    <p:spTgt spid="69"/>
                                  </p:tgtEl>
                                  <p:attrNameLst>
                                    <p:attrName>style.visibility</p:attrName>
                                  </p:attrNameLst>
                                </p:cBhvr>
                                <p:to>
                                  <p:strVal val="visible"/>
                                </p:to>
                              </p:set>
                              <p:animEffect transition="in" filter="fade">
                                <p:cBhvr>
                                  <p:cTn id="150" dur="350"/>
                                  <p:tgtEl>
                                    <p:spTgt spid="69"/>
                                  </p:tgtEl>
                                </p:cBhvr>
                              </p:animEffect>
                            </p:childTnLst>
                          </p:cTn>
                        </p:par>
                        <p:par>
                          <p:cTn id="151" presetID="10" presetClass="entr" fill="hold" grpId="0" nodeType="withEffect">
                            <p:stCondLst>
                              <p:cond delay="0"/>
                            </p:stCondLst>
                            <p:childTnLst>
                              <p:set>
                                <p:cBhvr>
                                  <p:cTn id="152" dur="1" fill="hold">
                                    <p:stCondLst>
                                      <p:cond delay="0"/>
                                    </p:stCondLst>
                                  </p:cTn>
                                  <p:tgtEl>
                                    <p:spTgt spid="70"/>
                                  </p:tgtEl>
                                  <p:attrNameLst>
                                    <p:attrName>style.visibility</p:attrName>
                                  </p:attrNameLst>
                                </p:cBhvr>
                                <p:to>
                                  <p:strVal val="visible"/>
                                </p:to>
                              </p:set>
                              <p:animEffect transition="in" filter="fade">
                                <p:cBhvr>
                                  <p:cTn id="153" dur="350"/>
                                  <p:tgtEl>
                                    <p:spTgt spid="70"/>
                                  </p:tgtEl>
                                </p:cBhvr>
                              </p:animEffect>
                            </p:childTnLst>
                          </p:cTn>
                        </p:par>
                        <p:par>
                          <p:cTn id="154" presetID="10" presetClass="entr" fill="hold" grpId="0" nodeType="withEffect">
                            <p:stCondLst>
                              <p:cond delay="0"/>
                            </p:stCondLst>
                            <p:childTnLst>
                              <p:set>
                                <p:cBhvr>
                                  <p:cTn id="155" dur="1" fill="hold">
                                    <p:stCondLst>
                                      <p:cond delay="0"/>
                                    </p:stCondLst>
                                  </p:cTn>
                                  <p:tgtEl>
                                    <p:spTgt spid="71"/>
                                  </p:tgtEl>
                                  <p:attrNameLst>
                                    <p:attrName>style.visibility</p:attrName>
                                  </p:attrNameLst>
                                </p:cBhvr>
                                <p:to>
                                  <p:strVal val="visible"/>
                                </p:to>
                              </p:set>
                              <p:animEffect transition="in" filter="fade">
                                <p:cBhvr>
                                  <p:cTn id="156" dur="350"/>
                                  <p:tgtEl>
                                    <p:spTgt spid="71"/>
                                  </p:tgtEl>
                                </p:cBhvr>
                              </p:animEffect>
                            </p:childTnLst>
                          </p:cTn>
                        </p:par>
                        <p:par>
                          <p:cTn id="157" presetID="10" presetClass="entr" fill="hold" grpId="0" nodeType="withEffect">
                            <p:stCondLst>
                              <p:cond delay="0"/>
                            </p:stCondLst>
                            <p:childTnLst>
                              <p:set>
                                <p:cBhvr>
                                  <p:cTn id="158" dur="1" fill="hold">
                                    <p:stCondLst>
                                      <p:cond delay="0"/>
                                    </p:stCondLst>
                                  </p:cTn>
                                  <p:tgtEl>
                                    <p:spTgt spid="82"/>
                                  </p:tgtEl>
                                  <p:attrNameLst>
                                    <p:attrName>style.visibility</p:attrName>
                                  </p:attrNameLst>
                                </p:cBhvr>
                                <p:to>
                                  <p:strVal val="visible"/>
                                </p:to>
                              </p:set>
                              <p:animEffect transition="in" filter="fade">
                                <p:cBhvr>
                                  <p:cTn id="159" dur="350"/>
                                  <p:tgtEl>
                                    <p:spTgt spid="82"/>
                                  </p:tgtEl>
                                </p:cBhvr>
                              </p:animEffect>
                            </p:childTnLst>
                          </p:cTn>
                        </p:par>
                        <p:par>
                          <p:cTn id="160" presetID="10" presetClass="entr" fill="hold" grpId="0" nodeType="withEffect">
                            <p:stCondLst>
                              <p:cond delay="0"/>
                            </p:stCondLst>
                            <p:childTnLst>
                              <p:set>
                                <p:cBhvr>
                                  <p:cTn id="161" dur="1" fill="hold">
                                    <p:stCondLst>
                                      <p:cond delay="0"/>
                                    </p:stCondLst>
                                  </p:cTn>
                                  <p:tgtEl>
                                    <p:spTgt spid="83"/>
                                  </p:tgtEl>
                                  <p:attrNameLst>
                                    <p:attrName>style.visibility</p:attrName>
                                  </p:attrNameLst>
                                </p:cBhvr>
                                <p:to>
                                  <p:strVal val="visible"/>
                                </p:to>
                              </p:set>
                              <p:animEffect transition="in" filter="fade">
                                <p:cBhvr>
                                  <p:cTn id="162" dur="350"/>
                                  <p:tgtEl>
                                    <p:spTgt spid="83"/>
                                  </p:tgtEl>
                                </p:cBhvr>
                              </p:animEffect>
                            </p:childTnLst>
                          </p:cTn>
                        </p:par>
                        <p:par>
                          <p:cTn id="163" presetID="10" presetClass="entr" fill="hold" grpId="0" nodeType="withEffect">
                            <p:stCondLst>
                              <p:cond delay="0"/>
                            </p:stCondLst>
                            <p:childTnLst>
                              <p:set>
                                <p:cBhvr>
                                  <p:cTn id="164" dur="1" fill="hold">
                                    <p:stCondLst>
                                      <p:cond delay="0"/>
                                    </p:stCondLst>
                                  </p:cTn>
                                  <p:tgtEl>
                                    <p:spTgt spid="84"/>
                                  </p:tgtEl>
                                  <p:attrNameLst>
                                    <p:attrName>style.visibility</p:attrName>
                                  </p:attrNameLst>
                                </p:cBhvr>
                                <p:to>
                                  <p:strVal val="visible"/>
                                </p:to>
                              </p:set>
                              <p:animEffect transition="in" filter="fade">
                                <p:cBhvr>
                                  <p:cTn id="165" dur="350"/>
                                  <p:tgtEl>
                                    <p:spTgt spid="84"/>
                                  </p:tgtEl>
                                </p:cBhvr>
                              </p:animEffect>
                            </p:childTnLst>
                          </p:cTn>
                        </p:par>
                        <p:par>
                          <p:cTn id="166" presetID="10" presetClass="entr" fill="hold" grpId="0" nodeType="withEffect">
                            <p:stCondLst>
                              <p:cond delay="0"/>
                            </p:stCondLst>
                            <p:childTnLst>
                              <p:set>
                                <p:cBhvr>
                                  <p:cTn id="167" dur="1" fill="hold">
                                    <p:stCondLst>
                                      <p:cond delay="0"/>
                                    </p:stCondLst>
                                  </p:cTn>
                                  <p:tgtEl>
                                    <p:spTgt spid="85"/>
                                  </p:tgtEl>
                                  <p:attrNameLst>
                                    <p:attrName>style.visibility</p:attrName>
                                  </p:attrNameLst>
                                </p:cBhvr>
                                <p:to>
                                  <p:strVal val="visible"/>
                                </p:to>
                              </p:set>
                              <p:animEffect transition="in" filter="fade">
                                <p:cBhvr>
                                  <p:cTn id="168" dur="350"/>
                                  <p:tgtEl>
                                    <p:spTgt spid="85"/>
                                  </p:tgtEl>
                                </p:cBhvr>
                              </p:animEffect>
                            </p:childTnLst>
                          </p:cTn>
                        </p:par>
                      </p:childTnLst>
                    </p:cTn>
                  </p:par>
                </p:childTnLst>
              </p:cTn>
            </p:seq>
            <p:audio>
              <p:cMediaNode vol="80000">
                <p:cTn id="169" fill="hold" display="0">
                  <p:stCondLst>
                    <p:cond delay="indefinite"/>
                  </p:stCondLst>
                  <p:endCondLst>
                    <p:cond evt="onStopAudio" delay="0">
                      <p:tgtEl>
                        <p:sldTgt/>
                      </p:tgtEl>
                    </p:cond>
                  </p:endCondLst>
                </p:cTn>
                <p:tgtEl>
                  <p:spTgt spid="13"/>
                </p:tgtEl>
              </p:cMediaNode>
            </p:audi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4063898"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08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READ</a:t>
            </a:r>
          </a:p>
        </p:txBody>
      </p:sp>
      <p:sp>
        <p:nvSpPr>
          <p:cNvPr id="12" name="TextBox 11"/>
          <p:cNvSpPr txBox="1"/>
          <p:nvPr/>
        </p:nvSpPr>
        <p:spPr>
          <a:xfrm>
            <a:off x="566928" y="859536"/>
            <a:ext cx="4572000" cy="1371600"/>
          </a:xfrm>
          <a:prstGeom prst="rect">
            <a:avLst/>
          </a:prstGeom>
          <a:noFill/>
        </p:spPr>
        <p:txBody>
          <a:bodyPr wrap="square" anchor="t" lIns="0" tIns="0" rIns="0" bIns="0"/>
          <a:lstStyle/>
          <a:p>
            <a:pPr algn="l">
              <a:lnSpc>
                <a:spcPct val="92000"/>
              </a:lnSpc>
              <a:spcBef>
                <a:spcPts val="0"/>
              </a:spcBef>
              <a:spcAft>
                <a:spcPts val="0"/>
              </a:spcAft>
            </a:pPr>
            <a:r>
              <a:rPr sz="2800" b="1" i="0">
                <a:solidFill>
                  <a:srgbClr val="0F1B33"/>
                </a:solidFill>
                <a:latin typeface="Trebuchet MS"/>
              </a:rPr>
              <a:t>Listen ‘N’ read</a:t>
            </a:r>
          </a:p>
        </p:txBody>
      </p:sp>
      <p:sp>
        <p:nvSpPr>
          <p:cNvPr id="13" name="TextBox 12"/>
          <p:cNvSpPr txBox="1"/>
          <p:nvPr/>
        </p:nvSpPr>
        <p:spPr>
          <a:xfrm>
            <a:off x="4206240" y="969264"/>
            <a:ext cx="2194560" cy="274320"/>
          </a:xfrm>
          <a:prstGeom prst="rect">
            <a:avLst/>
          </a:prstGeom>
          <a:noFill/>
        </p:spPr>
        <p:txBody>
          <a:bodyPr wrap="square" anchor="t" lIns="0" tIns="0" rIns="0" bIns="0"/>
          <a:lstStyle/>
          <a:p>
            <a:pPr algn="l">
              <a:lnSpc>
                <a:spcPct val="95000"/>
              </a:lnSpc>
              <a:spcBef>
                <a:spcPts val="0"/>
              </a:spcBef>
              <a:spcAft>
                <a:spcPts val="0"/>
              </a:spcAft>
            </a:pPr>
            <a:r>
              <a:rPr sz="1200" b="0" i="0">
                <a:solidFill>
                  <a:srgbClr val="5C6C86"/>
                </a:solidFill>
                <a:latin typeface="Calibri"/>
              </a:rPr>
              <a:t>Full script</a:t>
            </a:r>
          </a:p>
        </p:txBody>
      </p:sp>
      <p:sp>
        <p:nvSpPr>
          <p:cNvPr id="15" name="Rounded Rectangle 14"/>
          <p:cNvSpPr/>
          <p:nvPr/>
        </p:nvSpPr>
        <p:spPr>
          <a:xfrm>
            <a:off x="566928" y="1389888"/>
            <a:ext cx="7882128" cy="4773168"/>
          </a:xfrm>
          <a:prstGeom prst="roundRect">
            <a:avLst>
              <a:gd name="adj" fmla="val 4214"/>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822960" y="1591056"/>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Grandma:  </a:t>
            </a:r>
            <a:r>
              <a:rPr sz="1200" b="0" i="0">
                <a:solidFill>
                  <a:srgbClr val="0F1B33"/>
                </a:solidFill>
                <a:latin typeface="Calibri"/>
              </a:rPr>
              <a:t>What are you doing, Cara?</a:t>
            </a:r>
          </a:p>
        </p:txBody>
      </p:sp>
      <p:sp>
        <p:nvSpPr>
          <p:cNvPr id="17" name="TextBox 16"/>
          <p:cNvSpPr txBox="1"/>
          <p:nvPr/>
        </p:nvSpPr>
        <p:spPr>
          <a:xfrm>
            <a:off x="822960" y="1845869"/>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Cara:  </a:t>
            </a:r>
            <a:r>
              <a:rPr sz="1200" b="0" i="0">
                <a:solidFill>
                  <a:srgbClr val="0F1B33"/>
                </a:solidFill>
                <a:latin typeface="Calibri"/>
              </a:rPr>
              <a:t>I’m texting Maria. I haven’t seen her all week, so I’m just saying “hi.”</a:t>
            </a:r>
          </a:p>
        </p:txBody>
      </p:sp>
      <p:sp>
        <p:nvSpPr>
          <p:cNvPr id="18" name="TextBox 17"/>
          <p:cNvSpPr txBox="1"/>
          <p:nvPr/>
        </p:nvSpPr>
        <p:spPr>
          <a:xfrm>
            <a:off x="822960" y="2100682"/>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Grandma:  </a:t>
            </a:r>
            <a:r>
              <a:rPr sz="1200" b="0" i="0">
                <a:solidFill>
                  <a:srgbClr val="0F1B33"/>
                </a:solidFill>
                <a:latin typeface="Calibri"/>
              </a:rPr>
              <a:t>What’s that beep?</a:t>
            </a:r>
          </a:p>
        </p:txBody>
      </p:sp>
      <p:sp>
        <p:nvSpPr>
          <p:cNvPr id="19" name="TextBox 18"/>
          <p:cNvSpPr txBox="1"/>
          <p:nvPr/>
        </p:nvSpPr>
        <p:spPr>
          <a:xfrm>
            <a:off x="822960" y="2355494"/>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Cara:  </a:t>
            </a:r>
            <a:r>
              <a:rPr sz="1200" b="0" i="0">
                <a:solidFill>
                  <a:srgbClr val="0F1B33"/>
                </a:solidFill>
                <a:latin typeface="Calibri"/>
              </a:rPr>
              <a:t>It’s Maria. She just sent a text message back to me.</a:t>
            </a:r>
          </a:p>
        </p:txBody>
      </p:sp>
      <p:sp>
        <p:nvSpPr>
          <p:cNvPr id="20" name="TextBox 19"/>
          <p:cNvSpPr txBox="1"/>
          <p:nvPr/>
        </p:nvSpPr>
        <p:spPr>
          <a:xfrm>
            <a:off x="822960" y="2610307"/>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Grandma:  </a:t>
            </a:r>
            <a:r>
              <a:rPr sz="1200" b="0" i="0">
                <a:solidFill>
                  <a:srgbClr val="0F1B33"/>
                </a:solidFill>
                <a:latin typeface="Calibri"/>
              </a:rPr>
              <a:t>I don’t understand. How on earth do you type what you want to say so quickly?</a:t>
            </a:r>
          </a:p>
        </p:txBody>
      </p:sp>
      <p:sp>
        <p:nvSpPr>
          <p:cNvPr id="21" name="TextBox 20"/>
          <p:cNvSpPr txBox="1"/>
          <p:nvPr/>
        </p:nvSpPr>
        <p:spPr>
          <a:xfrm>
            <a:off x="822960" y="2865120"/>
            <a:ext cx="7269480" cy="423672"/>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Cara:  </a:t>
            </a:r>
            <a:r>
              <a:rPr sz="1200" b="0" i="0">
                <a:solidFill>
                  <a:srgbClr val="0F1B33"/>
                </a:solidFill>
                <a:latin typeface="Calibri"/>
              </a:rPr>
              <a:t>You don’t actually type the words out. You use abbreviations and acronyms. Hold on. I’ll show you. Right now I’m asking if she wants to come over and hang out.</a:t>
            </a:r>
          </a:p>
        </p:txBody>
      </p:sp>
      <p:sp>
        <p:nvSpPr>
          <p:cNvPr id="22" name="TextBox 21"/>
          <p:cNvSpPr txBox="1"/>
          <p:nvPr/>
        </p:nvSpPr>
        <p:spPr>
          <a:xfrm>
            <a:off x="822960" y="3308909"/>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Grandma:  </a:t>
            </a:r>
            <a:r>
              <a:rPr sz="1200" b="0" i="0">
                <a:solidFill>
                  <a:srgbClr val="0F1B33"/>
                </a:solidFill>
                <a:latin typeface="Calibri"/>
              </a:rPr>
              <a:t>That’s a lot to type.</a:t>
            </a:r>
          </a:p>
        </p:txBody>
      </p:sp>
      <p:sp>
        <p:nvSpPr>
          <p:cNvPr id="23" name="TextBox 22"/>
          <p:cNvSpPr txBox="1"/>
          <p:nvPr/>
        </p:nvSpPr>
        <p:spPr>
          <a:xfrm>
            <a:off x="822960" y="3563722"/>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Cara:  </a:t>
            </a:r>
            <a:r>
              <a:rPr sz="1200" b="0" i="0">
                <a:solidFill>
                  <a:srgbClr val="0F1B33"/>
                </a:solidFill>
                <a:latin typeface="Calibri"/>
              </a:rPr>
              <a:t>Right. So instead I type “DYWT come ovr.” Does that make sense?</a:t>
            </a:r>
          </a:p>
        </p:txBody>
      </p:sp>
      <p:sp>
        <p:nvSpPr>
          <p:cNvPr id="24" name="TextBox 23"/>
          <p:cNvSpPr txBox="1"/>
          <p:nvPr/>
        </p:nvSpPr>
        <p:spPr>
          <a:xfrm>
            <a:off x="822960" y="3818534"/>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Grandma:  </a:t>
            </a:r>
            <a:r>
              <a:rPr sz="1200" b="0" i="0">
                <a:solidFill>
                  <a:srgbClr val="0F1B33"/>
                </a:solidFill>
                <a:latin typeface="Calibri"/>
              </a:rPr>
              <a:t>DYWT? What does that mean?</a:t>
            </a:r>
          </a:p>
        </p:txBody>
      </p:sp>
      <p:sp>
        <p:nvSpPr>
          <p:cNvPr id="25" name="TextBox 24"/>
          <p:cNvSpPr txBox="1"/>
          <p:nvPr/>
        </p:nvSpPr>
        <p:spPr>
          <a:xfrm>
            <a:off x="822960" y="4073347"/>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Cara:  </a:t>
            </a:r>
            <a:r>
              <a:rPr sz="1200" b="0" i="0">
                <a:solidFill>
                  <a:srgbClr val="0F1B33"/>
                </a:solidFill>
                <a:latin typeface="Calibri"/>
              </a:rPr>
              <a:t>DYWT means “Do you want to.” It’s the first letter of each word.</a:t>
            </a:r>
          </a:p>
        </p:txBody>
      </p:sp>
      <p:sp>
        <p:nvSpPr>
          <p:cNvPr id="26" name="TextBox 25"/>
          <p:cNvSpPr txBox="1"/>
          <p:nvPr/>
        </p:nvSpPr>
        <p:spPr>
          <a:xfrm>
            <a:off x="822960" y="4328160"/>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Grandma:  </a:t>
            </a:r>
            <a:r>
              <a:rPr sz="1200" b="0" i="0">
                <a:solidFill>
                  <a:srgbClr val="0F1B33"/>
                </a:solidFill>
                <a:latin typeface="Calibri"/>
              </a:rPr>
              <a:t>Oh. OK. Now what?</a:t>
            </a:r>
          </a:p>
        </p:txBody>
      </p:sp>
      <p:sp>
        <p:nvSpPr>
          <p:cNvPr id="27" name="TextBox 26"/>
          <p:cNvSpPr txBox="1"/>
          <p:nvPr/>
        </p:nvSpPr>
        <p:spPr>
          <a:xfrm>
            <a:off x="822960" y="4582973"/>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Cara:  </a:t>
            </a:r>
            <a:r>
              <a:rPr sz="1200" b="0" i="0">
                <a:solidFill>
                  <a:srgbClr val="0F1B33"/>
                </a:solidFill>
                <a:latin typeface="Calibri"/>
              </a:rPr>
              <a:t>She’ll respond in a second. (beep) There.</a:t>
            </a:r>
          </a:p>
        </p:txBody>
      </p:sp>
      <p:sp>
        <p:nvSpPr>
          <p:cNvPr id="28" name="TextBox 27"/>
          <p:cNvSpPr txBox="1"/>
          <p:nvPr/>
        </p:nvSpPr>
        <p:spPr>
          <a:xfrm>
            <a:off x="822960" y="4837786"/>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Grandma:  </a:t>
            </a:r>
            <a:r>
              <a:rPr sz="1200" b="0" i="0">
                <a:solidFill>
                  <a:srgbClr val="0F1B33"/>
                </a:solidFill>
                <a:latin typeface="Calibri"/>
              </a:rPr>
              <a:t>What did she say?</a:t>
            </a:r>
          </a:p>
        </p:txBody>
      </p:sp>
      <p:sp>
        <p:nvSpPr>
          <p:cNvPr id="29" name="TextBox 28"/>
          <p:cNvSpPr txBox="1"/>
          <p:nvPr/>
        </p:nvSpPr>
        <p:spPr>
          <a:xfrm>
            <a:off x="822960" y="5092598"/>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Cara:  </a:t>
            </a:r>
            <a:r>
              <a:rPr sz="1200" b="0" i="0">
                <a:solidFill>
                  <a:srgbClr val="0F1B33"/>
                </a:solidFill>
                <a:latin typeface="Calibri"/>
              </a:rPr>
              <a:t>(spelling it out) Gr8. B ovr n 10 mins.</a:t>
            </a:r>
          </a:p>
        </p:txBody>
      </p:sp>
      <p:sp>
        <p:nvSpPr>
          <p:cNvPr id="30" name="TextBox 29"/>
          <p:cNvSpPr txBox="1"/>
          <p:nvPr/>
        </p:nvSpPr>
        <p:spPr>
          <a:xfrm>
            <a:off x="822960" y="5347411"/>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Grandma:  </a:t>
            </a:r>
            <a:r>
              <a:rPr sz="1200" b="0" i="0">
                <a:solidFill>
                  <a:srgbClr val="0F1B33"/>
                </a:solidFill>
                <a:latin typeface="Calibri"/>
              </a:rPr>
              <a:t>I think I get it. She’s saying, “Great. Be over in ten minutes.”</a:t>
            </a:r>
          </a:p>
        </p:txBody>
      </p:sp>
      <p:sp>
        <p:nvSpPr>
          <p:cNvPr id="31" name="TextBox 30"/>
          <p:cNvSpPr txBox="1"/>
          <p:nvPr/>
        </p:nvSpPr>
        <p:spPr>
          <a:xfrm>
            <a:off x="822960" y="5602224"/>
            <a:ext cx="7269480" cy="234696"/>
          </a:xfrm>
          <a:prstGeom prst="rect">
            <a:avLst/>
          </a:prstGeom>
          <a:noFill/>
        </p:spPr>
        <p:txBody>
          <a:bodyPr wrap="square" anchor="t" lIns="0" tIns="0" rIns="0" bIns="0"/>
          <a:lstStyle/>
          <a:p>
            <a:pPr algn="l">
              <a:lnSpc>
                <a:spcPct val="94000"/>
              </a:lnSpc>
              <a:spcBef>
                <a:spcPts val="0"/>
              </a:spcBef>
              <a:spcAft>
                <a:spcPts val="0"/>
              </a:spcAft>
            </a:pPr>
            <a:r>
              <a:rPr sz="1200" b="1" i="0">
                <a:solidFill>
                  <a:srgbClr val="1B3FA8"/>
                </a:solidFill>
                <a:latin typeface="Calibri"/>
              </a:rPr>
              <a:t>Cara:  </a:t>
            </a:r>
            <a:r>
              <a:rPr sz="1200" b="0" i="0">
                <a:solidFill>
                  <a:srgbClr val="0F1B33"/>
                </a:solidFill>
                <a:latin typeface="Calibri"/>
              </a:rPr>
              <a:t>Now you’ve got the hang of it, Grandma!</a:t>
            </a:r>
          </a:p>
        </p:txBody>
      </p:sp>
      <p:sp>
        <p:nvSpPr>
          <p:cNvPr id="32" name="Rounded Rectangle 31"/>
          <p:cNvSpPr/>
          <p:nvPr/>
        </p:nvSpPr>
        <p:spPr>
          <a:xfrm>
            <a:off x="8668512" y="1389888"/>
            <a:ext cx="2962656" cy="4773168"/>
          </a:xfrm>
          <a:prstGeom prst="roundRect">
            <a:avLst>
              <a:gd name="adj" fmla="val 6790"/>
            </a:avLst>
          </a:prstGeom>
          <a:solidFill>
            <a:srgbClr val="F4F8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TextBox 32"/>
          <p:cNvSpPr txBox="1"/>
          <p:nvPr/>
        </p:nvSpPr>
        <p:spPr>
          <a:xfrm>
            <a:off x="8887968" y="1572768"/>
            <a:ext cx="2560320" cy="256032"/>
          </a:xfrm>
          <a:prstGeom prst="rect">
            <a:avLst/>
          </a:prstGeom>
          <a:noFill/>
        </p:spPr>
        <p:txBody>
          <a:bodyPr wrap="square" anchor="t" lIns="0" tIns="0" rIns="0" bIns="0"/>
          <a:lstStyle/>
          <a:p>
            <a:pPr algn="l">
              <a:lnSpc>
                <a:spcPct val="95000"/>
              </a:lnSpc>
              <a:spcBef>
                <a:spcPts val="0"/>
              </a:spcBef>
              <a:spcAft>
                <a:spcPts val="0"/>
              </a:spcAft>
            </a:pPr>
            <a:r>
              <a:rPr sz="1200" b="1" i="0" spc="160">
                <a:solidFill>
                  <a:srgbClr val="1D4ED8"/>
                </a:solidFill>
                <a:latin typeface="Calibri"/>
              </a:rPr>
              <a:t>NOTICE THESE</a:t>
            </a:r>
          </a:p>
        </p:txBody>
      </p:sp>
      <p:sp>
        <p:nvSpPr>
          <p:cNvPr id="34" name="Rounded Rectangle 33"/>
          <p:cNvSpPr/>
          <p:nvPr/>
        </p:nvSpPr>
        <p:spPr>
          <a:xfrm>
            <a:off x="8887968" y="1901952"/>
            <a:ext cx="2523744" cy="384048"/>
          </a:xfrm>
          <a:prstGeom prst="roundRect">
            <a:avLst>
              <a:gd name="adj" fmla="val 50000"/>
            </a:avLst>
          </a:prstGeom>
          <a:solidFill>
            <a:srgbClr val="FFFFFF"/>
          </a:solidFill>
          <a:ln w="12700">
            <a:solidFill>
              <a:srgbClr val="C3D4FF"/>
            </a:solidFill>
          </a:ln>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95000"/>
              </a:lnSpc>
              <a:spcBef>
                <a:spcPts val="0"/>
              </a:spcBef>
              <a:spcAft>
                <a:spcPts val="0"/>
              </a:spcAft>
            </a:pPr>
            <a:r>
              <a:rPr sz="1200" b="1" i="0">
                <a:solidFill>
                  <a:srgbClr val="1B3FA8"/>
                </a:solidFill>
                <a:latin typeface="Calibri"/>
              </a:rPr>
              <a:t>How on earth</a:t>
            </a:r>
          </a:p>
        </p:txBody>
      </p:sp>
      <p:sp>
        <p:nvSpPr>
          <p:cNvPr id="35" name="Rounded Rectangle 34"/>
          <p:cNvSpPr/>
          <p:nvPr/>
        </p:nvSpPr>
        <p:spPr>
          <a:xfrm>
            <a:off x="8887968" y="2377440"/>
            <a:ext cx="2523744" cy="384048"/>
          </a:xfrm>
          <a:prstGeom prst="roundRect">
            <a:avLst>
              <a:gd name="adj" fmla="val 50000"/>
            </a:avLst>
          </a:prstGeom>
          <a:solidFill>
            <a:srgbClr val="FFFFFF"/>
          </a:solidFill>
          <a:ln w="12700">
            <a:solidFill>
              <a:srgbClr val="C3D4FF"/>
            </a:solidFill>
          </a:ln>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95000"/>
              </a:lnSpc>
              <a:spcBef>
                <a:spcPts val="0"/>
              </a:spcBef>
              <a:spcAft>
                <a:spcPts val="0"/>
              </a:spcAft>
            </a:pPr>
            <a:r>
              <a:rPr sz="1200" b="1" i="0">
                <a:solidFill>
                  <a:srgbClr val="1B3FA8"/>
                </a:solidFill>
                <a:latin typeface="Calibri"/>
              </a:rPr>
              <a:t>Hold on</a:t>
            </a:r>
          </a:p>
        </p:txBody>
      </p:sp>
      <p:sp>
        <p:nvSpPr>
          <p:cNvPr id="36" name="Rounded Rectangle 35"/>
          <p:cNvSpPr/>
          <p:nvPr/>
        </p:nvSpPr>
        <p:spPr>
          <a:xfrm>
            <a:off x="8887968" y="2852928"/>
            <a:ext cx="2523744" cy="384048"/>
          </a:xfrm>
          <a:prstGeom prst="roundRect">
            <a:avLst>
              <a:gd name="adj" fmla="val 50000"/>
            </a:avLst>
          </a:prstGeom>
          <a:solidFill>
            <a:srgbClr val="FFFFFF"/>
          </a:solidFill>
          <a:ln w="12700">
            <a:solidFill>
              <a:srgbClr val="C3D4FF"/>
            </a:solidFill>
          </a:ln>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95000"/>
              </a:lnSpc>
              <a:spcBef>
                <a:spcPts val="0"/>
              </a:spcBef>
              <a:spcAft>
                <a:spcPts val="0"/>
              </a:spcAft>
            </a:pPr>
            <a:r>
              <a:rPr sz="1200" b="1" i="0">
                <a:solidFill>
                  <a:srgbClr val="1B3FA8"/>
                </a:solidFill>
                <a:latin typeface="Calibri"/>
              </a:rPr>
              <a:t>hang out</a:t>
            </a:r>
          </a:p>
        </p:txBody>
      </p:sp>
      <p:sp>
        <p:nvSpPr>
          <p:cNvPr id="37" name="Rounded Rectangle 36"/>
          <p:cNvSpPr/>
          <p:nvPr/>
        </p:nvSpPr>
        <p:spPr>
          <a:xfrm>
            <a:off x="8887968" y="3328416"/>
            <a:ext cx="2523744" cy="384048"/>
          </a:xfrm>
          <a:prstGeom prst="roundRect">
            <a:avLst>
              <a:gd name="adj" fmla="val 50000"/>
            </a:avLst>
          </a:prstGeom>
          <a:solidFill>
            <a:srgbClr val="FFFFFF"/>
          </a:solidFill>
          <a:ln w="12700">
            <a:solidFill>
              <a:srgbClr val="C3D4FF"/>
            </a:solidFill>
          </a:ln>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95000"/>
              </a:lnSpc>
              <a:spcBef>
                <a:spcPts val="0"/>
              </a:spcBef>
              <a:spcAft>
                <a:spcPts val="0"/>
              </a:spcAft>
            </a:pPr>
            <a:r>
              <a:rPr sz="1200" b="1" i="0">
                <a:solidFill>
                  <a:srgbClr val="1B3FA8"/>
                </a:solidFill>
                <a:latin typeface="Calibri"/>
              </a:rPr>
              <a:t>get it</a:t>
            </a:r>
          </a:p>
        </p:txBody>
      </p:sp>
      <p:sp>
        <p:nvSpPr>
          <p:cNvPr id="38" name="Rounded Rectangle 37"/>
          <p:cNvSpPr/>
          <p:nvPr/>
        </p:nvSpPr>
        <p:spPr>
          <a:xfrm>
            <a:off x="8887968" y="3803904"/>
            <a:ext cx="2523744" cy="384048"/>
          </a:xfrm>
          <a:prstGeom prst="roundRect">
            <a:avLst>
              <a:gd name="adj" fmla="val 50000"/>
            </a:avLst>
          </a:prstGeom>
          <a:solidFill>
            <a:srgbClr val="FFFFFF"/>
          </a:solidFill>
          <a:ln w="12700">
            <a:solidFill>
              <a:srgbClr val="C3D4FF"/>
            </a:solidFill>
          </a:ln>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95000"/>
              </a:lnSpc>
              <a:spcBef>
                <a:spcPts val="0"/>
              </a:spcBef>
              <a:spcAft>
                <a:spcPts val="0"/>
              </a:spcAft>
            </a:pPr>
            <a:r>
              <a:rPr sz="1200" b="1" i="0">
                <a:solidFill>
                  <a:srgbClr val="1B3FA8"/>
                </a:solidFill>
                <a:latin typeface="Calibri"/>
              </a:rPr>
              <a:t>got the hang of it</a:t>
            </a:r>
          </a:p>
        </p:txBody>
      </p:sp>
      <p:sp>
        <p:nvSpPr>
          <p:cNvPr id="39" name="TextBox 38"/>
          <p:cNvSpPr txBox="1"/>
          <p:nvPr/>
        </p:nvSpPr>
        <p:spPr>
          <a:xfrm>
            <a:off x="8887968" y="4434840"/>
            <a:ext cx="2560320" cy="1188720"/>
          </a:xfrm>
          <a:prstGeom prst="rect">
            <a:avLst/>
          </a:prstGeom>
          <a:noFill/>
        </p:spPr>
        <p:txBody>
          <a:bodyPr wrap="square" anchor="t" lIns="0" tIns="0" rIns="0" bIns="0"/>
          <a:lstStyle/>
          <a:p>
            <a:pPr algn="l">
              <a:lnSpc>
                <a:spcPct val="95000"/>
              </a:lnSpc>
              <a:spcBef>
                <a:spcPts val="0"/>
              </a:spcBef>
              <a:spcAft>
                <a:spcPts val="0"/>
              </a:spcAft>
            </a:pPr>
            <a:r>
              <a:rPr sz="1200" b="0" i="0">
                <a:solidFill>
                  <a:srgbClr val="5C6C86"/>
                </a:solidFill>
                <a:latin typeface="Calibri"/>
              </a:rPr>
              <a:t>These are the phrases we practise all lesson — spot them as you read.</a:t>
            </a:r>
          </a:p>
        </p:txBody>
      </p:sp>
      <p:pic>
        <p:nvPicPr>
          <p:cNvPr id="14" name="!!audio">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6355080" y="658368"/>
            <a:ext cx="530352" cy="530352"/>
          </a:xfrm>
          <a:prstGeom prst="rect">
            <a:avLst/>
          </a:prstGeom>
        </p:spPr>
      </p:pic>
    </p:spTree>
  </p:cSld>
  <p:clrMapOvr>
    <a:masterClrMapping/>
  </p:clrMapOvr>
  <p:transition xmlns:p14="http://schemas.microsoft.com/office/powerpoint/2010/main" spd="med" p14:dur="900">
    <p14:morph type="byObject"/>
  </p:transition>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4"/>
                </p:tgtEl>
              </p:cMediaNode>
            </p:audi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4571886"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09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ABOUT THE CONVERSATION</a:t>
            </a:r>
          </a:p>
        </p:txBody>
      </p:sp>
      <p:sp>
        <p:nvSpPr>
          <p:cNvPr id="12" name="TextBox 11"/>
          <p:cNvSpPr txBox="1"/>
          <p:nvPr/>
        </p:nvSpPr>
        <p:spPr>
          <a:xfrm>
            <a:off x="566928" y="786384"/>
            <a:ext cx="8229600" cy="1371600"/>
          </a:xfrm>
          <a:prstGeom prst="rect">
            <a:avLst/>
          </a:prstGeom>
          <a:noFill/>
        </p:spPr>
        <p:txBody>
          <a:bodyPr wrap="square" anchor="t" lIns="0" tIns="0" rIns="0" bIns="0"/>
          <a:lstStyle/>
          <a:p>
            <a:pPr algn="l">
              <a:lnSpc>
                <a:spcPct val="92000"/>
              </a:lnSpc>
              <a:spcBef>
                <a:spcPts val="0"/>
              </a:spcBef>
              <a:spcAft>
                <a:spcPts val="0"/>
              </a:spcAft>
            </a:pPr>
            <a:r>
              <a:rPr sz="3000" b="1" i="0">
                <a:solidFill>
                  <a:srgbClr val="0F1B33"/>
                </a:solidFill>
                <a:latin typeface="Trebuchet MS"/>
              </a:rPr>
              <a:t>About the Conversation</a:t>
            </a:r>
          </a:p>
        </p:txBody>
      </p:sp>
      <p:sp>
        <p:nvSpPr>
          <p:cNvPr id="13" name="TextBox 12"/>
          <p:cNvSpPr txBox="1"/>
          <p:nvPr/>
        </p:nvSpPr>
        <p:spPr>
          <a:xfrm>
            <a:off x="566928" y="1444752"/>
            <a:ext cx="6583680" cy="329184"/>
          </a:xfrm>
          <a:prstGeom prst="rect">
            <a:avLst/>
          </a:prstGeom>
          <a:noFill/>
        </p:spPr>
        <p:txBody>
          <a:bodyPr wrap="square" anchor="t" lIns="0" tIns="0" rIns="0" bIns="0"/>
          <a:lstStyle/>
          <a:p>
            <a:pPr algn="l">
              <a:lnSpc>
                <a:spcPct val="95000"/>
              </a:lnSpc>
              <a:spcBef>
                <a:spcPts val="0"/>
              </a:spcBef>
              <a:spcAft>
                <a:spcPts val="0"/>
              </a:spcAft>
            </a:pPr>
            <a:r>
              <a:rPr sz="1500" b="0" i="0">
                <a:solidFill>
                  <a:srgbClr val="5C6C86"/>
                </a:solidFill>
                <a:latin typeface="Calibri"/>
              </a:rPr>
              <a:t>In pairs, ask and answer the questions. Then switch roles.</a:t>
            </a:r>
          </a:p>
        </p:txBody>
      </p:sp>
      <p:sp>
        <p:nvSpPr>
          <p:cNvPr id="14" name="Rounded Rectangle 13"/>
          <p:cNvSpPr/>
          <p:nvPr/>
        </p:nvSpPr>
        <p:spPr>
          <a:xfrm>
            <a:off x="566928" y="1938528"/>
            <a:ext cx="6903720" cy="1152144"/>
          </a:xfrm>
          <a:prstGeom prst="roundRect">
            <a:avLst>
              <a:gd name="adj" fmla="val 14285"/>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32688" tIns="91440" rIns="640080" bIns="91440"/>
          <a:lstStyle/>
          <a:p>
            <a:pPr algn="l">
              <a:lnSpc>
                <a:spcPct val="95000"/>
              </a:lnSpc>
              <a:spcBef>
                <a:spcPts val="0"/>
              </a:spcBef>
              <a:spcAft>
                <a:spcPts val="0"/>
              </a:spcAft>
            </a:pPr>
            <a:r>
              <a:rPr sz="1600" b="0" i="0">
                <a:solidFill>
                  <a:srgbClr val="0F1B33"/>
                </a:solidFill>
                <a:latin typeface="Calibri"/>
              </a:rPr>
              <a:t>What doesn’t the grandmother understand?</a:t>
            </a:r>
          </a:p>
        </p:txBody>
      </p:sp>
      <p:sp>
        <p:nvSpPr>
          <p:cNvPr id="15" name="Oval 14"/>
          <p:cNvSpPr/>
          <p:nvPr/>
        </p:nvSpPr>
        <p:spPr>
          <a:xfrm>
            <a:off x="804672" y="2304288"/>
            <a:ext cx="420624" cy="420624"/>
          </a:xfrm>
          <a:prstGeom prst="ellipse">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spcBef>
                <a:spcPts val="0"/>
              </a:spcBef>
              <a:spcAft>
                <a:spcPts val="0"/>
              </a:spcAft>
            </a:pPr>
            <a:r>
              <a:rPr sz="1500" b="1" i="0">
                <a:solidFill>
                  <a:srgbClr val="1B3FA8"/>
                </a:solidFill>
                <a:latin typeface="Calibri"/>
              </a:rPr>
              <a:t>1</a:t>
            </a:r>
          </a:p>
        </p:txBody>
      </p:sp>
      <p:sp>
        <p:nvSpPr>
          <p:cNvPr id="16" name="Oval 15"/>
          <p:cNvSpPr/>
          <p:nvPr/>
        </p:nvSpPr>
        <p:spPr>
          <a:xfrm>
            <a:off x="758952" y="2258568"/>
            <a:ext cx="512064" cy="512064"/>
          </a:xfrm>
          <a:prstGeom prst="ellipse">
            <a:avLst/>
          </a:prstGeom>
          <a:noFill/>
          <a:ln w="27940">
            <a:solidFill>
              <a:srgbClr val="0F6B33"/>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Oval 16"/>
          <p:cNvSpPr/>
          <p:nvPr/>
        </p:nvSpPr>
        <p:spPr>
          <a:xfrm>
            <a:off x="859536" y="2359152"/>
            <a:ext cx="310896" cy="310896"/>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Connector 17"/>
          <p:cNvCxnSpPr/>
          <p:nvPr/>
        </p:nvCxnSpPr>
        <p:spPr>
          <a:xfrm>
            <a:off x="946587" y="2517709"/>
            <a:ext cx="52852" cy="55961"/>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99439" y="2452421"/>
            <a:ext cx="90160" cy="121249"/>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66928" y="3236976"/>
            <a:ext cx="6903720" cy="1152144"/>
          </a:xfrm>
          <a:prstGeom prst="roundRect">
            <a:avLst>
              <a:gd name="adj" fmla="val 14285"/>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32688" tIns="91440" rIns="640080" bIns="91440"/>
          <a:lstStyle/>
          <a:p>
            <a:pPr algn="l">
              <a:lnSpc>
                <a:spcPct val="95000"/>
              </a:lnSpc>
              <a:spcBef>
                <a:spcPts val="0"/>
              </a:spcBef>
              <a:spcAft>
                <a:spcPts val="0"/>
              </a:spcAft>
            </a:pPr>
            <a:r>
              <a:rPr sz="1600" b="0" i="0">
                <a:solidFill>
                  <a:srgbClr val="0F1B33"/>
                </a:solidFill>
                <a:latin typeface="Calibri"/>
              </a:rPr>
              <a:t>What acronym does the grandmother learn? What texting acronyms do you use?</a:t>
            </a:r>
          </a:p>
        </p:txBody>
      </p:sp>
      <p:sp>
        <p:nvSpPr>
          <p:cNvPr id="26" name="Oval 25"/>
          <p:cNvSpPr/>
          <p:nvPr/>
        </p:nvSpPr>
        <p:spPr>
          <a:xfrm>
            <a:off x="804672" y="3602736"/>
            <a:ext cx="420624" cy="420624"/>
          </a:xfrm>
          <a:prstGeom prst="ellipse">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spcBef>
                <a:spcPts val="0"/>
              </a:spcBef>
              <a:spcAft>
                <a:spcPts val="0"/>
              </a:spcAft>
            </a:pPr>
            <a:r>
              <a:rPr sz="1500" b="1" i="0">
                <a:solidFill>
                  <a:srgbClr val="1B3FA8"/>
                </a:solidFill>
                <a:latin typeface="Calibri"/>
              </a:rPr>
              <a:t>2</a:t>
            </a:r>
          </a:p>
        </p:txBody>
      </p:sp>
      <p:sp>
        <p:nvSpPr>
          <p:cNvPr id="27" name="Oval 26"/>
          <p:cNvSpPr/>
          <p:nvPr/>
        </p:nvSpPr>
        <p:spPr>
          <a:xfrm>
            <a:off x="758952" y="3557016"/>
            <a:ext cx="512064" cy="512064"/>
          </a:xfrm>
          <a:prstGeom prst="ellipse">
            <a:avLst/>
          </a:prstGeom>
          <a:noFill/>
          <a:ln w="27940">
            <a:solidFill>
              <a:srgbClr val="0F6B33"/>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Oval 27"/>
          <p:cNvSpPr/>
          <p:nvPr/>
        </p:nvSpPr>
        <p:spPr>
          <a:xfrm>
            <a:off x="859536" y="3657600"/>
            <a:ext cx="310896" cy="310896"/>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Connector 28"/>
          <p:cNvCxnSpPr/>
          <p:nvPr/>
        </p:nvCxnSpPr>
        <p:spPr>
          <a:xfrm>
            <a:off x="946587" y="3816157"/>
            <a:ext cx="52852" cy="55961"/>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999439" y="3750869"/>
            <a:ext cx="90160" cy="121249"/>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66928" y="4535424"/>
            <a:ext cx="6903720" cy="1152144"/>
          </a:xfrm>
          <a:prstGeom prst="roundRect">
            <a:avLst>
              <a:gd name="adj" fmla="val 14285"/>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32688" tIns="91440" rIns="640080" bIns="91440"/>
          <a:lstStyle/>
          <a:p>
            <a:pPr algn="l">
              <a:lnSpc>
                <a:spcPct val="95000"/>
              </a:lnSpc>
              <a:spcBef>
                <a:spcPts val="0"/>
              </a:spcBef>
              <a:spcAft>
                <a:spcPts val="0"/>
              </a:spcAft>
            </a:pPr>
            <a:r>
              <a:rPr sz="1600" b="0" i="0">
                <a:solidFill>
                  <a:srgbClr val="0F1B33"/>
                </a:solidFill>
                <a:latin typeface="Calibri"/>
              </a:rPr>
              <a:t>Tell your partner about a time you explained something or learned something new from a friend.</a:t>
            </a:r>
          </a:p>
        </p:txBody>
      </p:sp>
      <p:sp>
        <p:nvSpPr>
          <p:cNvPr id="40" name="Oval 39"/>
          <p:cNvSpPr/>
          <p:nvPr/>
        </p:nvSpPr>
        <p:spPr>
          <a:xfrm>
            <a:off x="804672" y="4901184"/>
            <a:ext cx="420624" cy="420624"/>
          </a:xfrm>
          <a:prstGeom prst="ellipse">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spcBef>
                <a:spcPts val="0"/>
              </a:spcBef>
              <a:spcAft>
                <a:spcPts val="0"/>
              </a:spcAft>
            </a:pPr>
            <a:r>
              <a:rPr sz="1500" b="1" i="0">
                <a:solidFill>
                  <a:srgbClr val="1B3FA8"/>
                </a:solidFill>
                <a:latin typeface="Calibri"/>
              </a:rPr>
              <a:t>3</a:t>
            </a:r>
          </a:p>
        </p:txBody>
      </p:sp>
      <p:sp>
        <p:nvSpPr>
          <p:cNvPr id="41" name="Oval 40"/>
          <p:cNvSpPr/>
          <p:nvPr/>
        </p:nvSpPr>
        <p:spPr>
          <a:xfrm>
            <a:off x="758952" y="4855464"/>
            <a:ext cx="512064" cy="512064"/>
          </a:xfrm>
          <a:prstGeom prst="ellipse">
            <a:avLst/>
          </a:prstGeom>
          <a:noFill/>
          <a:ln w="27940">
            <a:solidFill>
              <a:srgbClr val="0F6B33"/>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Oval 41"/>
          <p:cNvSpPr/>
          <p:nvPr/>
        </p:nvSpPr>
        <p:spPr>
          <a:xfrm>
            <a:off x="859536" y="4956048"/>
            <a:ext cx="310896" cy="310896"/>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Connector 42"/>
          <p:cNvCxnSpPr/>
          <p:nvPr/>
        </p:nvCxnSpPr>
        <p:spPr>
          <a:xfrm>
            <a:off x="946587" y="5114605"/>
            <a:ext cx="52852" cy="55961"/>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999439" y="5049317"/>
            <a:ext cx="90160" cy="121249"/>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7680960" y="1938528"/>
            <a:ext cx="3886200" cy="3584448"/>
          </a:xfrm>
          <a:prstGeom prst="roundRect">
            <a:avLst>
              <a:gd name="adj" fmla="val 6122"/>
            </a:avLst>
          </a:prstGeom>
          <a:solidFill>
            <a:srgbClr val="F4F8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54" name="Picture 53" descr="image8.png"/>
          <p:cNvPicPr>
            <a:picLocks noChangeAspect="1"/>
          </p:cNvPicPr>
          <p:nvPr/>
        </p:nvPicPr>
        <p:blipFill>
          <a:blip r:embed="rId3"/>
          <a:stretch>
            <a:fillRect/>
          </a:stretch>
        </p:blipFill>
        <p:spPr>
          <a:xfrm>
            <a:off x="8685629" y="2048256"/>
            <a:ext cx="1876860" cy="2615184"/>
          </a:xfrm>
          <a:prstGeom prst="rect">
            <a:avLst/>
          </a:prstGeom>
        </p:spPr>
      </p:pic>
      <p:sp>
        <p:nvSpPr>
          <p:cNvPr id="55" name="TextBox 54"/>
          <p:cNvSpPr txBox="1"/>
          <p:nvPr/>
        </p:nvSpPr>
        <p:spPr>
          <a:xfrm>
            <a:off x="7818120" y="4700016"/>
            <a:ext cx="3611880" cy="731520"/>
          </a:xfrm>
          <a:prstGeom prst="rect">
            <a:avLst/>
          </a:prstGeom>
          <a:noFill/>
        </p:spPr>
        <p:txBody>
          <a:bodyPr wrap="square" anchor="t" lIns="0" tIns="0" rIns="0" bIns="0"/>
          <a:lstStyle/>
          <a:p>
            <a:pPr algn="ctr">
              <a:lnSpc>
                <a:spcPct val="95000"/>
              </a:lnSpc>
              <a:spcBef>
                <a:spcPts val="0"/>
              </a:spcBef>
              <a:spcAft>
                <a:spcPts val="0"/>
              </a:spcAft>
            </a:pPr>
            <a:r>
              <a:rPr sz="1200" b="0" i="0">
                <a:solidFill>
                  <a:srgbClr val="5C6C86"/>
                </a:solidFill>
                <a:latin typeface="Calibri"/>
              </a:rPr>
              <a:t>Switch roles after every question so both partners ask and answer.</a:t>
            </a:r>
          </a:p>
        </p:txBody>
      </p:sp>
      <p:sp>
        <p:nvSpPr>
          <p:cNvPr id="56" name="TextBox 55"/>
          <p:cNvSpPr txBox="1"/>
          <p:nvPr/>
        </p:nvSpPr>
        <p:spPr>
          <a:xfrm>
            <a:off x="566928" y="5961888"/>
            <a:ext cx="676656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a question once the pair has answered it.</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4"/>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par>
                          <p:cTn id="19" presetID="10" presetClass="entr"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350"/>
                                  <p:tgtEl>
                                    <p:spTgt spid="18"/>
                                  </p:tgtEl>
                                </p:cBhvr>
                              </p:animEffect>
                            </p:childTnLst>
                          </p:cTn>
                        </p:par>
                        <p:par>
                          <p:cTn id="22" presetID="10" presetClass="entr"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350"/>
                                  <p:tgtEl>
                                    <p:spTgt spid="19"/>
                                  </p:tgtEl>
                                </p:cBhvr>
                              </p:animEffect>
                            </p:childTnLst>
                          </p:cTn>
                        </p:par>
                      </p:childTnLst>
                    </p:cTn>
                  </p:par>
                </p:childTnLst>
              </p:cTn>
            </p:seq>
            <p:seq concurrent="1" nextAc="seek">
              <p:cTn id="25" restart="whenNotActive" fill="hold" evtFilter="cancelBubble" nodeType="interactiveSeq">
                <p:stCondLst>
                  <p:cond evt="onClick" delay="0">
                    <p:tgtEl>
                      <p:spTgt spid="25"/>
                    </p:tgtEl>
                  </p:cond>
                </p:stCondLst>
                <p:endSync evt="end" delay="0">
                  <p:rtn val="all"/>
                </p:endSync>
                <p:childTnLst>
                  <p:par>
                    <p:cTn id="26" fill="hold">
                      <p:stCondLst>
                        <p:cond delay="0"/>
                      </p:stCondLst>
                      <p:childTnLst>
                        <p:par>
                          <p:cTn id="27" presetID="10" presetClass="entr"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350"/>
                                  <p:tgtEl>
                                    <p:spTgt spid="27"/>
                                  </p:tgtEl>
                                </p:cBhvr>
                              </p:animEffect>
                            </p:childTnLst>
                          </p:cTn>
                        </p:par>
                        <p:par>
                          <p:cTn id="30" presetID="10" presetClass="entr"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350"/>
                                  <p:tgtEl>
                                    <p:spTgt spid="28"/>
                                  </p:tgtEl>
                                </p:cBhvr>
                              </p:animEffect>
                            </p:childTnLst>
                          </p:cTn>
                        </p:par>
                        <p:par>
                          <p:cTn id="33" presetID="10" presetClass="entr"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350"/>
                                  <p:tgtEl>
                                    <p:spTgt spid="29"/>
                                  </p:tgtEl>
                                </p:cBhvr>
                              </p:animEffect>
                            </p:childTnLst>
                          </p:cTn>
                        </p:par>
                        <p:par>
                          <p:cTn id="36" presetID="10" presetClass="entr"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350"/>
                                  <p:tgtEl>
                                    <p:spTgt spid="30"/>
                                  </p:tgtEl>
                                </p:cBhvr>
                              </p:animEffect>
                            </p:childTnLst>
                          </p:cTn>
                        </p:par>
                      </p:childTnLst>
                    </p:cTn>
                  </p:par>
                </p:childTnLst>
              </p:cTn>
            </p:seq>
            <p:seq concurrent="1" nextAc="seek">
              <p:cTn id="39" restart="whenNotActive" fill="hold" evtFilter="cancelBubble" nodeType="interactiveSeq">
                <p:stCondLst>
                  <p:cond evt="onClick" delay="0">
                    <p:tgtEl>
                      <p:spTgt spid="39"/>
                    </p:tgtEl>
                  </p:cond>
                </p:stCondLst>
                <p:endSync evt="end" delay="0">
                  <p:rtn val="all"/>
                </p:endSync>
                <p:childTnLst>
                  <p:par>
                    <p:cTn id="40" fill="hold">
                      <p:stCondLst>
                        <p:cond delay="0"/>
                      </p:stCondLst>
                      <p:childTnLst>
                        <p:par>
                          <p:cTn id="41" presetID="10" presetClass="entr" fill="hold" grpId="0" nodeType="click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350"/>
                                  <p:tgtEl>
                                    <p:spTgt spid="41"/>
                                  </p:tgtEl>
                                </p:cBhvr>
                              </p:animEffect>
                            </p:childTnLst>
                          </p:cTn>
                        </p:par>
                        <p:par>
                          <p:cTn id="44" presetID="10" presetClass="entr" fill="hold" grpId="0"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fade">
                                <p:cBhvr>
                                  <p:cTn id="46" dur="350"/>
                                  <p:tgtEl>
                                    <p:spTgt spid="42"/>
                                  </p:tgtEl>
                                </p:cBhvr>
                              </p:animEffect>
                            </p:childTnLst>
                          </p:cTn>
                        </p:par>
                        <p:par>
                          <p:cTn id="47" presetID="10" presetClass="entr"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350"/>
                                  <p:tgtEl>
                                    <p:spTgt spid="43"/>
                                  </p:tgtEl>
                                </p:cBhvr>
                              </p:animEffect>
                            </p:childTnLst>
                          </p:cTn>
                        </p:par>
                        <p:par>
                          <p:cTn id="50" presetID="10" presetClass="entr" fill="hold" grpId="0" nodeType="with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350"/>
                                  <p:tgtEl>
                                    <p:spTgt spid="44"/>
                                  </p:tgtEl>
                                </p:cBhvr>
                              </p:animEffect>
                            </p:childTnLst>
                          </p:cTn>
                        </p:par>
                      </p:childTnLst>
                    </p:cTn>
                  </p:par>
                </p:childTnLst>
              </p:cTn>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bg1"/>
          <p:cNvSpPr/>
          <p:nvPr/>
        </p:nvSpPr>
        <p:spPr>
          <a:xfrm>
            <a:off x="7680960" y="-1828800"/>
            <a:ext cx="6583680" cy="6583680"/>
          </a:xfrm>
          <a:prstGeom prst="ellipse">
            <a:avLst/>
          </a:prstGeom>
          <a:solidFill>
            <a:srgbClr val="14284A">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645920" y="4389120"/>
            <a:ext cx="4023360" cy="4023360"/>
          </a:xfrm>
          <a:prstGeom prst="ellipse">
            <a:avLst/>
          </a:prstGeom>
          <a:solidFill>
            <a:srgbClr val="14284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2A447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5079873" cy="50292"/>
          </a:xfrm>
          <a:prstGeom prst="rect">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93A9CC"/>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93A9CC"/>
                </a:solidFill>
                <a:latin typeface="Calibri"/>
              </a:rPr>
              <a:t>10 / 24</a:t>
            </a:r>
          </a:p>
        </p:txBody>
      </p:sp>
      <p:sp>
        <p:nvSpPr>
          <p:cNvPr id="9" name="Rounded Rectangle 8"/>
          <p:cNvSpPr/>
          <p:nvPr/>
        </p:nvSpPr>
        <p:spPr>
          <a:xfrm>
            <a:off x="8338479" y="118872"/>
            <a:ext cx="3432592" cy="43891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8FB0FF"/>
                </a:solidFill>
                <a:latin typeface="Calibri"/>
              </a:rPr>
              <a:t>SPEAKING</a:t>
            </a:r>
          </a:p>
        </p:txBody>
      </p:sp>
      <p:sp>
        <p:nvSpPr>
          <p:cNvPr id="12" name="!!bubble"/>
          <p:cNvSpPr/>
          <p:nvPr/>
        </p:nvSpPr>
        <p:spPr>
          <a:xfrm>
            <a:off x="9704527" y="6181344"/>
            <a:ext cx="365760" cy="270662"/>
          </a:xfrm>
          <a:prstGeom prst="roundRect">
            <a:avLst>
              <a:gd name="adj" fmla="val 35135"/>
            </a:avLst>
          </a:prstGeom>
          <a:solidFill>
            <a:srgbClr val="1B3A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dot1"/>
          <p:cNvSpPr/>
          <p:nvPr/>
        </p:nvSpPr>
        <p:spPr>
          <a:xfrm>
            <a:off x="9792310" y="6289609"/>
            <a:ext cx="45720" cy="45720"/>
          </a:xfrm>
          <a:prstGeom prst="ellipse">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dot2"/>
          <p:cNvSpPr/>
          <p:nvPr/>
        </p:nvSpPr>
        <p:spPr>
          <a:xfrm>
            <a:off x="9859975" y="6289609"/>
            <a:ext cx="45720" cy="45720"/>
          </a:xfrm>
          <a:prstGeom prst="ellipse">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dot3"/>
          <p:cNvSpPr/>
          <p:nvPr/>
        </p:nvSpPr>
        <p:spPr>
          <a:xfrm>
            <a:off x="9927641" y="6289609"/>
            <a:ext cx="45720" cy="45720"/>
          </a:xfrm>
          <a:prstGeom prst="ellipse">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566928" y="731520"/>
            <a:ext cx="5120640" cy="731520"/>
          </a:xfrm>
          <a:prstGeom prst="rect">
            <a:avLst/>
          </a:prstGeom>
          <a:noFill/>
        </p:spPr>
        <p:txBody>
          <a:bodyPr wrap="square" anchor="t" lIns="0" tIns="0" rIns="0" bIns="0"/>
          <a:lstStyle/>
          <a:p>
            <a:pPr algn="l">
              <a:lnSpc>
                <a:spcPct val="95000"/>
              </a:lnSpc>
              <a:spcBef>
                <a:spcPts val="0"/>
              </a:spcBef>
              <a:spcAft>
                <a:spcPts val="0"/>
              </a:spcAft>
            </a:pPr>
            <a:r>
              <a:rPr sz="3800" b="1" i="0">
                <a:solidFill>
                  <a:srgbClr val="FFFFFF"/>
                </a:solidFill>
                <a:latin typeface="Trebuchet MS"/>
              </a:rPr>
              <a:t>Role-Play Time</a:t>
            </a:r>
          </a:p>
        </p:txBody>
      </p:sp>
      <p:sp>
        <p:nvSpPr>
          <p:cNvPr id="17" name="TextBox 16"/>
          <p:cNvSpPr txBox="1"/>
          <p:nvPr/>
        </p:nvSpPr>
        <p:spPr>
          <a:xfrm>
            <a:off x="566928" y="1408176"/>
            <a:ext cx="7680960" cy="365760"/>
          </a:xfrm>
          <a:prstGeom prst="rect">
            <a:avLst/>
          </a:prstGeom>
          <a:noFill/>
        </p:spPr>
        <p:txBody>
          <a:bodyPr wrap="square" anchor="t" lIns="0" tIns="0" rIns="0" bIns="0"/>
          <a:lstStyle/>
          <a:p>
            <a:pPr algn="l">
              <a:lnSpc>
                <a:spcPct val="95000"/>
              </a:lnSpc>
              <a:spcBef>
                <a:spcPts val="0"/>
              </a:spcBef>
              <a:spcAft>
                <a:spcPts val="0"/>
              </a:spcAft>
            </a:pPr>
            <a:r>
              <a:rPr sz="1350" b="0" i="0">
                <a:solidFill>
                  <a:srgbClr val="A9BCD9"/>
                </a:solidFill>
                <a:latin typeface="Calibri"/>
              </a:rPr>
              <a:t>Two roles, one script. Read it, then swap.</a:t>
            </a:r>
          </a:p>
        </p:txBody>
      </p:sp>
      <p:sp>
        <p:nvSpPr>
          <p:cNvPr id="18" name="Rounded Rectangle 17"/>
          <p:cNvSpPr/>
          <p:nvPr/>
        </p:nvSpPr>
        <p:spPr>
          <a:xfrm>
            <a:off x="868680" y="1700784"/>
            <a:ext cx="5074920" cy="4169664"/>
          </a:xfrm>
          <a:prstGeom prst="roundRect">
            <a:avLst>
              <a:gd name="adj" fmla="val 5701"/>
            </a:avLst>
          </a:prstGeom>
          <a:solidFill>
            <a:srgbClr val="14284A"/>
          </a:solidFill>
          <a:ln w="13970">
            <a:solidFill>
              <a:srgbClr val="2A4470"/>
            </a:solidFill>
          </a:ln>
          <a:effectLst>
            <a:outerShdw blurRad="355600" dist="88900" dir="540000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Rounded Rectangle 18"/>
          <p:cNvSpPr/>
          <p:nvPr/>
        </p:nvSpPr>
        <p:spPr>
          <a:xfrm>
            <a:off x="1088136" y="1517904"/>
            <a:ext cx="1572768" cy="402336"/>
          </a:xfrm>
          <a:prstGeom prst="roundRect">
            <a:avLst>
              <a:gd name="adj" fmla="val 50000"/>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95000"/>
              </a:lnSpc>
              <a:spcBef>
                <a:spcPts val="0"/>
              </a:spcBef>
              <a:spcAft>
                <a:spcPts val="0"/>
              </a:spcAft>
            </a:pPr>
            <a:r>
              <a:rPr sz="1350" b="1" i="0">
                <a:solidFill>
                  <a:srgbClr val="FFFFFF"/>
                </a:solidFill>
                <a:latin typeface="Calibri"/>
              </a:rPr>
              <a:t>Grandma</a:t>
            </a:r>
          </a:p>
        </p:txBody>
      </p:sp>
      <p:sp>
        <p:nvSpPr>
          <p:cNvPr id="20" name="Rounded Rectangle 19"/>
          <p:cNvSpPr/>
          <p:nvPr/>
        </p:nvSpPr>
        <p:spPr>
          <a:xfrm>
            <a:off x="1051560" y="2066544"/>
            <a:ext cx="1115568" cy="2688336"/>
          </a:xfrm>
          <a:prstGeom prst="roundRect">
            <a:avLst>
              <a:gd name="adj" fmla="val 13114"/>
            </a:avLst>
          </a:prstGeom>
          <a:solidFill>
            <a:srgbClr val="14284A"/>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21" name="Picture 20" descr="image8.png"/>
          <p:cNvPicPr>
            <a:picLocks noChangeAspect="1"/>
          </p:cNvPicPr>
          <p:nvPr/>
        </p:nvPicPr>
        <p:blipFill>
          <a:blip r:embed="rId3"/>
          <a:stretch>
            <a:fillRect/>
          </a:stretch>
        </p:blipFill>
        <p:spPr>
          <a:xfrm>
            <a:off x="1088136" y="2684469"/>
            <a:ext cx="1042415" cy="1452484"/>
          </a:xfrm>
          <a:prstGeom prst="rect">
            <a:avLst/>
          </a:prstGeom>
        </p:spPr>
      </p:pic>
      <p:sp>
        <p:nvSpPr>
          <p:cNvPr id="22" name="TextBox 21"/>
          <p:cNvSpPr txBox="1"/>
          <p:nvPr/>
        </p:nvSpPr>
        <p:spPr>
          <a:xfrm>
            <a:off x="2258568" y="1810512"/>
            <a:ext cx="3639312" cy="228600"/>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What are you doing, Cara?</a:t>
            </a:r>
          </a:p>
        </p:txBody>
      </p:sp>
      <p:sp>
        <p:nvSpPr>
          <p:cNvPr id="23" name="TextBox 22"/>
          <p:cNvSpPr txBox="1"/>
          <p:nvPr/>
        </p:nvSpPr>
        <p:spPr>
          <a:xfrm>
            <a:off x="2258568" y="2026310"/>
            <a:ext cx="3639312" cy="228600"/>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What’s that beep?</a:t>
            </a:r>
          </a:p>
        </p:txBody>
      </p:sp>
      <p:sp>
        <p:nvSpPr>
          <p:cNvPr id="24" name="TextBox 23"/>
          <p:cNvSpPr txBox="1"/>
          <p:nvPr/>
        </p:nvSpPr>
        <p:spPr>
          <a:xfrm>
            <a:off x="2258568" y="2242109"/>
            <a:ext cx="3639312" cy="420624"/>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I don’t understand. How on earth do you type what you want to say so quickly?</a:t>
            </a:r>
          </a:p>
        </p:txBody>
      </p:sp>
      <p:sp>
        <p:nvSpPr>
          <p:cNvPr id="26" name="TextBox 25"/>
          <p:cNvSpPr txBox="1"/>
          <p:nvPr/>
        </p:nvSpPr>
        <p:spPr>
          <a:xfrm>
            <a:off x="2258568" y="2649931"/>
            <a:ext cx="3639312" cy="228600"/>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That’s a lot to type.</a:t>
            </a:r>
          </a:p>
        </p:txBody>
      </p:sp>
      <p:sp>
        <p:nvSpPr>
          <p:cNvPr id="31" name="TextBox 30"/>
          <p:cNvSpPr txBox="1"/>
          <p:nvPr/>
        </p:nvSpPr>
        <p:spPr>
          <a:xfrm>
            <a:off x="2258568" y="2865730"/>
            <a:ext cx="3639312" cy="228600"/>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DYWT? What does that mean?</a:t>
            </a:r>
          </a:p>
        </p:txBody>
      </p:sp>
      <p:sp>
        <p:nvSpPr>
          <p:cNvPr id="36" name="TextBox 35"/>
          <p:cNvSpPr txBox="1"/>
          <p:nvPr/>
        </p:nvSpPr>
        <p:spPr>
          <a:xfrm>
            <a:off x="2258568" y="3081528"/>
            <a:ext cx="3639312" cy="228600"/>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Oh. OK. Now what?</a:t>
            </a:r>
          </a:p>
        </p:txBody>
      </p:sp>
      <p:sp>
        <p:nvSpPr>
          <p:cNvPr id="41" name="TextBox 40"/>
          <p:cNvSpPr txBox="1"/>
          <p:nvPr/>
        </p:nvSpPr>
        <p:spPr>
          <a:xfrm>
            <a:off x="2258568" y="3297326"/>
            <a:ext cx="3639312" cy="228600"/>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What did she say?</a:t>
            </a:r>
          </a:p>
        </p:txBody>
      </p:sp>
      <p:sp>
        <p:nvSpPr>
          <p:cNvPr id="46" name="TextBox 45"/>
          <p:cNvSpPr txBox="1"/>
          <p:nvPr/>
        </p:nvSpPr>
        <p:spPr>
          <a:xfrm>
            <a:off x="2258568" y="3513125"/>
            <a:ext cx="3639312" cy="420624"/>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I think I get it. She’s saying, “Great. Be over in ten minutes.”</a:t>
            </a:r>
          </a:p>
        </p:txBody>
      </p:sp>
      <p:sp>
        <p:nvSpPr>
          <p:cNvPr id="51" name="Rounded Rectangle 50"/>
          <p:cNvSpPr/>
          <p:nvPr/>
        </p:nvSpPr>
        <p:spPr>
          <a:xfrm>
            <a:off x="6309360" y="1700784"/>
            <a:ext cx="5074920" cy="4169664"/>
          </a:xfrm>
          <a:prstGeom prst="roundRect">
            <a:avLst>
              <a:gd name="adj" fmla="val 5701"/>
            </a:avLst>
          </a:prstGeom>
          <a:solidFill>
            <a:srgbClr val="14284A"/>
          </a:solidFill>
          <a:ln w="13970">
            <a:solidFill>
              <a:srgbClr val="2A4470"/>
            </a:solidFill>
          </a:ln>
          <a:effectLst>
            <a:outerShdw blurRad="355600" dist="88900" dir="540000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Rounded Rectangle 51"/>
          <p:cNvSpPr/>
          <p:nvPr/>
        </p:nvSpPr>
        <p:spPr>
          <a:xfrm>
            <a:off x="6528816" y="1517904"/>
            <a:ext cx="1572768" cy="402336"/>
          </a:xfrm>
          <a:prstGeom prst="roundRect">
            <a:avLst>
              <a:gd name="adj" fmla="val 50000"/>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lnSpc>
                <a:spcPct val="95000"/>
              </a:lnSpc>
              <a:spcBef>
                <a:spcPts val="0"/>
              </a:spcBef>
              <a:spcAft>
                <a:spcPts val="0"/>
              </a:spcAft>
            </a:pPr>
            <a:r>
              <a:rPr sz="1350" b="1" i="0">
                <a:solidFill>
                  <a:srgbClr val="FFFFFF"/>
                </a:solidFill>
                <a:latin typeface="Calibri"/>
              </a:rPr>
              <a:t>Cara</a:t>
            </a:r>
          </a:p>
        </p:txBody>
      </p:sp>
      <p:sp>
        <p:nvSpPr>
          <p:cNvPr id="53" name="Rounded Rectangle 52"/>
          <p:cNvSpPr/>
          <p:nvPr/>
        </p:nvSpPr>
        <p:spPr>
          <a:xfrm>
            <a:off x="6492240" y="2066544"/>
            <a:ext cx="1115568" cy="2688336"/>
          </a:xfrm>
          <a:prstGeom prst="roundRect">
            <a:avLst>
              <a:gd name="adj" fmla="val 13114"/>
            </a:avLst>
          </a:prstGeom>
          <a:solidFill>
            <a:srgbClr val="14284A"/>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54" name="Picture 53" descr="image8.png"/>
          <p:cNvPicPr>
            <a:picLocks noChangeAspect="1"/>
          </p:cNvPicPr>
          <p:nvPr/>
        </p:nvPicPr>
        <p:blipFill>
          <a:blip r:embed="rId3"/>
          <a:stretch>
            <a:fillRect/>
          </a:stretch>
        </p:blipFill>
        <p:spPr>
          <a:xfrm flipH="1">
            <a:off x="6528816" y="2684469"/>
            <a:ext cx="1042415" cy="1452484"/>
          </a:xfrm>
          <a:prstGeom prst="rect">
            <a:avLst/>
          </a:prstGeom>
        </p:spPr>
      </p:pic>
      <p:sp>
        <p:nvSpPr>
          <p:cNvPr id="55" name="TextBox 54"/>
          <p:cNvSpPr txBox="1"/>
          <p:nvPr/>
        </p:nvSpPr>
        <p:spPr>
          <a:xfrm>
            <a:off x="7699248" y="1810512"/>
            <a:ext cx="3639312" cy="420624"/>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I’m texting Maria. I haven’t seen her all week, so I’m just saying “hi.”</a:t>
            </a:r>
          </a:p>
        </p:txBody>
      </p:sp>
      <p:sp>
        <p:nvSpPr>
          <p:cNvPr id="56" name="TextBox 55"/>
          <p:cNvSpPr txBox="1"/>
          <p:nvPr/>
        </p:nvSpPr>
        <p:spPr>
          <a:xfrm>
            <a:off x="7699248" y="2218334"/>
            <a:ext cx="3639312" cy="420624"/>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It’s Maria. She just sent a text message back to me.</a:t>
            </a:r>
          </a:p>
        </p:txBody>
      </p:sp>
      <p:sp>
        <p:nvSpPr>
          <p:cNvPr id="61" name="TextBox 60"/>
          <p:cNvSpPr txBox="1"/>
          <p:nvPr/>
        </p:nvSpPr>
        <p:spPr>
          <a:xfrm>
            <a:off x="7699248" y="2626157"/>
            <a:ext cx="3639312" cy="804672"/>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You don’t actually type the words out. You use abbreviations and acronyms. Hold on. I’ll show you. Right now I’m asking if she wants to come over and hang out.</a:t>
            </a:r>
          </a:p>
        </p:txBody>
      </p:sp>
      <p:sp>
        <p:nvSpPr>
          <p:cNvPr id="66" name="TextBox 65"/>
          <p:cNvSpPr txBox="1"/>
          <p:nvPr/>
        </p:nvSpPr>
        <p:spPr>
          <a:xfrm>
            <a:off x="7699248" y="3418027"/>
            <a:ext cx="3639312" cy="420624"/>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Right. So instead I type “DYWT come ovr.” Does that make sense?</a:t>
            </a:r>
          </a:p>
        </p:txBody>
      </p:sp>
      <p:sp>
        <p:nvSpPr>
          <p:cNvPr id="71" name="TextBox 70"/>
          <p:cNvSpPr txBox="1"/>
          <p:nvPr/>
        </p:nvSpPr>
        <p:spPr>
          <a:xfrm>
            <a:off x="7699248" y="3825850"/>
            <a:ext cx="3639312" cy="420624"/>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DYWT means “Do you want to.” It’s the first letter of each word.</a:t>
            </a:r>
          </a:p>
        </p:txBody>
      </p:sp>
      <p:sp>
        <p:nvSpPr>
          <p:cNvPr id="76" name="TextBox 75"/>
          <p:cNvSpPr txBox="1"/>
          <p:nvPr/>
        </p:nvSpPr>
        <p:spPr>
          <a:xfrm>
            <a:off x="7699248" y="4233672"/>
            <a:ext cx="3639312" cy="228600"/>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She’ll respond in a second. (beep) There.</a:t>
            </a:r>
          </a:p>
        </p:txBody>
      </p:sp>
      <p:sp>
        <p:nvSpPr>
          <p:cNvPr id="81" name="TextBox 80"/>
          <p:cNvSpPr txBox="1"/>
          <p:nvPr/>
        </p:nvSpPr>
        <p:spPr>
          <a:xfrm>
            <a:off x="7699248" y="4449470"/>
            <a:ext cx="3639312" cy="228600"/>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(spelling it out) Gr8. B ovr n 10 mins.</a:t>
            </a:r>
          </a:p>
        </p:txBody>
      </p:sp>
      <p:sp>
        <p:nvSpPr>
          <p:cNvPr id="86" name="TextBox 85"/>
          <p:cNvSpPr txBox="1"/>
          <p:nvPr/>
        </p:nvSpPr>
        <p:spPr>
          <a:xfrm>
            <a:off x="7699248" y="4665269"/>
            <a:ext cx="3639312" cy="228600"/>
          </a:xfrm>
          <a:prstGeom prst="rect">
            <a:avLst/>
          </a:prstGeom>
          <a:noFill/>
        </p:spPr>
        <p:txBody>
          <a:bodyPr wrap="square" anchor="t" lIns="0" tIns="0" rIns="0" bIns="0"/>
          <a:lstStyle/>
          <a:p>
            <a:pPr algn="l">
              <a:lnSpc>
                <a:spcPct val="98000"/>
              </a:lnSpc>
              <a:spcBef>
                <a:spcPts val="0"/>
              </a:spcBef>
              <a:spcAft>
                <a:spcPts val="0"/>
              </a:spcAft>
            </a:pPr>
            <a:r>
              <a:rPr sz="1200" b="0" i="0">
                <a:solidFill>
                  <a:srgbClr val="E2EBF9"/>
                </a:solidFill>
                <a:latin typeface="Calibri"/>
              </a:rPr>
              <a:t>Now you’ve got the hang of it, Grandma!</a:t>
            </a:r>
          </a:p>
        </p:txBody>
      </p:sp>
      <p:sp>
        <p:nvSpPr>
          <p:cNvPr id="91" name="TextBox 90"/>
          <p:cNvSpPr txBox="1"/>
          <p:nvPr/>
        </p:nvSpPr>
        <p:spPr>
          <a:xfrm>
            <a:off x="566928" y="5961888"/>
            <a:ext cx="10515600" cy="274320"/>
          </a:xfrm>
          <a:prstGeom prst="rect">
            <a:avLst/>
          </a:prstGeom>
          <a:noFill/>
        </p:spPr>
        <p:txBody>
          <a:bodyPr wrap="square" anchor="t" lIns="0" tIns="0" rIns="0" bIns="0"/>
          <a:lstStyle/>
          <a:p>
            <a:pPr algn="l">
              <a:lnSpc>
                <a:spcPct val="95000"/>
              </a:lnSpc>
              <a:spcBef>
                <a:spcPts val="0"/>
              </a:spcBef>
              <a:spcAft>
                <a:spcPts val="0"/>
              </a:spcAft>
            </a:pPr>
            <a:r>
              <a:rPr sz="1200" b="0" i="0">
                <a:solidFill>
                  <a:srgbClr val="A9BCD9"/>
                </a:solidFill>
                <a:latin typeface="Calibri"/>
              </a:rPr>
              <a:t>Tap a card to reveal that role’s lines — each half of the class reads its own part.</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8"/>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350"/>
                                  <p:tgtEl>
                                    <p:spTgt spid="22"/>
                                  </p:tgtEl>
                                </p:cBhvr>
                              </p:animEffect>
                            </p:childTnLst>
                          </p:cTn>
                        </p:par>
                      </p:childTnLst>
                    </p:cTn>
                  </p:par>
                </p:childTnLst>
              </p:cTn>
            </p:seq>
            <p:seq concurrent="1" nextAc="seek">
              <p:cTn id="16" restart="whenNotActive" fill="hold" evtFilter="cancelBubble" nodeType="interactiveSeq">
                <p:stCondLst>
                  <p:cond evt="onClick" delay="0">
                    <p:tgtEl>
                      <p:spTgt spid="18"/>
                    </p:tgtEl>
                  </p:cond>
                </p:stCondLst>
                <p:endSync evt="end" delay="0">
                  <p:rtn val="all"/>
                </p:endSync>
                <p:childTnLst>
                  <p:par>
                    <p:cTn id="17" fill="hold">
                      <p:stCondLst>
                        <p:cond delay="0"/>
                      </p:stCondLst>
                      <p:childTnLst>
                        <p:par>
                          <p:cTn id="18" presetID="10" presetClass="entr"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350"/>
                                  <p:tgtEl>
                                    <p:spTgt spid="23"/>
                                  </p:tgtEl>
                                </p:cBhvr>
                              </p:animEffect>
                            </p:childTnLst>
                          </p:cTn>
                        </p:par>
                      </p:childTnLst>
                    </p:cTn>
                  </p:par>
                </p:childTnLst>
              </p:cTn>
            </p:seq>
            <p:seq concurrent="1" nextAc="seek">
              <p:cTn id="21" restart="whenNotActive" fill="hold" evtFilter="cancelBubble" nodeType="interactiveSeq">
                <p:stCondLst>
                  <p:cond evt="onClick" delay="0">
                    <p:tgtEl>
                      <p:spTgt spid="18"/>
                    </p:tgtEl>
                  </p:cond>
                </p:stCondLst>
                <p:endSync evt="end" delay="0">
                  <p:rtn val="all"/>
                </p:endSync>
                <p:childTnLst>
                  <p:par>
                    <p:cTn id="22" fill="hold">
                      <p:stCondLst>
                        <p:cond delay="0"/>
                      </p:stCondLst>
                      <p:childTnLst>
                        <p:par>
                          <p:cTn id="23" presetID="10" presetClass="entr"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350"/>
                                  <p:tgtEl>
                                    <p:spTgt spid="24"/>
                                  </p:tgtEl>
                                </p:cBhvr>
                              </p:animEffect>
                            </p:childTnLst>
                          </p:cTn>
                        </p:par>
                      </p:childTnLst>
                    </p:cTn>
                  </p:par>
                </p:childTnLst>
              </p:cTn>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presetID="10" presetClass="entr"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350"/>
                                  <p:tgtEl>
                                    <p:spTgt spid="26"/>
                                  </p:tgtEl>
                                </p:cBhvr>
                              </p:animEffect>
                            </p:childTnLst>
                          </p:cTn>
                        </p:par>
                      </p:childTnLst>
                    </p:cTn>
                  </p:par>
                </p:childTnLst>
              </p:cTn>
            </p:seq>
            <p:seq concurrent="1" nextAc="seek">
              <p:cTn id="31" restart="whenNotActive" fill="hold" evtFilter="cancelBubble" nodeType="interactiveSeq">
                <p:stCondLst>
                  <p:cond evt="onClick" delay="0">
                    <p:tgtEl>
                      <p:spTgt spid="18"/>
                    </p:tgtEl>
                  </p:cond>
                </p:stCondLst>
                <p:endSync evt="end" delay="0">
                  <p:rtn val="all"/>
                </p:endSync>
                <p:childTnLst>
                  <p:par>
                    <p:cTn id="32" fill="hold">
                      <p:stCondLst>
                        <p:cond delay="0"/>
                      </p:stCondLst>
                      <p:childTnLst>
                        <p:par>
                          <p:cTn id="33" presetID="10" presetClass="entr"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350"/>
                                  <p:tgtEl>
                                    <p:spTgt spid="31"/>
                                  </p:tgtEl>
                                </p:cBhvr>
                              </p:animEffect>
                            </p:childTnLst>
                          </p:cTn>
                        </p:par>
                      </p:childTnLst>
                    </p:cTn>
                  </p:par>
                </p:childTnLst>
              </p:cTn>
            </p:seq>
            <p:seq concurrent="1" nextAc="seek">
              <p:cTn id="36" restart="whenNotActive" fill="hold" evtFilter="cancelBubble" nodeType="interactiveSeq">
                <p:stCondLst>
                  <p:cond evt="onClick" delay="0">
                    <p:tgtEl>
                      <p:spTgt spid="18"/>
                    </p:tgtEl>
                  </p:cond>
                </p:stCondLst>
                <p:endSync evt="end" delay="0">
                  <p:rtn val="all"/>
                </p:endSync>
                <p:childTnLst>
                  <p:par>
                    <p:cTn id="37" fill="hold">
                      <p:stCondLst>
                        <p:cond delay="0"/>
                      </p:stCondLst>
                      <p:childTnLst>
                        <p:par>
                          <p:cTn id="38" presetID="10" presetClass="entr"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350"/>
                                  <p:tgtEl>
                                    <p:spTgt spid="36"/>
                                  </p:tgtEl>
                                </p:cBhvr>
                              </p:animEffect>
                            </p:childTnLst>
                          </p:cTn>
                        </p:par>
                      </p:childTnLst>
                    </p:cTn>
                  </p:par>
                </p:childTnLst>
              </p:cTn>
            </p:seq>
            <p:seq concurrent="1" nextAc="seek">
              <p:cTn id="41" restart="whenNotActive" fill="hold" evtFilter="cancelBubble" nodeType="interactiveSeq">
                <p:stCondLst>
                  <p:cond evt="onClick" delay="0">
                    <p:tgtEl>
                      <p:spTgt spid="18"/>
                    </p:tgtEl>
                  </p:cond>
                </p:stCondLst>
                <p:endSync evt="end" delay="0">
                  <p:rtn val="all"/>
                </p:endSync>
                <p:childTnLst>
                  <p:par>
                    <p:cTn id="42" fill="hold">
                      <p:stCondLst>
                        <p:cond delay="0"/>
                      </p:stCondLst>
                      <p:childTnLst>
                        <p:par>
                          <p:cTn id="43" presetID="10" presetClass="entr"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350"/>
                                  <p:tgtEl>
                                    <p:spTgt spid="41"/>
                                  </p:tgtEl>
                                </p:cBhvr>
                              </p:animEffect>
                            </p:childTnLst>
                          </p:cTn>
                        </p:par>
                      </p:childTnLst>
                    </p:cTn>
                  </p:par>
                </p:childTnLst>
              </p:cTn>
            </p:seq>
            <p:seq concurrent="1" nextAc="seek">
              <p:cTn id="46" restart="whenNotActive" fill="hold" evtFilter="cancelBubble" nodeType="interactiveSeq">
                <p:stCondLst>
                  <p:cond evt="onClick" delay="0">
                    <p:tgtEl>
                      <p:spTgt spid="18"/>
                    </p:tgtEl>
                  </p:cond>
                </p:stCondLst>
                <p:endSync evt="end" delay="0">
                  <p:rtn val="all"/>
                </p:endSync>
                <p:childTnLst>
                  <p:par>
                    <p:cTn id="47" fill="hold">
                      <p:stCondLst>
                        <p:cond delay="0"/>
                      </p:stCondLst>
                      <p:childTnLst>
                        <p:par>
                          <p:cTn id="48" presetID="10" presetClass="entr" fill="hold" grpId="0" nodeType="click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fade">
                                <p:cBhvr>
                                  <p:cTn id="50" dur="350"/>
                                  <p:tgtEl>
                                    <p:spTgt spid="46"/>
                                  </p:tgtEl>
                                </p:cBhvr>
                              </p:animEffect>
                            </p:childTnLst>
                          </p:cTn>
                        </p:par>
                      </p:childTnLst>
                    </p:cTn>
                  </p:par>
                </p:childTnLst>
              </p:cTn>
            </p:seq>
            <p:seq concurrent="1" nextAc="seek">
              <p:cTn id="51" restart="whenNotActive" fill="hold" evtFilter="cancelBubble" nodeType="interactiveSeq">
                <p:stCondLst>
                  <p:cond evt="onClick" delay="0">
                    <p:tgtEl>
                      <p:spTgt spid="51"/>
                    </p:tgtEl>
                  </p:cond>
                </p:stCondLst>
                <p:endSync evt="end" delay="0">
                  <p:rtn val="all"/>
                </p:endSync>
                <p:childTnLst>
                  <p:par>
                    <p:cTn id="52" fill="hold">
                      <p:stCondLst>
                        <p:cond delay="0"/>
                      </p:stCondLst>
                      <p:childTnLst>
                        <p:par>
                          <p:cTn id="53" presetID="10" presetClass="entr" fill="hold" grpId="0" nodeType="click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350"/>
                                  <p:tgtEl>
                                    <p:spTgt spid="55"/>
                                  </p:tgtEl>
                                </p:cBhvr>
                              </p:animEffect>
                            </p:childTnLst>
                          </p:cTn>
                        </p:par>
                      </p:childTnLst>
                    </p:cTn>
                  </p:par>
                </p:childTnLst>
              </p:cTn>
            </p:seq>
            <p:seq concurrent="1" nextAc="seek">
              <p:cTn id="56" restart="whenNotActive" fill="hold" evtFilter="cancelBubble" nodeType="interactiveSeq">
                <p:stCondLst>
                  <p:cond evt="onClick" delay="0">
                    <p:tgtEl>
                      <p:spTgt spid="51"/>
                    </p:tgtEl>
                  </p:cond>
                </p:stCondLst>
                <p:endSync evt="end" delay="0">
                  <p:rtn val="all"/>
                </p:endSync>
                <p:childTnLst>
                  <p:par>
                    <p:cTn id="57" fill="hold">
                      <p:stCondLst>
                        <p:cond delay="0"/>
                      </p:stCondLst>
                      <p:childTnLst>
                        <p:par>
                          <p:cTn id="58" presetID="10" presetClass="entr" fill="hold" grpId="0" nodeType="click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350"/>
                                  <p:tgtEl>
                                    <p:spTgt spid="56"/>
                                  </p:tgtEl>
                                </p:cBhvr>
                              </p:animEffect>
                            </p:childTnLst>
                          </p:cTn>
                        </p:par>
                      </p:childTnLst>
                    </p:cTn>
                  </p:par>
                </p:childTnLst>
              </p:cTn>
            </p:seq>
            <p:seq concurrent="1" nextAc="seek">
              <p:cTn id="61" restart="whenNotActive" fill="hold" evtFilter="cancelBubble" nodeType="interactiveSeq">
                <p:stCondLst>
                  <p:cond evt="onClick" delay="0">
                    <p:tgtEl>
                      <p:spTgt spid="51"/>
                    </p:tgtEl>
                  </p:cond>
                </p:stCondLst>
                <p:endSync evt="end" delay="0">
                  <p:rtn val="all"/>
                </p:endSync>
                <p:childTnLst>
                  <p:par>
                    <p:cTn id="62" fill="hold">
                      <p:stCondLst>
                        <p:cond delay="0"/>
                      </p:stCondLst>
                      <p:childTnLst>
                        <p:par>
                          <p:cTn id="63" presetID="10" presetClass="entr" fill="hold" grpId="0" nodeType="clickEffect">
                            <p:stCondLst>
                              <p:cond delay="0"/>
                            </p:stCondLst>
                            <p:childTnLst>
                              <p:set>
                                <p:cBhvr>
                                  <p:cTn id="64" dur="1" fill="hold">
                                    <p:stCondLst>
                                      <p:cond delay="0"/>
                                    </p:stCondLst>
                                  </p:cTn>
                                  <p:tgtEl>
                                    <p:spTgt spid="61"/>
                                  </p:tgtEl>
                                  <p:attrNameLst>
                                    <p:attrName>style.visibility</p:attrName>
                                  </p:attrNameLst>
                                </p:cBhvr>
                                <p:to>
                                  <p:strVal val="visible"/>
                                </p:to>
                              </p:set>
                              <p:animEffect transition="in" filter="fade">
                                <p:cBhvr>
                                  <p:cTn id="65" dur="350"/>
                                  <p:tgtEl>
                                    <p:spTgt spid="61"/>
                                  </p:tgtEl>
                                </p:cBhvr>
                              </p:animEffect>
                            </p:childTnLst>
                          </p:cTn>
                        </p:par>
                      </p:childTnLst>
                    </p:cTn>
                  </p:par>
                </p:childTnLst>
              </p:cTn>
            </p:seq>
            <p:seq concurrent="1" nextAc="seek">
              <p:cTn id="66" restart="whenNotActive" fill="hold" evtFilter="cancelBubble" nodeType="interactiveSeq">
                <p:stCondLst>
                  <p:cond evt="onClick" delay="0">
                    <p:tgtEl>
                      <p:spTgt spid="51"/>
                    </p:tgtEl>
                  </p:cond>
                </p:stCondLst>
                <p:endSync evt="end" delay="0">
                  <p:rtn val="all"/>
                </p:endSync>
                <p:childTnLst>
                  <p:par>
                    <p:cTn id="67" fill="hold">
                      <p:stCondLst>
                        <p:cond delay="0"/>
                      </p:stCondLst>
                      <p:childTnLst>
                        <p:par>
                          <p:cTn id="68" presetID="10" presetClass="entr" fill="hold" grpId="0" nodeType="clickEffect">
                            <p:stCondLst>
                              <p:cond delay="0"/>
                            </p:stCondLst>
                            <p:childTnLst>
                              <p:set>
                                <p:cBhvr>
                                  <p:cTn id="69" dur="1" fill="hold">
                                    <p:stCondLst>
                                      <p:cond delay="0"/>
                                    </p:stCondLst>
                                  </p:cTn>
                                  <p:tgtEl>
                                    <p:spTgt spid="66"/>
                                  </p:tgtEl>
                                  <p:attrNameLst>
                                    <p:attrName>style.visibility</p:attrName>
                                  </p:attrNameLst>
                                </p:cBhvr>
                                <p:to>
                                  <p:strVal val="visible"/>
                                </p:to>
                              </p:set>
                              <p:animEffect transition="in" filter="fade">
                                <p:cBhvr>
                                  <p:cTn id="70" dur="350"/>
                                  <p:tgtEl>
                                    <p:spTgt spid="66"/>
                                  </p:tgtEl>
                                </p:cBhvr>
                              </p:animEffect>
                            </p:childTnLst>
                          </p:cTn>
                        </p:par>
                      </p:childTnLst>
                    </p:cTn>
                  </p:par>
                </p:childTnLst>
              </p:cTn>
            </p:seq>
            <p:seq concurrent="1" nextAc="seek">
              <p:cTn id="71" restart="whenNotActive" fill="hold" evtFilter="cancelBubble" nodeType="interactiveSeq">
                <p:stCondLst>
                  <p:cond evt="onClick" delay="0">
                    <p:tgtEl>
                      <p:spTgt spid="51"/>
                    </p:tgtEl>
                  </p:cond>
                </p:stCondLst>
                <p:endSync evt="end" delay="0">
                  <p:rtn val="all"/>
                </p:endSync>
                <p:childTnLst>
                  <p:par>
                    <p:cTn id="72" fill="hold">
                      <p:stCondLst>
                        <p:cond delay="0"/>
                      </p:stCondLst>
                      <p:childTnLst>
                        <p:par>
                          <p:cTn id="73" presetID="10" presetClass="entr" fill="hold" grpId="0" nodeType="clickEffect">
                            <p:stCondLst>
                              <p:cond delay="0"/>
                            </p:stCondLst>
                            <p:childTnLst>
                              <p:set>
                                <p:cBhvr>
                                  <p:cTn id="74" dur="1" fill="hold">
                                    <p:stCondLst>
                                      <p:cond delay="0"/>
                                    </p:stCondLst>
                                  </p:cTn>
                                  <p:tgtEl>
                                    <p:spTgt spid="71"/>
                                  </p:tgtEl>
                                  <p:attrNameLst>
                                    <p:attrName>style.visibility</p:attrName>
                                  </p:attrNameLst>
                                </p:cBhvr>
                                <p:to>
                                  <p:strVal val="visible"/>
                                </p:to>
                              </p:set>
                              <p:animEffect transition="in" filter="fade">
                                <p:cBhvr>
                                  <p:cTn id="75" dur="350"/>
                                  <p:tgtEl>
                                    <p:spTgt spid="71"/>
                                  </p:tgtEl>
                                </p:cBhvr>
                              </p:animEffect>
                            </p:childTnLst>
                          </p:cTn>
                        </p:par>
                      </p:childTnLst>
                    </p:cTn>
                  </p:par>
                </p:childTnLst>
              </p:cTn>
            </p:seq>
            <p:seq concurrent="1" nextAc="seek">
              <p:cTn id="76" restart="whenNotActive" fill="hold" evtFilter="cancelBubble" nodeType="interactiveSeq">
                <p:stCondLst>
                  <p:cond evt="onClick" delay="0">
                    <p:tgtEl>
                      <p:spTgt spid="51"/>
                    </p:tgtEl>
                  </p:cond>
                </p:stCondLst>
                <p:endSync evt="end" delay="0">
                  <p:rtn val="all"/>
                </p:endSync>
                <p:childTnLst>
                  <p:par>
                    <p:cTn id="77" fill="hold">
                      <p:stCondLst>
                        <p:cond delay="0"/>
                      </p:stCondLst>
                      <p:childTnLst>
                        <p:par>
                          <p:cTn id="78" presetID="10" presetClass="entr" fill="hold" grpId="0" nodeType="clickEffect">
                            <p:stCondLst>
                              <p:cond delay="0"/>
                            </p:stCondLst>
                            <p:childTnLst>
                              <p:set>
                                <p:cBhvr>
                                  <p:cTn id="79" dur="1" fill="hold">
                                    <p:stCondLst>
                                      <p:cond delay="0"/>
                                    </p:stCondLst>
                                  </p:cTn>
                                  <p:tgtEl>
                                    <p:spTgt spid="76"/>
                                  </p:tgtEl>
                                  <p:attrNameLst>
                                    <p:attrName>style.visibility</p:attrName>
                                  </p:attrNameLst>
                                </p:cBhvr>
                                <p:to>
                                  <p:strVal val="visible"/>
                                </p:to>
                              </p:set>
                              <p:animEffect transition="in" filter="fade">
                                <p:cBhvr>
                                  <p:cTn id="80" dur="350"/>
                                  <p:tgtEl>
                                    <p:spTgt spid="76"/>
                                  </p:tgtEl>
                                </p:cBhvr>
                              </p:animEffect>
                            </p:childTnLst>
                          </p:cTn>
                        </p:par>
                      </p:childTnLst>
                    </p:cTn>
                  </p:par>
                </p:childTnLst>
              </p:cTn>
            </p:seq>
            <p:seq concurrent="1" nextAc="seek">
              <p:cTn id="81" restart="whenNotActive" fill="hold" evtFilter="cancelBubble" nodeType="interactiveSeq">
                <p:stCondLst>
                  <p:cond evt="onClick" delay="0">
                    <p:tgtEl>
                      <p:spTgt spid="51"/>
                    </p:tgtEl>
                  </p:cond>
                </p:stCondLst>
                <p:endSync evt="end" delay="0">
                  <p:rtn val="all"/>
                </p:endSync>
                <p:childTnLst>
                  <p:par>
                    <p:cTn id="82" fill="hold">
                      <p:stCondLst>
                        <p:cond delay="0"/>
                      </p:stCondLst>
                      <p:childTnLst>
                        <p:par>
                          <p:cTn id="83" presetID="10" presetClass="entr" fill="hold" grpId="0" nodeType="clickEffect">
                            <p:stCondLst>
                              <p:cond delay="0"/>
                            </p:stCondLst>
                            <p:childTnLst>
                              <p:set>
                                <p:cBhvr>
                                  <p:cTn id="84" dur="1" fill="hold">
                                    <p:stCondLst>
                                      <p:cond delay="0"/>
                                    </p:stCondLst>
                                  </p:cTn>
                                  <p:tgtEl>
                                    <p:spTgt spid="81"/>
                                  </p:tgtEl>
                                  <p:attrNameLst>
                                    <p:attrName>style.visibility</p:attrName>
                                  </p:attrNameLst>
                                </p:cBhvr>
                                <p:to>
                                  <p:strVal val="visible"/>
                                </p:to>
                              </p:set>
                              <p:animEffect transition="in" filter="fade">
                                <p:cBhvr>
                                  <p:cTn id="85" dur="350"/>
                                  <p:tgtEl>
                                    <p:spTgt spid="81"/>
                                  </p:tgtEl>
                                </p:cBhvr>
                              </p:animEffect>
                            </p:childTnLst>
                          </p:cTn>
                        </p:par>
                      </p:childTnLst>
                    </p:cTn>
                  </p:par>
                </p:childTnLst>
              </p:cTn>
            </p:seq>
            <p:seq concurrent="1" nextAc="seek">
              <p:cTn id="86" restart="whenNotActive" fill="hold" evtFilter="cancelBubble" nodeType="interactiveSeq">
                <p:stCondLst>
                  <p:cond evt="onClick" delay="0">
                    <p:tgtEl>
                      <p:spTgt spid="51"/>
                    </p:tgtEl>
                  </p:cond>
                </p:stCondLst>
                <p:endSync evt="end" delay="0">
                  <p:rtn val="all"/>
                </p:endSync>
                <p:childTnLst>
                  <p:par>
                    <p:cTn id="87" fill="hold">
                      <p:stCondLst>
                        <p:cond delay="0"/>
                      </p:stCondLst>
                      <p:childTnLst>
                        <p:par>
                          <p:cTn id="88" presetID="10" presetClass="entr" fill="hold" grpId="0" nodeType="clickEffect">
                            <p:stCondLst>
                              <p:cond delay="0"/>
                            </p:stCondLst>
                            <p:childTnLst>
                              <p:set>
                                <p:cBhvr>
                                  <p:cTn id="89" dur="1" fill="hold">
                                    <p:stCondLst>
                                      <p:cond delay="0"/>
                                    </p:stCondLst>
                                  </p:cTn>
                                  <p:tgtEl>
                                    <p:spTgt spid="86"/>
                                  </p:tgtEl>
                                  <p:attrNameLst>
                                    <p:attrName>style.visibility</p:attrName>
                                  </p:attrNameLst>
                                </p:cBhvr>
                                <p:to>
                                  <p:strVal val="visible"/>
                                </p:to>
                              </p:set>
                              <p:animEffect transition="in" filter="fade">
                                <p:cBhvr>
                                  <p:cTn id="90" dur="350"/>
                                  <p:tgtEl>
                                    <p:spTgt spid="86"/>
                                  </p:tgtEl>
                                </p:cBhvr>
                              </p:animEffect>
                            </p:childTnLst>
                          </p:cTn>
                        </p:par>
                      </p:childTnLst>
                    </p:cTn>
                  </p:par>
                </p:childTn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5587860"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11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VOCABULARY</a:t>
            </a:r>
          </a:p>
        </p:txBody>
      </p:sp>
      <p:sp>
        <p:nvSpPr>
          <p:cNvPr id="12" name="TextBox 11"/>
          <p:cNvSpPr txBox="1"/>
          <p:nvPr/>
        </p:nvSpPr>
        <p:spPr>
          <a:xfrm>
            <a:off x="566928" y="731520"/>
            <a:ext cx="7863840" cy="1371600"/>
          </a:xfrm>
          <a:prstGeom prst="rect">
            <a:avLst/>
          </a:prstGeom>
          <a:noFill/>
        </p:spPr>
        <p:txBody>
          <a:bodyPr wrap="square" anchor="t" lIns="0" tIns="0" rIns="0" bIns="0"/>
          <a:lstStyle/>
          <a:p>
            <a:pPr algn="l">
              <a:lnSpc>
                <a:spcPct val="92000"/>
              </a:lnSpc>
              <a:spcBef>
                <a:spcPts val="0"/>
              </a:spcBef>
              <a:spcAft>
                <a:spcPts val="0"/>
              </a:spcAft>
            </a:pPr>
            <a:r>
              <a:rPr sz="3100" b="1" i="0">
                <a:solidFill>
                  <a:srgbClr val="0F1B33"/>
                </a:solidFill>
                <a:latin typeface="Trebuchet MS"/>
              </a:rPr>
              <a:t>Language Builder</a:t>
            </a:r>
          </a:p>
        </p:txBody>
      </p:sp>
      <p:sp>
        <p:nvSpPr>
          <p:cNvPr id="13" name="TextBox 12"/>
          <p:cNvSpPr txBox="1"/>
          <p:nvPr/>
        </p:nvSpPr>
        <p:spPr>
          <a:xfrm>
            <a:off x="566928" y="1335024"/>
            <a:ext cx="7863840" cy="457200"/>
          </a:xfrm>
          <a:prstGeom prst="rect">
            <a:avLst/>
          </a:prstGeom>
          <a:noFill/>
        </p:spPr>
        <p:txBody>
          <a:bodyPr wrap="square" anchor="t" lIns="0" tIns="0" rIns="0" bIns="0"/>
          <a:lstStyle/>
          <a:p>
            <a:pPr algn="l">
              <a:lnSpc>
                <a:spcPct val="95000"/>
              </a:lnSpc>
              <a:spcBef>
                <a:spcPts val="0"/>
              </a:spcBef>
              <a:spcAft>
                <a:spcPts val="0"/>
              </a:spcAft>
            </a:pPr>
            <a:r>
              <a:rPr sz="1250" b="0" i="1">
                <a:solidFill>
                  <a:srgbClr val="5C6C86"/>
                </a:solidFill>
                <a:latin typeface="Calibri"/>
              </a:rPr>
              <a:t>Tap a word when the class has guessed its meaning.</a:t>
            </a:r>
          </a:p>
        </p:txBody>
      </p:sp>
      <p:sp>
        <p:nvSpPr>
          <p:cNvPr id="14" name="TextBox 13"/>
          <p:cNvSpPr txBox="1"/>
          <p:nvPr/>
        </p:nvSpPr>
        <p:spPr>
          <a:xfrm>
            <a:off x="566928" y="1755648"/>
            <a:ext cx="4069080" cy="365760"/>
          </a:xfrm>
          <a:prstGeom prst="rect">
            <a:avLst/>
          </a:prstGeom>
          <a:noFill/>
        </p:spPr>
        <p:txBody>
          <a:bodyPr wrap="square" anchor="t" lIns="0" tIns="0" rIns="0" bIns="0"/>
          <a:lstStyle/>
          <a:p>
            <a:pPr algn="l">
              <a:lnSpc>
                <a:spcPct val="95000"/>
              </a:lnSpc>
              <a:spcBef>
                <a:spcPts val="0"/>
              </a:spcBef>
              <a:spcAft>
                <a:spcPts val="0"/>
              </a:spcAft>
            </a:pPr>
            <a:r>
              <a:rPr sz="2100" b="1" i="0">
                <a:solidFill>
                  <a:srgbClr val="1B3FA8"/>
                </a:solidFill>
                <a:latin typeface="Trebuchet MS"/>
              </a:rPr>
              <a:t>abbreviation</a:t>
            </a:r>
          </a:p>
        </p:txBody>
      </p:sp>
      <p:sp>
        <p:nvSpPr>
          <p:cNvPr id="15" name="TextBox 14"/>
          <p:cNvSpPr txBox="1"/>
          <p:nvPr/>
        </p:nvSpPr>
        <p:spPr>
          <a:xfrm>
            <a:off x="566928" y="2139696"/>
            <a:ext cx="4023360" cy="310896"/>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a short form of a word</a:t>
            </a:r>
          </a:p>
        </p:txBody>
      </p:sp>
      <p:sp>
        <p:nvSpPr>
          <p:cNvPr id="16" name="Rounded Rectangle 15"/>
          <p:cNvSpPr/>
          <p:nvPr/>
        </p:nvSpPr>
        <p:spPr>
          <a:xfrm>
            <a:off x="566928" y="2596896"/>
            <a:ext cx="4023360" cy="713232"/>
          </a:xfrm>
          <a:prstGeom prst="roundRect">
            <a:avLst>
              <a:gd name="adj" fmla="val 23076"/>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786384" y="2779776"/>
            <a:ext cx="1225296" cy="365760"/>
          </a:xfrm>
          <a:prstGeom prst="rect">
            <a:avLst/>
          </a:prstGeom>
          <a:noFill/>
        </p:spPr>
        <p:txBody>
          <a:bodyPr wrap="square" anchor="t" lIns="0" tIns="0" rIns="0" bIns="0"/>
          <a:lstStyle/>
          <a:p>
            <a:pPr algn="l">
              <a:lnSpc>
                <a:spcPct val="95000"/>
              </a:lnSpc>
              <a:spcBef>
                <a:spcPts val="0"/>
              </a:spcBef>
              <a:spcAft>
                <a:spcPts val="0"/>
              </a:spcAft>
            </a:pPr>
            <a:r>
              <a:rPr sz="1800" b="1" i="0">
                <a:solidFill>
                  <a:srgbClr val="1D4ED8"/>
                </a:solidFill>
                <a:latin typeface="Trebuchet MS"/>
              </a:rPr>
              <a:t>PLZ</a:t>
            </a:r>
          </a:p>
        </p:txBody>
      </p:sp>
      <p:sp>
        <p:nvSpPr>
          <p:cNvPr id="18" name="TextBox 17"/>
          <p:cNvSpPr txBox="1"/>
          <p:nvPr/>
        </p:nvSpPr>
        <p:spPr>
          <a:xfrm>
            <a:off x="1810512" y="2788920"/>
            <a:ext cx="27432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9AA9BF"/>
                </a:solidFill>
                <a:latin typeface="Calibri"/>
              </a:rPr>
              <a:t>=</a:t>
            </a:r>
          </a:p>
        </p:txBody>
      </p:sp>
      <p:sp>
        <p:nvSpPr>
          <p:cNvPr id="19" name="TextBox 18"/>
          <p:cNvSpPr txBox="1"/>
          <p:nvPr/>
        </p:nvSpPr>
        <p:spPr>
          <a:xfrm>
            <a:off x="2103120" y="2743200"/>
            <a:ext cx="2231136" cy="457200"/>
          </a:xfrm>
          <a:prstGeom prst="rect">
            <a:avLst/>
          </a:prstGeom>
          <a:noFill/>
        </p:spPr>
        <p:txBody>
          <a:bodyPr wrap="square" anchor="t" lIns="0" tIns="0" rIns="0" bIns="0"/>
          <a:lstStyle/>
          <a:p>
            <a:pPr algn="l">
              <a:lnSpc>
                <a:spcPct val="96000"/>
              </a:lnSpc>
              <a:spcBef>
                <a:spcPts val="0"/>
              </a:spcBef>
              <a:spcAft>
                <a:spcPts val="0"/>
              </a:spcAft>
            </a:pPr>
            <a:r>
              <a:rPr sz="1250" b="0" i="0">
                <a:solidFill>
                  <a:srgbClr val="0F1B33"/>
                </a:solidFill>
                <a:latin typeface="Calibri"/>
              </a:rPr>
              <a:t>please</a:t>
            </a:r>
          </a:p>
        </p:txBody>
      </p:sp>
      <p:sp>
        <p:nvSpPr>
          <p:cNvPr id="20" name="Rounded Rectangle 19"/>
          <p:cNvSpPr/>
          <p:nvPr/>
        </p:nvSpPr>
        <p:spPr>
          <a:xfrm>
            <a:off x="566928" y="3419856"/>
            <a:ext cx="4023360" cy="713232"/>
          </a:xfrm>
          <a:prstGeom prst="roundRect">
            <a:avLst>
              <a:gd name="adj" fmla="val 23076"/>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786384" y="3602736"/>
            <a:ext cx="1225296" cy="365760"/>
          </a:xfrm>
          <a:prstGeom prst="rect">
            <a:avLst/>
          </a:prstGeom>
          <a:noFill/>
        </p:spPr>
        <p:txBody>
          <a:bodyPr wrap="square" anchor="t" lIns="0" tIns="0" rIns="0" bIns="0"/>
          <a:lstStyle/>
          <a:p>
            <a:pPr algn="l">
              <a:lnSpc>
                <a:spcPct val="95000"/>
              </a:lnSpc>
              <a:spcBef>
                <a:spcPts val="0"/>
              </a:spcBef>
              <a:spcAft>
                <a:spcPts val="0"/>
              </a:spcAft>
            </a:pPr>
            <a:r>
              <a:rPr sz="1800" b="1" i="0">
                <a:solidFill>
                  <a:srgbClr val="1D4ED8"/>
                </a:solidFill>
                <a:latin typeface="Trebuchet MS"/>
              </a:rPr>
              <a:t>ovr</a:t>
            </a:r>
          </a:p>
        </p:txBody>
      </p:sp>
      <p:sp>
        <p:nvSpPr>
          <p:cNvPr id="22" name="TextBox 21"/>
          <p:cNvSpPr txBox="1"/>
          <p:nvPr/>
        </p:nvSpPr>
        <p:spPr>
          <a:xfrm>
            <a:off x="1810512" y="3611880"/>
            <a:ext cx="27432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9AA9BF"/>
                </a:solidFill>
                <a:latin typeface="Calibri"/>
              </a:rPr>
              <a:t>=</a:t>
            </a:r>
          </a:p>
        </p:txBody>
      </p:sp>
      <p:sp>
        <p:nvSpPr>
          <p:cNvPr id="23" name="TextBox 22"/>
          <p:cNvSpPr txBox="1"/>
          <p:nvPr/>
        </p:nvSpPr>
        <p:spPr>
          <a:xfrm>
            <a:off x="2103120" y="3566160"/>
            <a:ext cx="2231136" cy="457200"/>
          </a:xfrm>
          <a:prstGeom prst="rect">
            <a:avLst/>
          </a:prstGeom>
          <a:noFill/>
        </p:spPr>
        <p:txBody>
          <a:bodyPr wrap="square" anchor="t" lIns="0" tIns="0" rIns="0" bIns="0"/>
          <a:lstStyle/>
          <a:p>
            <a:pPr algn="l">
              <a:lnSpc>
                <a:spcPct val="96000"/>
              </a:lnSpc>
              <a:spcBef>
                <a:spcPts val="0"/>
              </a:spcBef>
              <a:spcAft>
                <a:spcPts val="0"/>
              </a:spcAft>
            </a:pPr>
            <a:r>
              <a:rPr sz="1250" b="0" i="0">
                <a:solidFill>
                  <a:srgbClr val="0F1B33"/>
                </a:solidFill>
                <a:latin typeface="Calibri"/>
              </a:rPr>
              <a:t>over.</a:t>
            </a:r>
          </a:p>
        </p:txBody>
      </p:sp>
      <p:sp>
        <p:nvSpPr>
          <p:cNvPr id="24" name="Rounded Rectangle 23"/>
          <p:cNvSpPr/>
          <p:nvPr/>
        </p:nvSpPr>
        <p:spPr>
          <a:xfrm>
            <a:off x="566928" y="4242816"/>
            <a:ext cx="4023360" cy="713232"/>
          </a:xfrm>
          <a:prstGeom prst="roundRect">
            <a:avLst>
              <a:gd name="adj" fmla="val 23076"/>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TextBox 24"/>
          <p:cNvSpPr txBox="1"/>
          <p:nvPr/>
        </p:nvSpPr>
        <p:spPr>
          <a:xfrm>
            <a:off x="786384" y="4425696"/>
            <a:ext cx="1225296" cy="365760"/>
          </a:xfrm>
          <a:prstGeom prst="rect">
            <a:avLst/>
          </a:prstGeom>
          <a:noFill/>
        </p:spPr>
        <p:txBody>
          <a:bodyPr wrap="square" anchor="t" lIns="0" tIns="0" rIns="0" bIns="0"/>
          <a:lstStyle/>
          <a:p>
            <a:pPr algn="l">
              <a:lnSpc>
                <a:spcPct val="95000"/>
              </a:lnSpc>
              <a:spcBef>
                <a:spcPts val="0"/>
              </a:spcBef>
              <a:spcAft>
                <a:spcPts val="0"/>
              </a:spcAft>
            </a:pPr>
            <a:r>
              <a:rPr sz="1800" b="1" i="0">
                <a:solidFill>
                  <a:srgbClr val="1D4ED8"/>
                </a:solidFill>
                <a:latin typeface="Trebuchet MS"/>
              </a:rPr>
              <a:t>Gr8</a:t>
            </a:r>
          </a:p>
        </p:txBody>
      </p:sp>
      <p:sp>
        <p:nvSpPr>
          <p:cNvPr id="26" name="TextBox 25"/>
          <p:cNvSpPr txBox="1"/>
          <p:nvPr/>
        </p:nvSpPr>
        <p:spPr>
          <a:xfrm>
            <a:off x="1810512" y="4434840"/>
            <a:ext cx="27432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9AA9BF"/>
                </a:solidFill>
                <a:latin typeface="Calibri"/>
              </a:rPr>
              <a:t>=</a:t>
            </a:r>
          </a:p>
        </p:txBody>
      </p:sp>
      <p:sp>
        <p:nvSpPr>
          <p:cNvPr id="27" name="TextBox 26"/>
          <p:cNvSpPr txBox="1"/>
          <p:nvPr/>
        </p:nvSpPr>
        <p:spPr>
          <a:xfrm>
            <a:off x="2103120" y="4389120"/>
            <a:ext cx="2231136" cy="457200"/>
          </a:xfrm>
          <a:prstGeom prst="rect">
            <a:avLst/>
          </a:prstGeom>
          <a:noFill/>
        </p:spPr>
        <p:txBody>
          <a:bodyPr wrap="square" anchor="t" lIns="0" tIns="0" rIns="0" bIns="0"/>
          <a:lstStyle/>
          <a:p>
            <a:pPr algn="l">
              <a:lnSpc>
                <a:spcPct val="96000"/>
              </a:lnSpc>
              <a:spcBef>
                <a:spcPts val="0"/>
              </a:spcBef>
              <a:spcAft>
                <a:spcPts val="0"/>
              </a:spcAft>
            </a:pPr>
            <a:r>
              <a:rPr sz="1250" b="0" i="0">
                <a:solidFill>
                  <a:srgbClr val="0F1B33"/>
                </a:solidFill>
                <a:latin typeface="Calibri"/>
              </a:rPr>
              <a:t>great</a:t>
            </a:r>
          </a:p>
        </p:txBody>
      </p:sp>
      <p:sp>
        <p:nvSpPr>
          <p:cNvPr id="28" name="Rounded Rectangle 27"/>
          <p:cNvSpPr/>
          <p:nvPr/>
        </p:nvSpPr>
        <p:spPr>
          <a:xfrm>
            <a:off x="566928" y="5065776"/>
            <a:ext cx="4023360" cy="713232"/>
          </a:xfrm>
          <a:prstGeom prst="roundRect">
            <a:avLst>
              <a:gd name="adj" fmla="val 23076"/>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TextBox 28"/>
          <p:cNvSpPr txBox="1"/>
          <p:nvPr/>
        </p:nvSpPr>
        <p:spPr>
          <a:xfrm>
            <a:off x="786384" y="5248656"/>
            <a:ext cx="1225296" cy="365760"/>
          </a:xfrm>
          <a:prstGeom prst="rect">
            <a:avLst/>
          </a:prstGeom>
          <a:noFill/>
        </p:spPr>
        <p:txBody>
          <a:bodyPr wrap="square" anchor="t" lIns="0" tIns="0" rIns="0" bIns="0"/>
          <a:lstStyle/>
          <a:p>
            <a:pPr algn="l">
              <a:lnSpc>
                <a:spcPct val="95000"/>
              </a:lnSpc>
              <a:spcBef>
                <a:spcPts val="0"/>
              </a:spcBef>
              <a:spcAft>
                <a:spcPts val="0"/>
              </a:spcAft>
            </a:pPr>
            <a:r>
              <a:rPr sz="1800" b="1" i="0">
                <a:solidFill>
                  <a:srgbClr val="1D4ED8"/>
                </a:solidFill>
                <a:latin typeface="Trebuchet MS"/>
              </a:rPr>
              <a:t>B4</a:t>
            </a:r>
          </a:p>
        </p:txBody>
      </p:sp>
      <p:sp>
        <p:nvSpPr>
          <p:cNvPr id="30" name="TextBox 29"/>
          <p:cNvSpPr txBox="1"/>
          <p:nvPr/>
        </p:nvSpPr>
        <p:spPr>
          <a:xfrm>
            <a:off x="1810512" y="5257800"/>
            <a:ext cx="27432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9AA9BF"/>
                </a:solidFill>
                <a:latin typeface="Calibri"/>
              </a:rPr>
              <a:t>=</a:t>
            </a:r>
          </a:p>
        </p:txBody>
      </p:sp>
      <p:sp>
        <p:nvSpPr>
          <p:cNvPr id="31" name="TextBox 30"/>
          <p:cNvSpPr txBox="1"/>
          <p:nvPr/>
        </p:nvSpPr>
        <p:spPr>
          <a:xfrm>
            <a:off x="2103120" y="5212080"/>
            <a:ext cx="2231136" cy="457200"/>
          </a:xfrm>
          <a:prstGeom prst="rect">
            <a:avLst/>
          </a:prstGeom>
          <a:noFill/>
        </p:spPr>
        <p:txBody>
          <a:bodyPr wrap="square" anchor="t" lIns="0" tIns="0" rIns="0" bIns="0"/>
          <a:lstStyle/>
          <a:p>
            <a:pPr algn="l">
              <a:lnSpc>
                <a:spcPct val="96000"/>
              </a:lnSpc>
              <a:spcBef>
                <a:spcPts val="0"/>
              </a:spcBef>
              <a:spcAft>
                <a:spcPts val="0"/>
              </a:spcAft>
            </a:pPr>
            <a:r>
              <a:rPr sz="1250" b="0" i="0">
                <a:solidFill>
                  <a:srgbClr val="0F1B33"/>
                </a:solidFill>
                <a:latin typeface="Calibri"/>
              </a:rPr>
              <a:t>before</a:t>
            </a:r>
          </a:p>
        </p:txBody>
      </p:sp>
      <p:sp>
        <p:nvSpPr>
          <p:cNvPr id="32" name="TextBox 31"/>
          <p:cNvSpPr txBox="1"/>
          <p:nvPr/>
        </p:nvSpPr>
        <p:spPr>
          <a:xfrm>
            <a:off x="4754880" y="1755648"/>
            <a:ext cx="4069080" cy="365760"/>
          </a:xfrm>
          <a:prstGeom prst="rect">
            <a:avLst/>
          </a:prstGeom>
          <a:noFill/>
        </p:spPr>
        <p:txBody>
          <a:bodyPr wrap="square" anchor="t" lIns="0" tIns="0" rIns="0" bIns="0"/>
          <a:lstStyle/>
          <a:p>
            <a:pPr algn="l">
              <a:lnSpc>
                <a:spcPct val="95000"/>
              </a:lnSpc>
              <a:spcBef>
                <a:spcPts val="0"/>
              </a:spcBef>
              <a:spcAft>
                <a:spcPts val="0"/>
              </a:spcAft>
            </a:pPr>
            <a:r>
              <a:rPr sz="2100" b="1" i="0">
                <a:solidFill>
                  <a:srgbClr val="1B3FA8"/>
                </a:solidFill>
                <a:latin typeface="Trebuchet MS"/>
              </a:rPr>
              <a:t>acronym</a:t>
            </a:r>
          </a:p>
        </p:txBody>
      </p:sp>
      <p:sp>
        <p:nvSpPr>
          <p:cNvPr id="33" name="TextBox 32"/>
          <p:cNvSpPr txBox="1"/>
          <p:nvPr/>
        </p:nvSpPr>
        <p:spPr>
          <a:xfrm>
            <a:off x="4754880" y="2139696"/>
            <a:ext cx="4023360" cy="310896"/>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first letters of several words to write a phrase.</a:t>
            </a:r>
          </a:p>
        </p:txBody>
      </p:sp>
      <p:sp>
        <p:nvSpPr>
          <p:cNvPr id="34" name="Rounded Rectangle 33"/>
          <p:cNvSpPr/>
          <p:nvPr/>
        </p:nvSpPr>
        <p:spPr>
          <a:xfrm>
            <a:off x="4754880" y="2596896"/>
            <a:ext cx="4023360" cy="713232"/>
          </a:xfrm>
          <a:prstGeom prst="roundRect">
            <a:avLst>
              <a:gd name="adj" fmla="val 23076"/>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TextBox 34"/>
          <p:cNvSpPr txBox="1"/>
          <p:nvPr/>
        </p:nvSpPr>
        <p:spPr>
          <a:xfrm>
            <a:off x="4974336" y="2779776"/>
            <a:ext cx="1225296" cy="365760"/>
          </a:xfrm>
          <a:prstGeom prst="rect">
            <a:avLst/>
          </a:prstGeom>
          <a:noFill/>
        </p:spPr>
        <p:txBody>
          <a:bodyPr wrap="square" anchor="t" lIns="0" tIns="0" rIns="0" bIns="0"/>
          <a:lstStyle/>
          <a:p>
            <a:pPr algn="l">
              <a:lnSpc>
                <a:spcPct val="95000"/>
              </a:lnSpc>
              <a:spcBef>
                <a:spcPts val="0"/>
              </a:spcBef>
              <a:spcAft>
                <a:spcPts val="0"/>
              </a:spcAft>
            </a:pPr>
            <a:r>
              <a:rPr sz="1800" b="1" i="0">
                <a:solidFill>
                  <a:srgbClr val="1D4ED8"/>
                </a:solidFill>
                <a:latin typeface="Trebuchet MS"/>
              </a:rPr>
              <a:t>OMG</a:t>
            </a:r>
          </a:p>
        </p:txBody>
      </p:sp>
      <p:sp>
        <p:nvSpPr>
          <p:cNvPr id="36" name="TextBox 35"/>
          <p:cNvSpPr txBox="1"/>
          <p:nvPr/>
        </p:nvSpPr>
        <p:spPr>
          <a:xfrm>
            <a:off x="5998464" y="2788920"/>
            <a:ext cx="27432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9AA9BF"/>
                </a:solidFill>
                <a:latin typeface="Calibri"/>
              </a:rPr>
              <a:t>=</a:t>
            </a:r>
          </a:p>
        </p:txBody>
      </p:sp>
      <p:sp>
        <p:nvSpPr>
          <p:cNvPr id="37" name="TextBox 36"/>
          <p:cNvSpPr txBox="1"/>
          <p:nvPr/>
        </p:nvSpPr>
        <p:spPr>
          <a:xfrm>
            <a:off x="6291072" y="2743200"/>
            <a:ext cx="2231136" cy="457200"/>
          </a:xfrm>
          <a:prstGeom prst="rect">
            <a:avLst/>
          </a:prstGeom>
          <a:noFill/>
        </p:spPr>
        <p:txBody>
          <a:bodyPr wrap="square" anchor="t" lIns="0" tIns="0" rIns="0" bIns="0"/>
          <a:lstStyle/>
          <a:p>
            <a:pPr algn="l">
              <a:lnSpc>
                <a:spcPct val="96000"/>
              </a:lnSpc>
              <a:spcBef>
                <a:spcPts val="0"/>
              </a:spcBef>
              <a:spcAft>
                <a:spcPts val="0"/>
              </a:spcAft>
            </a:pPr>
            <a:r>
              <a:rPr sz="1250" b="0" i="0">
                <a:solidFill>
                  <a:srgbClr val="0F1B33"/>
                </a:solidFill>
                <a:latin typeface="Calibri"/>
              </a:rPr>
              <a:t>Ohh my God</a:t>
            </a:r>
          </a:p>
        </p:txBody>
      </p:sp>
      <p:sp>
        <p:nvSpPr>
          <p:cNvPr id="38" name="Rounded Rectangle 37"/>
          <p:cNvSpPr/>
          <p:nvPr/>
        </p:nvSpPr>
        <p:spPr>
          <a:xfrm>
            <a:off x="4754880" y="3419856"/>
            <a:ext cx="4023360" cy="713232"/>
          </a:xfrm>
          <a:prstGeom prst="roundRect">
            <a:avLst>
              <a:gd name="adj" fmla="val 23076"/>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TextBox 38"/>
          <p:cNvSpPr txBox="1"/>
          <p:nvPr/>
        </p:nvSpPr>
        <p:spPr>
          <a:xfrm>
            <a:off x="4974336" y="3602736"/>
            <a:ext cx="1225296" cy="365760"/>
          </a:xfrm>
          <a:prstGeom prst="rect">
            <a:avLst/>
          </a:prstGeom>
          <a:noFill/>
        </p:spPr>
        <p:txBody>
          <a:bodyPr wrap="square" anchor="t" lIns="0" tIns="0" rIns="0" bIns="0"/>
          <a:lstStyle/>
          <a:p>
            <a:pPr algn="l">
              <a:lnSpc>
                <a:spcPct val="95000"/>
              </a:lnSpc>
              <a:spcBef>
                <a:spcPts val="0"/>
              </a:spcBef>
              <a:spcAft>
                <a:spcPts val="0"/>
              </a:spcAft>
            </a:pPr>
            <a:r>
              <a:rPr sz="1800" b="1" i="0">
                <a:solidFill>
                  <a:srgbClr val="1D4ED8"/>
                </a:solidFill>
                <a:latin typeface="Trebuchet MS"/>
              </a:rPr>
              <a:t>DYWT</a:t>
            </a:r>
          </a:p>
        </p:txBody>
      </p:sp>
      <p:sp>
        <p:nvSpPr>
          <p:cNvPr id="40" name="TextBox 39"/>
          <p:cNvSpPr txBox="1"/>
          <p:nvPr/>
        </p:nvSpPr>
        <p:spPr>
          <a:xfrm>
            <a:off x="5998464" y="3611880"/>
            <a:ext cx="27432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9AA9BF"/>
                </a:solidFill>
                <a:latin typeface="Calibri"/>
              </a:rPr>
              <a:t>=</a:t>
            </a:r>
          </a:p>
        </p:txBody>
      </p:sp>
      <p:sp>
        <p:nvSpPr>
          <p:cNvPr id="41" name="TextBox 40"/>
          <p:cNvSpPr txBox="1"/>
          <p:nvPr/>
        </p:nvSpPr>
        <p:spPr>
          <a:xfrm>
            <a:off x="6291072" y="3566160"/>
            <a:ext cx="2231136" cy="457200"/>
          </a:xfrm>
          <a:prstGeom prst="rect">
            <a:avLst/>
          </a:prstGeom>
          <a:noFill/>
        </p:spPr>
        <p:txBody>
          <a:bodyPr wrap="square" anchor="t" lIns="0" tIns="0" rIns="0" bIns="0"/>
          <a:lstStyle/>
          <a:p>
            <a:pPr algn="l">
              <a:lnSpc>
                <a:spcPct val="96000"/>
              </a:lnSpc>
              <a:spcBef>
                <a:spcPts val="0"/>
              </a:spcBef>
              <a:spcAft>
                <a:spcPts val="0"/>
              </a:spcAft>
            </a:pPr>
            <a:r>
              <a:rPr sz="1250" b="0" i="0">
                <a:solidFill>
                  <a:srgbClr val="0F1B33"/>
                </a:solidFill>
                <a:latin typeface="Calibri"/>
              </a:rPr>
              <a:t>Do you want to.</a:t>
            </a:r>
          </a:p>
        </p:txBody>
      </p:sp>
      <p:sp>
        <p:nvSpPr>
          <p:cNvPr id="42" name="Rounded Rectangle 41"/>
          <p:cNvSpPr/>
          <p:nvPr/>
        </p:nvSpPr>
        <p:spPr>
          <a:xfrm>
            <a:off x="4754880" y="4242816"/>
            <a:ext cx="4023360" cy="713232"/>
          </a:xfrm>
          <a:prstGeom prst="roundRect">
            <a:avLst>
              <a:gd name="adj" fmla="val 23076"/>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TextBox 42"/>
          <p:cNvSpPr txBox="1"/>
          <p:nvPr/>
        </p:nvSpPr>
        <p:spPr>
          <a:xfrm>
            <a:off x="4974336" y="4425696"/>
            <a:ext cx="1225296" cy="365760"/>
          </a:xfrm>
          <a:prstGeom prst="rect">
            <a:avLst/>
          </a:prstGeom>
          <a:noFill/>
        </p:spPr>
        <p:txBody>
          <a:bodyPr wrap="square" anchor="t" lIns="0" tIns="0" rIns="0" bIns="0"/>
          <a:lstStyle/>
          <a:p>
            <a:pPr algn="l">
              <a:lnSpc>
                <a:spcPct val="95000"/>
              </a:lnSpc>
              <a:spcBef>
                <a:spcPts val="0"/>
              </a:spcBef>
              <a:spcAft>
                <a:spcPts val="0"/>
              </a:spcAft>
            </a:pPr>
            <a:r>
              <a:rPr sz="1800" b="1" i="0">
                <a:solidFill>
                  <a:srgbClr val="1D4ED8"/>
                </a:solidFill>
                <a:latin typeface="Trebuchet MS"/>
              </a:rPr>
              <a:t>WU?</a:t>
            </a:r>
          </a:p>
        </p:txBody>
      </p:sp>
      <p:sp>
        <p:nvSpPr>
          <p:cNvPr id="44" name="TextBox 43"/>
          <p:cNvSpPr txBox="1"/>
          <p:nvPr/>
        </p:nvSpPr>
        <p:spPr>
          <a:xfrm>
            <a:off x="5998464" y="4434840"/>
            <a:ext cx="27432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9AA9BF"/>
                </a:solidFill>
                <a:latin typeface="Calibri"/>
              </a:rPr>
              <a:t>=</a:t>
            </a:r>
          </a:p>
        </p:txBody>
      </p:sp>
      <p:sp>
        <p:nvSpPr>
          <p:cNvPr id="45" name="TextBox 44"/>
          <p:cNvSpPr txBox="1"/>
          <p:nvPr/>
        </p:nvSpPr>
        <p:spPr>
          <a:xfrm>
            <a:off x="6291072" y="4389120"/>
            <a:ext cx="2231136" cy="457200"/>
          </a:xfrm>
          <a:prstGeom prst="rect">
            <a:avLst/>
          </a:prstGeom>
          <a:noFill/>
        </p:spPr>
        <p:txBody>
          <a:bodyPr wrap="square" anchor="t" lIns="0" tIns="0" rIns="0" bIns="0"/>
          <a:lstStyle/>
          <a:p>
            <a:pPr algn="l">
              <a:lnSpc>
                <a:spcPct val="96000"/>
              </a:lnSpc>
              <a:spcBef>
                <a:spcPts val="0"/>
              </a:spcBef>
              <a:spcAft>
                <a:spcPts val="0"/>
              </a:spcAft>
            </a:pPr>
            <a:r>
              <a:rPr sz="1250" b="0" i="0">
                <a:solidFill>
                  <a:srgbClr val="0F1B33"/>
                </a:solidFill>
                <a:latin typeface="Calibri"/>
              </a:rPr>
              <a:t>What’s up?</a:t>
            </a:r>
          </a:p>
        </p:txBody>
      </p:sp>
      <p:sp>
        <p:nvSpPr>
          <p:cNvPr id="46" name="Rounded Rectangle 45"/>
          <p:cNvSpPr/>
          <p:nvPr/>
        </p:nvSpPr>
        <p:spPr>
          <a:xfrm>
            <a:off x="4754880" y="5065776"/>
            <a:ext cx="4023360" cy="713232"/>
          </a:xfrm>
          <a:prstGeom prst="roundRect">
            <a:avLst>
              <a:gd name="adj" fmla="val 23076"/>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TextBox 46"/>
          <p:cNvSpPr txBox="1"/>
          <p:nvPr/>
        </p:nvSpPr>
        <p:spPr>
          <a:xfrm>
            <a:off x="4974336" y="5248656"/>
            <a:ext cx="1225296" cy="365760"/>
          </a:xfrm>
          <a:prstGeom prst="rect">
            <a:avLst/>
          </a:prstGeom>
          <a:noFill/>
        </p:spPr>
        <p:txBody>
          <a:bodyPr wrap="square" anchor="t" lIns="0" tIns="0" rIns="0" bIns="0"/>
          <a:lstStyle/>
          <a:p>
            <a:pPr algn="l">
              <a:lnSpc>
                <a:spcPct val="95000"/>
              </a:lnSpc>
              <a:spcBef>
                <a:spcPts val="0"/>
              </a:spcBef>
              <a:spcAft>
                <a:spcPts val="0"/>
              </a:spcAft>
            </a:pPr>
            <a:r>
              <a:rPr sz="1800" b="1" i="0">
                <a:solidFill>
                  <a:srgbClr val="1D4ED8"/>
                </a:solidFill>
                <a:latin typeface="Trebuchet MS"/>
              </a:rPr>
              <a:t>B4N</a:t>
            </a:r>
          </a:p>
        </p:txBody>
      </p:sp>
      <p:sp>
        <p:nvSpPr>
          <p:cNvPr id="48" name="TextBox 47"/>
          <p:cNvSpPr txBox="1"/>
          <p:nvPr/>
        </p:nvSpPr>
        <p:spPr>
          <a:xfrm>
            <a:off x="5998464" y="5257800"/>
            <a:ext cx="27432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9AA9BF"/>
                </a:solidFill>
                <a:latin typeface="Calibri"/>
              </a:rPr>
              <a:t>=</a:t>
            </a:r>
          </a:p>
        </p:txBody>
      </p:sp>
      <p:sp>
        <p:nvSpPr>
          <p:cNvPr id="49" name="TextBox 48"/>
          <p:cNvSpPr txBox="1"/>
          <p:nvPr/>
        </p:nvSpPr>
        <p:spPr>
          <a:xfrm>
            <a:off x="6291072" y="5212080"/>
            <a:ext cx="2231136" cy="457200"/>
          </a:xfrm>
          <a:prstGeom prst="rect">
            <a:avLst/>
          </a:prstGeom>
          <a:noFill/>
        </p:spPr>
        <p:txBody>
          <a:bodyPr wrap="square" anchor="t" lIns="0" tIns="0" rIns="0" bIns="0"/>
          <a:lstStyle/>
          <a:p>
            <a:pPr algn="l">
              <a:lnSpc>
                <a:spcPct val="96000"/>
              </a:lnSpc>
              <a:spcBef>
                <a:spcPts val="0"/>
              </a:spcBef>
              <a:spcAft>
                <a:spcPts val="0"/>
              </a:spcAft>
            </a:pPr>
            <a:r>
              <a:rPr sz="1250" b="0" i="0">
                <a:solidFill>
                  <a:srgbClr val="0F1B33"/>
                </a:solidFill>
                <a:latin typeface="Calibri"/>
              </a:rPr>
              <a:t>bye for now</a:t>
            </a:r>
          </a:p>
        </p:txBody>
      </p:sp>
      <p:sp>
        <p:nvSpPr>
          <p:cNvPr id="51" name="Rounded Rectangle 50"/>
          <p:cNvSpPr/>
          <p:nvPr/>
        </p:nvSpPr>
        <p:spPr>
          <a:xfrm>
            <a:off x="9162288" y="1682496"/>
            <a:ext cx="2468880" cy="4315968"/>
          </a:xfrm>
          <a:prstGeom prst="roundRect">
            <a:avLst>
              <a:gd name="adj" fmla="val 5185"/>
            </a:avLst>
          </a:prstGeom>
          <a:solidFill>
            <a:srgbClr val="FBEFC6"/>
          </a:solidFill>
          <a:ln w="12700">
            <a:solidFill>
              <a:srgbClr val="E8D7A2"/>
            </a:solidFill>
          </a:ln>
          <a:effectLst>
            <a:outerShdw blurRad="304800" dist="76200" dir="5400000" rotWithShape="0">
              <a:srgbClr val="0F1B33">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Rounded Rectangle 51"/>
          <p:cNvSpPr/>
          <p:nvPr/>
        </p:nvSpPr>
        <p:spPr>
          <a:xfrm>
            <a:off x="9162288" y="1682496"/>
            <a:ext cx="1572768" cy="365760"/>
          </a:xfrm>
          <a:prstGeom prst="roundRect">
            <a:avLst>
              <a:gd name="adj" fmla="val 25000"/>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18288" rIns="54864" bIns="18288"/>
          <a:lstStyle/>
          <a:p>
            <a:pPr algn="l">
              <a:lnSpc>
                <a:spcPct val="95000"/>
              </a:lnSpc>
              <a:spcBef>
                <a:spcPts val="0"/>
              </a:spcBef>
              <a:spcAft>
                <a:spcPts val="0"/>
              </a:spcAft>
            </a:pPr>
            <a:r>
              <a:rPr sz="1200" b="1" i="0">
                <a:solidFill>
                  <a:srgbClr val="FFFFFF"/>
                </a:solidFill>
                <a:latin typeface="Trebuchet MS"/>
              </a:rPr>
              <a:t>Real Talk</a:t>
            </a:r>
          </a:p>
        </p:txBody>
      </p:sp>
      <p:sp>
        <p:nvSpPr>
          <p:cNvPr id="53" name="TextBox 52"/>
          <p:cNvSpPr txBox="1"/>
          <p:nvPr/>
        </p:nvSpPr>
        <p:spPr>
          <a:xfrm>
            <a:off x="9326880" y="2157984"/>
            <a:ext cx="2148840" cy="237744"/>
          </a:xfrm>
          <a:prstGeom prst="rect">
            <a:avLst/>
          </a:prstGeom>
          <a:noFill/>
        </p:spPr>
        <p:txBody>
          <a:bodyPr wrap="square" anchor="t" lIns="0" tIns="0" rIns="0" bIns="0"/>
          <a:lstStyle/>
          <a:p>
            <a:pPr algn="l">
              <a:lnSpc>
                <a:spcPct val="95000"/>
              </a:lnSpc>
              <a:spcBef>
                <a:spcPts val="0"/>
              </a:spcBef>
              <a:spcAft>
                <a:spcPts val="0"/>
              </a:spcAft>
            </a:pPr>
            <a:r>
              <a:rPr sz="1200" b="0" i="1">
                <a:solidFill>
                  <a:srgbClr val="6E5E2E"/>
                </a:solidFill>
                <a:latin typeface="Calibri"/>
              </a:rPr>
              <a:t>Real Talk (phrases)</a:t>
            </a:r>
          </a:p>
        </p:txBody>
      </p:sp>
      <p:sp>
        <p:nvSpPr>
          <p:cNvPr id="54" name="TextBox 53"/>
          <p:cNvSpPr txBox="1"/>
          <p:nvPr/>
        </p:nvSpPr>
        <p:spPr>
          <a:xfrm>
            <a:off x="9326880" y="2432304"/>
            <a:ext cx="2048256" cy="426720"/>
          </a:xfrm>
          <a:prstGeom prst="rect">
            <a:avLst/>
          </a:prstGeom>
          <a:noFill/>
        </p:spPr>
        <p:txBody>
          <a:bodyPr wrap="square" anchor="t" lIns="0" tIns="0" rIns="0" bIns="0"/>
          <a:lstStyle/>
          <a:p>
            <a:pPr algn="l">
              <a:lnSpc>
                <a:spcPct val="98000"/>
              </a:lnSpc>
              <a:spcBef>
                <a:spcPts val="0"/>
              </a:spcBef>
              <a:spcAft>
                <a:spcPts val="0"/>
              </a:spcAft>
            </a:pPr>
            <a:r>
              <a:rPr sz="1200" b="1" i="0">
                <a:solidFill>
                  <a:srgbClr val="8A4B12"/>
                </a:solidFill>
                <a:latin typeface="Calibri"/>
              </a:rPr>
              <a:t>How on earth? = </a:t>
            </a:r>
            <a:r>
              <a:rPr sz="1200" b="0" i="0">
                <a:solidFill>
                  <a:srgbClr val="3A3320"/>
                </a:solidFill>
                <a:latin typeface="Calibri"/>
              </a:rPr>
              <a:t>How is it possible</a:t>
            </a:r>
          </a:p>
        </p:txBody>
      </p:sp>
      <p:sp>
        <p:nvSpPr>
          <p:cNvPr id="55" name="TextBox 54"/>
          <p:cNvSpPr txBox="1"/>
          <p:nvPr/>
        </p:nvSpPr>
        <p:spPr>
          <a:xfrm>
            <a:off x="9326880" y="2959608"/>
            <a:ext cx="2048256" cy="426720"/>
          </a:xfrm>
          <a:prstGeom prst="rect">
            <a:avLst/>
          </a:prstGeom>
          <a:noFill/>
        </p:spPr>
        <p:txBody>
          <a:bodyPr wrap="square" anchor="t" lIns="0" tIns="0" rIns="0" bIns="0"/>
          <a:lstStyle/>
          <a:p>
            <a:pPr algn="l">
              <a:lnSpc>
                <a:spcPct val="98000"/>
              </a:lnSpc>
              <a:spcBef>
                <a:spcPts val="0"/>
              </a:spcBef>
              <a:spcAft>
                <a:spcPts val="0"/>
              </a:spcAft>
            </a:pPr>
            <a:r>
              <a:rPr sz="1200" b="1" i="0">
                <a:solidFill>
                  <a:srgbClr val="8A4B12"/>
                </a:solidFill>
                <a:latin typeface="Calibri"/>
              </a:rPr>
              <a:t>Hold on. = </a:t>
            </a:r>
            <a:r>
              <a:rPr sz="1200" b="0" i="0">
                <a:solidFill>
                  <a:srgbClr val="3A3320"/>
                </a:solidFill>
                <a:latin typeface="Calibri"/>
              </a:rPr>
              <a:t>Wait a moment.</a:t>
            </a:r>
          </a:p>
        </p:txBody>
      </p:sp>
      <p:sp>
        <p:nvSpPr>
          <p:cNvPr id="56" name="TextBox 55"/>
          <p:cNvSpPr txBox="1"/>
          <p:nvPr/>
        </p:nvSpPr>
        <p:spPr>
          <a:xfrm>
            <a:off x="9326880" y="3486912"/>
            <a:ext cx="2048256" cy="426720"/>
          </a:xfrm>
          <a:prstGeom prst="rect">
            <a:avLst/>
          </a:prstGeom>
          <a:noFill/>
        </p:spPr>
        <p:txBody>
          <a:bodyPr wrap="square" anchor="t" lIns="0" tIns="0" rIns="0" bIns="0"/>
          <a:lstStyle/>
          <a:p>
            <a:pPr algn="l">
              <a:lnSpc>
                <a:spcPct val="98000"/>
              </a:lnSpc>
              <a:spcBef>
                <a:spcPts val="0"/>
              </a:spcBef>
              <a:spcAft>
                <a:spcPts val="0"/>
              </a:spcAft>
            </a:pPr>
            <a:r>
              <a:rPr sz="1200" b="1" i="0">
                <a:solidFill>
                  <a:srgbClr val="8A4B12"/>
                </a:solidFill>
                <a:latin typeface="Calibri"/>
              </a:rPr>
              <a:t>hang out = </a:t>
            </a:r>
            <a:r>
              <a:rPr sz="1200" b="0" i="0">
                <a:solidFill>
                  <a:srgbClr val="3A3320"/>
                </a:solidFill>
                <a:latin typeface="Calibri"/>
              </a:rPr>
              <a:t>spend time together informally</a:t>
            </a:r>
          </a:p>
        </p:txBody>
      </p:sp>
      <p:sp>
        <p:nvSpPr>
          <p:cNvPr id="57" name="TextBox 56"/>
          <p:cNvSpPr txBox="1"/>
          <p:nvPr/>
        </p:nvSpPr>
        <p:spPr>
          <a:xfrm>
            <a:off x="9326880" y="4014216"/>
            <a:ext cx="2048256" cy="222504"/>
          </a:xfrm>
          <a:prstGeom prst="rect">
            <a:avLst/>
          </a:prstGeom>
          <a:noFill/>
        </p:spPr>
        <p:txBody>
          <a:bodyPr wrap="square" anchor="t" lIns="0" tIns="0" rIns="0" bIns="0"/>
          <a:lstStyle/>
          <a:p>
            <a:pPr algn="l">
              <a:lnSpc>
                <a:spcPct val="98000"/>
              </a:lnSpc>
              <a:spcBef>
                <a:spcPts val="0"/>
              </a:spcBef>
              <a:spcAft>
                <a:spcPts val="0"/>
              </a:spcAft>
            </a:pPr>
            <a:r>
              <a:rPr sz="1200" b="1" i="0">
                <a:solidFill>
                  <a:srgbClr val="8A4B12"/>
                </a:solidFill>
                <a:latin typeface="Calibri"/>
              </a:rPr>
              <a:t>get it = </a:t>
            </a:r>
            <a:r>
              <a:rPr sz="1200" b="0" i="0">
                <a:solidFill>
                  <a:srgbClr val="3A3320"/>
                </a:solidFill>
                <a:latin typeface="Calibri"/>
              </a:rPr>
              <a:t>understand</a:t>
            </a:r>
          </a:p>
        </p:txBody>
      </p:sp>
      <p:sp>
        <p:nvSpPr>
          <p:cNvPr id="58" name="TextBox 57"/>
          <p:cNvSpPr txBox="1"/>
          <p:nvPr/>
        </p:nvSpPr>
        <p:spPr>
          <a:xfrm>
            <a:off x="9326880" y="4337304"/>
            <a:ext cx="2048256" cy="630936"/>
          </a:xfrm>
          <a:prstGeom prst="rect">
            <a:avLst/>
          </a:prstGeom>
          <a:noFill/>
        </p:spPr>
        <p:txBody>
          <a:bodyPr wrap="square" anchor="t" lIns="0" tIns="0" rIns="0" bIns="0"/>
          <a:lstStyle/>
          <a:p>
            <a:pPr algn="l">
              <a:lnSpc>
                <a:spcPct val="98000"/>
              </a:lnSpc>
              <a:spcBef>
                <a:spcPts val="0"/>
              </a:spcBef>
              <a:spcAft>
                <a:spcPts val="0"/>
              </a:spcAft>
            </a:pPr>
            <a:r>
              <a:rPr sz="1200" b="1" i="0">
                <a:solidFill>
                  <a:srgbClr val="8A4B12"/>
                </a:solidFill>
                <a:latin typeface="Calibri"/>
              </a:rPr>
              <a:t>got the hang of it = </a:t>
            </a:r>
            <a:r>
              <a:rPr sz="1200" b="0" i="0">
                <a:solidFill>
                  <a:srgbClr val="3A3320"/>
                </a:solidFill>
                <a:latin typeface="Calibri"/>
              </a:rPr>
              <a:t>started to understand something</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6"/>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childTnLst>
                    </p:cTn>
                  </p:par>
                </p:childTnLst>
              </p:cTn>
            </p:seq>
            <p:seq concurrent="1" nextAc="seek">
              <p:cTn id="16" restart="whenNotActive" fill="hold" evtFilter="cancelBubble" nodeType="interactiveSeq">
                <p:stCondLst>
                  <p:cond evt="onClick" delay="0">
                    <p:tgtEl>
                      <p:spTgt spid="20"/>
                    </p:tgtEl>
                  </p:cond>
                </p:stCondLst>
                <p:endSync evt="end" delay="0">
                  <p:rtn val="all"/>
                </p:endSync>
                <p:childTnLst>
                  <p:par>
                    <p:cTn id="17" fill="hold">
                      <p:stCondLst>
                        <p:cond delay="0"/>
                      </p:stCondLst>
                      <p:childTnLst>
                        <p:par>
                          <p:cTn id="18" presetID="10" presetClass="entr"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350"/>
                                  <p:tgtEl>
                                    <p:spTgt spid="23"/>
                                  </p:tgtEl>
                                </p:cBhvr>
                              </p:animEffect>
                            </p:childTnLst>
                          </p:cTn>
                        </p:par>
                      </p:childTnLst>
                    </p:cTn>
                  </p:par>
                </p:childTnLst>
              </p:cTn>
            </p:seq>
            <p:seq concurrent="1" nextAc="seek">
              <p:cTn id="21" restart="whenNotActive" fill="hold" evtFilter="cancelBubble" nodeType="interactiveSeq">
                <p:stCondLst>
                  <p:cond evt="onClick" delay="0">
                    <p:tgtEl>
                      <p:spTgt spid="24"/>
                    </p:tgtEl>
                  </p:cond>
                </p:stCondLst>
                <p:endSync evt="end" delay="0">
                  <p:rtn val="all"/>
                </p:endSync>
                <p:childTnLst>
                  <p:par>
                    <p:cTn id="22" fill="hold">
                      <p:stCondLst>
                        <p:cond delay="0"/>
                      </p:stCondLst>
                      <p:childTnLst>
                        <p:par>
                          <p:cTn id="23" presetID="10" presetClass="entr"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350"/>
                                  <p:tgtEl>
                                    <p:spTgt spid="27"/>
                                  </p:tgtEl>
                                </p:cBhvr>
                              </p:animEffect>
                            </p:childTnLst>
                          </p:cTn>
                        </p:par>
                      </p:childTnLst>
                    </p:cTn>
                  </p:par>
                </p:childTnLst>
              </p:cTn>
            </p:seq>
            <p:seq concurrent="1" nextAc="seek">
              <p:cTn id="26" restart="whenNotActive" fill="hold" evtFilter="cancelBubble" nodeType="interactiveSeq">
                <p:stCondLst>
                  <p:cond evt="onClick" delay="0">
                    <p:tgtEl>
                      <p:spTgt spid="28"/>
                    </p:tgtEl>
                  </p:cond>
                </p:stCondLst>
                <p:endSync evt="end" delay="0">
                  <p:rtn val="all"/>
                </p:endSync>
                <p:childTnLst>
                  <p:par>
                    <p:cTn id="27" fill="hold">
                      <p:stCondLst>
                        <p:cond delay="0"/>
                      </p:stCondLst>
                      <p:childTnLst>
                        <p:par>
                          <p:cTn id="28" presetID="10" presetClass="entr" fill="hold" grpId="0" nodeType="click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350"/>
                                  <p:tgtEl>
                                    <p:spTgt spid="31"/>
                                  </p:tgtEl>
                                </p:cBhvr>
                              </p:animEffect>
                            </p:childTnLst>
                          </p:cTn>
                        </p:par>
                      </p:childTnLst>
                    </p:cTn>
                  </p:par>
                </p:childTnLst>
              </p:cTn>
            </p:seq>
            <p:seq concurrent="1" nextAc="seek">
              <p:cTn id="31" restart="whenNotActive" fill="hold" evtFilter="cancelBubble" nodeType="interactiveSeq">
                <p:stCondLst>
                  <p:cond evt="onClick" delay="0">
                    <p:tgtEl>
                      <p:spTgt spid="34"/>
                    </p:tgtEl>
                  </p:cond>
                </p:stCondLst>
                <p:endSync evt="end" delay="0">
                  <p:rtn val="all"/>
                </p:endSync>
                <p:childTnLst>
                  <p:par>
                    <p:cTn id="32" fill="hold">
                      <p:stCondLst>
                        <p:cond delay="0"/>
                      </p:stCondLst>
                      <p:childTnLst>
                        <p:par>
                          <p:cTn id="33" presetID="10" presetClass="entr"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50"/>
                                  <p:tgtEl>
                                    <p:spTgt spid="37"/>
                                  </p:tgtEl>
                                </p:cBhvr>
                              </p:animEffect>
                            </p:childTnLst>
                          </p:cTn>
                        </p:par>
                      </p:childTnLst>
                    </p:cTn>
                  </p:par>
                </p:childTnLst>
              </p:cTn>
            </p:seq>
            <p:seq concurrent="1" nextAc="seek">
              <p:cTn id="36" restart="whenNotActive" fill="hold" evtFilter="cancelBubble" nodeType="interactiveSeq">
                <p:stCondLst>
                  <p:cond evt="onClick" delay="0">
                    <p:tgtEl>
                      <p:spTgt spid="38"/>
                    </p:tgtEl>
                  </p:cond>
                </p:stCondLst>
                <p:endSync evt="end" delay="0">
                  <p:rtn val="all"/>
                </p:endSync>
                <p:childTnLst>
                  <p:par>
                    <p:cTn id="37" fill="hold">
                      <p:stCondLst>
                        <p:cond delay="0"/>
                      </p:stCondLst>
                      <p:childTnLst>
                        <p:par>
                          <p:cTn id="38" presetID="10" presetClass="entr" fill="hold" grpId="0" nodeType="click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fade">
                                <p:cBhvr>
                                  <p:cTn id="40" dur="350"/>
                                  <p:tgtEl>
                                    <p:spTgt spid="41"/>
                                  </p:tgtEl>
                                </p:cBhvr>
                              </p:animEffect>
                            </p:childTnLst>
                          </p:cTn>
                        </p:par>
                      </p:childTnLst>
                    </p:cTn>
                  </p:par>
                </p:childTnLst>
              </p:cTn>
            </p:seq>
            <p:seq concurrent="1" nextAc="seek">
              <p:cTn id="41" restart="whenNotActive" fill="hold" evtFilter="cancelBubble" nodeType="interactiveSeq">
                <p:stCondLst>
                  <p:cond evt="onClick" delay="0">
                    <p:tgtEl>
                      <p:spTgt spid="42"/>
                    </p:tgtEl>
                  </p:cond>
                </p:stCondLst>
                <p:endSync evt="end" delay="0">
                  <p:rtn val="all"/>
                </p:endSync>
                <p:childTnLst>
                  <p:par>
                    <p:cTn id="42" fill="hold">
                      <p:stCondLst>
                        <p:cond delay="0"/>
                      </p:stCondLst>
                      <p:childTnLst>
                        <p:par>
                          <p:cTn id="43" presetID="10" presetClass="entr" fill="hold" grpId="0" nodeType="click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350"/>
                                  <p:tgtEl>
                                    <p:spTgt spid="45"/>
                                  </p:tgtEl>
                                </p:cBhvr>
                              </p:animEffect>
                            </p:childTnLst>
                          </p:cTn>
                        </p:par>
                      </p:childTnLst>
                    </p:cTn>
                  </p:par>
                </p:childTnLst>
              </p:cTn>
            </p:seq>
            <p:seq concurrent="1" nextAc="seek">
              <p:cTn id="46" restart="whenNotActive" fill="hold" evtFilter="cancelBubble" nodeType="interactiveSeq">
                <p:stCondLst>
                  <p:cond evt="onClick" delay="0">
                    <p:tgtEl>
                      <p:spTgt spid="46"/>
                    </p:tgtEl>
                  </p:cond>
                </p:stCondLst>
                <p:endSync evt="end" delay="0">
                  <p:rtn val="all"/>
                </p:endSync>
                <p:childTnLst>
                  <p:par>
                    <p:cTn id="47" fill="hold">
                      <p:stCondLst>
                        <p:cond delay="0"/>
                      </p:stCondLst>
                      <p:childTnLst>
                        <p:par>
                          <p:cTn id="48" presetID="10" presetClass="entr" fill="hold" grpId="0" nodeType="click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fade">
                                <p:cBhvr>
                                  <p:cTn id="50" dur="350"/>
                                  <p:tgtEl>
                                    <p:spTgt spid="49"/>
                                  </p:tgtEl>
                                </p:cBhvr>
                              </p:animEffect>
                            </p:childTnLst>
                          </p:cTn>
                        </p:par>
                      </p:childTnLst>
                    </p:cTn>
                  </p:par>
                </p:childTnLst>
              </p:cTn>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6095848"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12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READ AGAIN</a:t>
            </a:r>
          </a:p>
        </p:txBody>
      </p:sp>
      <p:sp>
        <p:nvSpPr>
          <p:cNvPr id="12" name="TextBox 11"/>
          <p:cNvSpPr txBox="1"/>
          <p:nvPr/>
        </p:nvSpPr>
        <p:spPr>
          <a:xfrm>
            <a:off x="566928" y="859536"/>
            <a:ext cx="7315200" cy="1371600"/>
          </a:xfrm>
          <a:prstGeom prst="rect">
            <a:avLst/>
          </a:prstGeom>
          <a:noFill/>
        </p:spPr>
        <p:txBody>
          <a:bodyPr wrap="square" anchor="t" lIns="0" tIns="0" rIns="0" bIns="0"/>
          <a:lstStyle/>
          <a:p>
            <a:pPr algn="l">
              <a:lnSpc>
                <a:spcPct val="92000"/>
              </a:lnSpc>
              <a:spcBef>
                <a:spcPts val="0"/>
              </a:spcBef>
              <a:spcAft>
                <a:spcPts val="0"/>
              </a:spcAft>
            </a:pPr>
            <a:r>
              <a:rPr sz="2700" b="1" i="0">
                <a:solidFill>
                  <a:srgbClr val="0F1B33"/>
                </a:solidFill>
                <a:latin typeface="Trebuchet MS"/>
              </a:rPr>
              <a:t>Find the phrases in the script</a:t>
            </a:r>
          </a:p>
        </p:txBody>
      </p:sp>
      <p:sp>
        <p:nvSpPr>
          <p:cNvPr id="14" name="Rounded Rectangle 13"/>
          <p:cNvSpPr/>
          <p:nvPr/>
        </p:nvSpPr>
        <p:spPr>
          <a:xfrm>
            <a:off x="566928" y="1335024"/>
            <a:ext cx="6720840" cy="4956048"/>
          </a:xfrm>
          <a:prstGeom prst="roundRect">
            <a:avLst>
              <a:gd name="adj" fmla="val 4059"/>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ounded Rectangle 14"/>
          <p:cNvSpPr/>
          <p:nvPr/>
        </p:nvSpPr>
        <p:spPr>
          <a:xfrm>
            <a:off x="667512" y="2445715"/>
            <a:ext cx="6519672" cy="418186"/>
          </a:xfrm>
          <a:prstGeom prst="roundRect">
            <a:avLst>
              <a:gd name="adj" fmla="val 13119"/>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Rounded Rectangle 15"/>
          <p:cNvSpPr/>
          <p:nvPr/>
        </p:nvSpPr>
        <p:spPr>
          <a:xfrm>
            <a:off x="667512" y="2887675"/>
            <a:ext cx="6519672" cy="616306"/>
          </a:xfrm>
          <a:prstGeom prst="roundRect">
            <a:avLst>
              <a:gd name="adj" fmla="val 8902"/>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Rounded Rectangle 16"/>
          <p:cNvSpPr/>
          <p:nvPr/>
        </p:nvSpPr>
        <p:spPr>
          <a:xfrm>
            <a:off x="667512" y="5478475"/>
            <a:ext cx="6519672" cy="220066"/>
          </a:xfrm>
          <a:prstGeom prst="roundRect">
            <a:avLst>
              <a:gd name="adj" fmla="val 24930"/>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ounded Rectangle 17"/>
          <p:cNvSpPr/>
          <p:nvPr/>
        </p:nvSpPr>
        <p:spPr>
          <a:xfrm>
            <a:off x="667512" y="5722315"/>
            <a:ext cx="6519672" cy="220066"/>
          </a:xfrm>
          <a:prstGeom prst="roundRect">
            <a:avLst>
              <a:gd name="adj" fmla="val 24930"/>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804672" y="148132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Grandma:  </a:t>
            </a:r>
            <a:r>
              <a:rPr sz="1200" b="0" i="0">
                <a:solidFill>
                  <a:srgbClr val="0F1B33"/>
                </a:solidFill>
                <a:latin typeface="Calibri"/>
              </a:rPr>
              <a:t>What are you doing, Cara?</a:t>
            </a:r>
          </a:p>
        </p:txBody>
      </p:sp>
      <p:sp>
        <p:nvSpPr>
          <p:cNvPr id="20" name="TextBox 19"/>
          <p:cNvSpPr txBox="1"/>
          <p:nvPr/>
        </p:nvSpPr>
        <p:spPr>
          <a:xfrm>
            <a:off x="804672" y="172516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Cara:  </a:t>
            </a:r>
            <a:r>
              <a:rPr sz="1200" b="0" i="0">
                <a:solidFill>
                  <a:srgbClr val="0F1B33"/>
                </a:solidFill>
                <a:latin typeface="Calibri"/>
              </a:rPr>
              <a:t>I’m texting Maria. I haven’t seen her all week, so I’m just saying “hi.”</a:t>
            </a:r>
          </a:p>
        </p:txBody>
      </p:sp>
      <p:sp>
        <p:nvSpPr>
          <p:cNvPr id="21" name="TextBox 20"/>
          <p:cNvSpPr txBox="1"/>
          <p:nvPr/>
        </p:nvSpPr>
        <p:spPr>
          <a:xfrm>
            <a:off x="804672" y="196900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Grandma:  </a:t>
            </a:r>
            <a:r>
              <a:rPr sz="1200" b="0" i="0">
                <a:solidFill>
                  <a:srgbClr val="0F1B33"/>
                </a:solidFill>
                <a:latin typeface="Calibri"/>
              </a:rPr>
              <a:t>What’s that beep?</a:t>
            </a:r>
          </a:p>
        </p:txBody>
      </p:sp>
      <p:sp>
        <p:nvSpPr>
          <p:cNvPr id="22" name="TextBox 21"/>
          <p:cNvSpPr txBox="1"/>
          <p:nvPr/>
        </p:nvSpPr>
        <p:spPr>
          <a:xfrm>
            <a:off x="804672" y="221284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Cara:  </a:t>
            </a:r>
            <a:r>
              <a:rPr sz="1200" b="0" i="0">
                <a:solidFill>
                  <a:srgbClr val="0F1B33"/>
                </a:solidFill>
                <a:latin typeface="Calibri"/>
              </a:rPr>
              <a:t>It’s Maria. She just sent a text message back to me.</a:t>
            </a:r>
          </a:p>
        </p:txBody>
      </p:sp>
      <p:sp>
        <p:nvSpPr>
          <p:cNvPr id="23" name="TextBox 22"/>
          <p:cNvSpPr txBox="1"/>
          <p:nvPr/>
        </p:nvSpPr>
        <p:spPr>
          <a:xfrm>
            <a:off x="804672" y="2456688"/>
            <a:ext cx="6236208" cy="43281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Grandma:  </a:t>
            </a:r>
            <a:r>
              <a:rPr sz="1200" b="0" i="0">
                <a:solidFill>
                  <a:srgbClr val="0F1B33"/>
                </a:solidFill>
                <a:latin typeface="Calibri"/>
              </a:rPr>
              <a:t>I don’t understand. How on earth do you type what you want to say so quickly?</a:t>
            </a:r>
          </a:p>
        </p:txBody>
      </p:sp>
      <p:sp>
        <p:nvSpPr>
          <p:cNvPr id="24" name="TextBox 23"/>
          <p:cNvSpPr txBox="1"/>
          <p:nvPr/>
        </p:nvSpPr>
        <p:spPr>
          <a:xfrm>
            <a:off x="804672" y="2898648"/>
            <a:ext cx="6236208" cy="63093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Cara:  </a:t>
            </a:r>
            <a:r>
              <a:rPr sz="1200" b="0" i="0">
                <a:solidFill>
                  <a:srgbClr val="0F1B33"/>
                </a:solidFill>
                <a:latin typeface="Calibri"/>
              </a:rPr>
              <a:t>You don’t actually type the words out. You use abbreviations and acronyms. Hold on. I’ll show you. Right now I’m asking if she wants to come over and hang out.</a:t>
            </a:r>
          </a:p>
        </p:txBody>
      </p:sp>
      <p:sp>
        <p:nvSpPr>
          <p:cNvPr id="25" name="TextBox 24"/>
          <p:cNvSpPr txBox="1"/>
          <p:nvPr/>
        </p:nvSpPr>
        <p:spPr>
          <a:xfrm>
            <a:off x="804672" y="353872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Grandma:  </a:t>
            </a:r>
            <a:r>
              <a:rPr sz="1200" b="0" i="0">
                <a:solidFill>
                  <a:srgbClr val="0F1B33"/>
                </a:solidFill>
                <a:latin typeface="Calibri"/>
              </a:rPr>
              <a:t>That’s a lot to type.</a:t>
            </a:r>
          </a:p>
        </p:txBody>
      </p:sp>
      <p:sp>
        <p:nvSpPr>
          <p:cNvPr id="26" name="TextBox 25"/>
          <p:cNvSpPr txBox="1"/>
          <p:nvPr/>
        </p:nvSpPr>
        <p:spPr>
          <a:xfrm>
            <a:off x="804672" y="378256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Cara:  </a:t>
            </a:r>
            <a:r>
              <a:rPr sz="1200" b="0" i="0">
                <a:solidFill>
                  <a:srgbClr val="0F1B33"/>
                </a:solidFill>
                <a:latin typeface="Calibri"/>
              </a:rPr>
              <a:t>Right. So instead I type “DYWT come ovr.” Does that make sense?</a:t>
            </a:r>
          </a:p>
        </p:txBody>
      </p:sp>
      <p:sp>
        <p:nvSpPr>
          <p:cNvPr id="27" name="TextBox 26"/>
          <p:cNvSpPr txBox="1"/>
          <p:nvPr/>
        </p:nvSpPr>
        <p:spPr>
          <a:xfrm>
            <a:off x="804672" y="402640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Grandma:  </a:t>
            </a:r>
            <a:r>
              <a:rPr sz="1200" b="0" i="0">
                <a:solidFill>
                  <a:srgbClr val="0F1B33"/>
                </a:solidFill>
                <a:latin typeface="Calibri"/>
              </a:rPr>
              <a:t>DYWT? What does that mean?</a:t>
            </a:r>
          </a:p>
        </p:txBody>
      </p:sp>
      <p:sp>
        <p:nvSpPr>
          <p:cNvPr id="28" name="TextBox 27"/>
          <p:cNvSpPr txBox="1"/>
          <p:nvPr/>
        </p:nvSpPr>
        <p:spPr>
          <a:xfrm>
            <a:off x="804672" y="427024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Cara:  </a:t>
            </a:r>
            <a:r>
              <a:rPr sz="1200" b="0" i="0">
                <a:solidFill>
                  <a:srgbClr val="0F1B33"/>
                </a:solidFill>
                <a:latin typeface="Calibri"/>
              </a:rPr>
              <a:t>DYWT means “Do you want to.” It’s the first letter of each word.</a:t>
            </a:r>
          </a:p>
        </p:txBody>
      </p:sp>
      <p:sp>
        <p:nvSpPr>
          <p:cNvPr id="29" name="TextBox 28"/>
          <p:cNvSpPr txBox="1"/>
          <p:nvPr/>
        </p:nvSpPr>
        <p:spPr>
          <a:xfrm>
            <a:off x="804672" y="451408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Grandma:  </a:t>
            </a:r>
            <a:r>
              <a:rPr sz="1200" b="0" i="0">
                <a:solidFill>
                  <a:srgbClr val="0F1B33"/>
                </a:solidFill>
                <a:latin typeface="Calibri"/>
              </a:rPr>
              <a:t>Oh. OK. Now what?</a:t>
            </a:r>
          </a:p>
        </p:txBody>
      </p:sp>
      <p:sp>
        <p:nvSpPr>
          <p:cNvPr id="30" name="TextBox 29"/>
          <p:cNvSpPr txBox="1"/>
          <p:nvPr/>
        </p:nvSpPr>
        <p:spPr>
          <a:xfrm>
            <a:off x="804672" y="475792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Cara:  </a:t>
            </a:r>
            <a:r>
              <a:rPr sz="1200" b="0" i="0">
                <a:solidFill>
                  <a:srgbClr val="0F1B33"/>
                </a:solidFill>
                <a:latin typeface="Calibri"/>
              </a:rPr>
              <a:t>She’ll respond in a second. (beep) There.</a:t>
            </a:r>
          </a:p>
        </p:txBody>
      </p:sp>
      <p:sp>
        <p:nvSpPr>
          <p:cNvPr id="31" name="TextBox 30"/>
          <p:cNvSpPr txBox="1"/>
          <p:nvPr/>
        </p:nvSpPr>
        <p:spPr>
          <a:xfrm>
            <a:off x="804672" y="500176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Grandma:  </a:t>
            </a:r>
            <a:r>
              <a:rPr sz="1200" b="0" i="0">
                <a:solidFill>
                  <a:srgbClr val="0F1B33"/>
                </a:solidFill>
                <a:latin typeface="Calibri"/>
              </a:rPr>
              <a:t>What did she say?</a:t>
            </a:r>
          </a:p>
        </p:txBody>
      </p:sp>
      <p:sp>
        <p:nvSpPr>
          <p:cNvPr id="32" name="TextBox 31"/>
          <p:cNvSpPr txBox="1"/>
          <p:nvPr/>
        </p:nvSpPr>
        <p:spPr>
          <a:xfrm>
            <a:off x="804672" y="524560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Cara:  </a:t>
            </a:r>
            <a:r>
              <a:rPr sz="1200" b="0" i="0">
                <a:solidFill>
                  <a:srgbClr val="0F1B33"/>
                </a:solidFill>
                <a:latin typeface="Calibri"/>
              </a:rPr>
              <a:t>(spelling it out) Gr8. B ovr n 10 mins.</a:t>
            </a:r>
          </a:p>
        </p:txBody>
      </p:sp>
      <p:sp>
        <p:nvSpPr>
          <p:cNvPr id="33" name="TextBox 32"/>
          <p:cNvSpPr txBox="1"/>
          <p:nvPr/>
        </p:nvSpPr>
        <p:spPr>
          <a:xfrm>
            <a:off x="804672" y="548944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Grandma:  </a:t>
            </a:r>
            <a:r>
              <a:rPr sz="1200" b="0" i="0">
                <a:solidFill>
                  <a:srgbClr val="0F1B33"/>
                </a:solidFill>
                <a:latin typeface="Calibri"/>
              </a:rPr>
              <a:t>I think I get it. She’s saying, “Great. Be over in ten minutes.”</a:t>
            </a:r>
          </a:p>
        </p:txBody>
      </p:sp>
      <p:sp>
        <p:nvSpPr>
          <p:cNvPr id="34" name="TextBox 33"/>
          <p:cNvSpPr txBox="1"/>
          <p:nvPr/>
        </p:nvSpPr>
        <p:spPr>
          <a:xfrm>
            <a:off x="804672" y="5733288"/>
            <a:ext cx="6236208" cy="234696"/>
          </a:xfrm>
          <a:prstGeom prst="rect">
            <a:avLst/>
          </a:prstGeom>
          <a:noFill/>
        </p:spPr>
        <p:txBody>
          <a:bodyPr wrap="square" anchor="t" lIns="0" tIns="0" rIns="0" bIns="0"/>
          <a:lstStyle/>
          <a:p>
            <a:pPr algn="l">
              <a:lnSpc>
                <a:spcPct val="96000"/>
              </a:lnSpc>
              <a:spcBef>
                <a:spcPts val="0"/>
              </a:spcBef>
              <a:spcAft>
                <a:spcPts val="0"/>
              </a:spcAft>
            </a:pPr>
            <a:r>
              <a:rPr sz="1200" b="1" i="0">
                <a:solidFill>
                  <a:srgbClr val="1B3FA8"/>
                </a:solidFill>
                <a:latin typeface="Calibri"/>
              </a:rPr>
              <a:t>Cara:  </a:t>
            </a:r>
            <a:r>
              <a:rPr sz="1200" b="0" i="0">
                <a:solidFill>
                  <a:srgbClr val="0F1B33"/>
                </a:solidFill>
                <a:latin typeface="Calibri"/>
              </a:rPr>
              <a:t>Now you’ve got the hang of it, Grandma!</a:t>
            </a:r>
          </a:p>
        </p:txBody>
      </p:sp>
      <p:sp>
        <p:nvSpPr>
          <p:cNvPr id="35" name="Rounded Rectangle 34"/>
          <p:cNvSpPr/>
          <p:nvPr/>
        </p:nvSpPr>
        <p:spPr>
          <a:xfrm>
            <a:off x="7607808" y="1481328"/>
            <a:ext cx="4023360" cy="530352"/>
          </a:xfrm>
          <a:prstGeom prst="roundRect">
            <a:avLst>
              <a:gd name="adj" fmla="val 27586"/>
            </a:avLst>
          </a:prstGeom>
          <a:solidFill>
            <a:srgbClr val="FFFFFF"/>
          </a:solidFill>
          <a:ln w="13970">
            <a:solidFill>
              <a:srgbClr val="C3D4FF"/>
            </a:solidFill>
          </a:ln>
          <a:effectLst>
            <a:outerShdw blurRad="1778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56032" tIns="36576" rIns="777240" bIns="36576"/>
          <a:lstStyle/>
          <a:p>
            <a:pPr algn="l">
              <a:lnSpc>
                <a:spcPct val="95000"/>
              </a:lnSpc>
              <a:spcBef>
                <a:spcPts val="0"/>
              </a:spcBef>
              <a:spcAft>
                <a:spcPts val="0"/>
              </a:spcAft>
            </a:pPr>
            <a:r>
              <a:rPr sz="1500" b="1" i="0">
                <a:solidFill>
                  <a:srgbClr val="1B3FA8"/>
                </a:solidFill>
                <a:latin typeface="Calibri"/>
              </a:rPr>
              <a:t>How on earth</a:t>
            </a:r>
          </a:p>
        </p:txBody>
      </p:sp>
      <p:sp>
        <p:nvSpPr>
          <p:cNvPr id="36" name="Oval 35"/>
          <p:cNvSpPr/>
          <p:nvPr/>
        </p:nvSpPr>
        <p:spPr>
          <a:xfrm>
            <a:off x="11119104" y="1618488"/>
            <a:ext cx="256032" cy="25603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Connector 36"/>
          <p:cNvCxnSpPr/>
          <p:nvPr/>
        </p:nvCxnSpPr>
        <p:spPr>
          <a:xfrm>
            <a:off x="11190793" y="1749064"/>
            <a:ext cx="43525" cy="46086"/>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1234318" y="1695298"/>
            <a:ext cx="74250" cy="99852"/>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607808" y="2157984"/>
            <a:ext cx="4023360" cy="530352"/>
          </a:xfrm>
          <a:prstGeom prst="roundRect">
            <a:avLst>
              <a:gd name="adj" fmla="val 27586"/>
            </a:avLst>
          </a:prstGeom>
          <a:solidFill>
            <a:srgbClr val="FFFFFF"/>
          </a:solidFill>
          <a:ln w="13970">
            <a:solidFill>
              <a:srgbClr val="C3D4FF"/>
            </a:solidFill>
          </a:ln>
          <a:effectLst>
            <a:outerShdw blurRad="1778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56032" tIns="36576" rIns="777240" bIns="36576"/>
          <a:lstStyle/>
          <a:p>
            <a:pPr algn="l">
              <a:lnSpc>
                <a:spcPct val="95000"/>
              </a:lnSpc>
              <a:spcBef>
                <a:spcPts val="0"/>
              </a:spcBef>
              <a:spcAft>
                <a:spcPts val="0"/>
              </a:spcAft>
            </a:pPr>
            <a:r>
              <a:rPr sz="1500" b="1" i="0">
                <a:solidFill>
                  <a:srgbClr val="1B3FA8"/>
                </a:solidFill>
                <a:latin typeface="Calibri"/>
              </a:rPr>
              <a:t>Hold on</a:t>
            </a:r>
          </a:p>
        </p:txBody>
      </p:sp>
      <p:sp>
        <p:nvSpPr>
          <p:cNvPr id="40" name="Oval 39"/>
          <p:cNvSpPr/>
          <p:nvPr/>
        </p:nvSpPr>
        <p:spPr>
          <a:xfrm>
            <a:off x="11119104" y="2295144"/>
            <a:ext cx="256032" cy="25603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Connector 40"/>
          <p:cNvCxnSpPr/>
          <p:nvPr/>
        </p:nvCxnSpPr>
        <p:spPr>
          <a:xfrm>
            <a:off x="11190793" y="2425720"/>
            <a:ext cx="43525" cy="46086"/>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1234318" y="2371954"/>
            <a:ext cx="74250" cy="99852"/>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7607808" y="2834640"/>
            <a:ext cx="4023360" cy="530352"/>
          </a:xfrm>
          <a:prstGeom prst="roundRect">
            <a:avLst>
              <a:gd name="adj" fmla="val 27586"/>
            </a:avLst>
          </a:prstGeom>
          <a:solidFill>
            <a:srgbClr val="FFFFFF"/>
          </a:solidFill>
          <a:ln w="13970">
            <a:solidFill>
              <a:srgbClr val="C3D4FF"/>
            </a:solidFill>
          </a:ln>
          <a:effectLst>
            <a:outerShdw blurRad="1778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56032" tIns="36576" rIns="777240" bIns="36576"/>
          <a:lstStyle/>
          <a:p>
            <a:pPr algn="l">
              <a:lnSpc>
                <a:spcPct val="95000"/>
              </a:lnSpc>
              <a:spcBef>
                <a:spcPts val="0"/>
              </a:spcBef>
              <a:spcAft>
                <a:spcPts val="0"/>
              </a:spcAft>
            </a:pPr>
            <a:r>
              <a:rPr sz="1500" b="1" i="0">
                <a:solidFill>
                  <a:srgbClr val="1B3FA8"/>
                </a:solidFill>
                <a:latin typeface="Calibri"/>
              </a:rPr>
              <a:t>hang out</a:t>
            </a:r>
          </a:p>
        </p:txBody>
      </p:sp>
      <p:sp>
        <p:nvSpPr>
          <p:cNvPr id="44" name="Oval 43"/>
          <p:cNvSpPr/>
          <p:nvPr/>
        </p:nvSpPr>
        <p:spPr>
          <a:xfrm>
            <a:off x="11119104" y="2971800"/>
            <a:ext cx="256032" cy="25603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5" name="Connector 44"/>
          <p:cNvCxnSpPr/>
          <p:nvPr/>
        </p:nvCxnSpPr>
        <p:spPr>
          <a:xfrm>
            <a:off x="11190793" y="3102376"/>
            <a:ext cx="43525" cy="46086"/>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1234318" y="3048610"/>
            <a:ext cx="74250" cy="99852"/>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7607808" y="3511296"/>
            <a:ext cx="4023360" cy="530352"/>
          </a:xfrm>
          <a:prstGeom prst="roundRect">
            <a:avLst>
              <a:gd name="adj" fmla="val 27586"/>
            </a:avLst>
          </a:prstGeom>
          <a:solidFill>
            <a:srgbClr val="FFFFFF"/>
          </a:solidFill>
          <a:ln w="13970">
            <a:solidFill>
              <a:srgbClr val="C3D4FF"/>
            </a:solidFill>
          </a:ln>
          <a:effectLst>
            <a:outerShdw blurRad="1778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56032" tIns="36576" rIns="777240" bIns="36576"/>
          <a:lstStyle/>
          <a:p>
            <a:pPr algn="l">
              <a:lnSpc>
                <a:spcPct val="95000"/>
              </a:lnSpc>
              <a:spcBef>
                <a:spcPts val="0"/>
              </a:spcBef>
              <a:spcAft>
                <a:spcPts val="0"/>
              </a:spcAft>
            </a:pPr>
            <a:r>
              <a:rPr sz="1500" b="1" i="0">
                <a:solidFill>
                  <a:srgbClr val="1B3FA8"/>
                </a:solidFill>
                <a:latin typeface="Calibri"/>
              </a:rPr>
              <a:t>get it</a:t>
            </a:r>
          </a:p>
        </p:txBody>
      </p:sp>
      <p:sp>
        <p:nvSpPr>
          <p:cNvPr id="54" name="Oval 53"/>
          <p:cNvSpPr/>
          <p:nvPr/>
        </p:nvSpPr>
        <p:spPr>
          <a:xfrm>
            <a:off x="11119104" y="3648456"/>
            <a:ext cx="256032" cy="25603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5" name="Connector 54"/>
          <p:cNvCxnSpPr/>
          <p:nvPr/>
        </p:nvCxnSpPr>
        <p:spPr>
          <a:xfrm>
            <a:off x="11190793" y="3779032"/>
            <a:ext cx="43525" cy="46086"/>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1234318" y="3725266"/>
            <a:ext cx="74250" cy="99852"/>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607808" y="4187952"/>
            <a:ext cx="4023360" cy="530352"/>
          </a:xfrm>
          <a:prstGeom prst="roundRect">
            <a:avLst>
              <a:gd name="adj" fmla="val 27586"/>
            </a:avLst>
          </a:prstGeom>
          <a:solidFill>
            <a:srgbClr val="FFFFFF"/>
          </a:solidFill>
          <a:ln w="13970">
            <a:solidFill>
              <a:srgbClr val="C3D4FF"/>
            </a:solidFill>
          </a:ln>
          <a:effectLst>
            <a:outerShdw blurRad="1778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56032" tIns="36576" rIns="777240" bIns="36576"/>
          <a:lstStyle/>
          <a:p>
            <a:pPr algn="l">
              <a:lnSpc>
                <a:spcPct val="95000"/>
              </a:lnSpc>
              <a:spcBef>
                <a:spcPts val="0"/>
              </a:spcBef>
              <a:spcAft>
                <a:spcPts val="0"/>
              </a:spcAft>
            </a:pPr>
            <a:r>
              <a:rPr sz="1500" b="1" i="0">
                <a:solidFill>
                  <a:srgbClr val="1B3FA8"/>
                </a:solidFill>
                <a:latin typeface="Calibri"/>
              </a:rPr>
              <a:t>got the hang of it</a:t>
            </a:r>
          </a:p>
        </p:txBody>
      </p:sp>
      <p:sp>
        <p:nvSpPr>
          <p:cNvPr id="68" name="Oval 67"/>
          <p:cNvSpPr/>
          <p:nvPr/>
        </p:nvSpPr>
        <p:spPr>
          <a:xfrm>
            <a:off x="11119104" y="4325112"/>
            <a:ext cx="256032" cy="256032"/>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69" name="Connector 68"/>
          <p:cNvCxnSpPr/>
          <p:nvPr/>
        </p:nvCxnSpPr>
        <p:spPr>
          <a:xfrm>
            <a:off x="11190793" y="4455688"/>
            <a:ext cx="43525" cy="46086"/>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1234318" y="4401922"/>
            <a:ext cx="74250" cy="99852"/>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81" name="Rounded Rectangle 80"/>
          <p:cNvSpPr/>
          <p:nvPr/>
        </p:nvSpPr>
        <p:spPr>
          <a:xfrm>
            <a:off x="7607808" y="5102352"/>
            <a:ext cx="2743200" cy="457200"/>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200" b="1" i="0">
                <a:solidFill>
                  <a:srgbClr val="1B3FA8"/>
                </a:solidFill>
                <a:latin typeface="Calibri"/>
              </a:rPr>
              <a:t>Show all</a:t>
            </a:r>
          </a:p>
        </p:txBody>
      </p:sp>
      <p:sp>
        <p:nvSpPr>
          <p:cNvPr id="140" name="TextBox 139"/>
          <p:cNvSpPr txBox="1"/>
          <p:nvPr/>
        </p:nvSpPr>
        <p:spPr>
          <a:xfrm>
            <a:off x="7607808" y="5705856"/>
            <a:ext cx="402336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a phrase — it lights up in the script.</a:t>
            </a:r>
          </a:p>
        </p:txBody>
      </p:sp>
      <p:pic>
        <p:nvPicPr>
          <p:cNvPr id="13" name="!!audio">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6492240" y="566928"/>
            <a:ext cx="512064" cy="512064"/>
          </a:xfrm>
          <a:prstGeom prst="rect">
            <a:avLst/>
          </a:prstGeom>
        </p:spPr>
      </p:pic>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11" restart="whenNotActive" fill="hold" evtFilter="cancelBubble" nodeType="interactiveSeq">
                <p:stCondLst>
                  <p:cond evt="onClick" delay="0">
                    <p:tgtEl>
                      <p:spTgt spid="35"/>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par>
                          <p:cTn id="16" presetID="10" presetClass="entr"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350"/>
                                  <p:tgtEl>
                                    <p:spTgt spid="36"/>
                                  </p:tgtEl>
                                </p:cBhvr>
                              </p:animEffect>
                            </p:childTnLst>
                          </p:cTn>
                        </p:par>
                        <p:par>
                          <p:cTn id="19" presetID="10" presetClass="entr"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350"/>
                                  <p:tgtEl>
                                    <p:spTgt spid="37"/>
                                  </p:tgtEl>
                                </p:cBhvr>
                              </p:animEffect>
                            </p:childTnLst>
                          </p:cTn>
                        </p:par>
                        <p:par>
                          <p:cTn id="22" presetID="10" presetClass="entr"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fade">
                                <p:cBhvr>
                                  <p:cTn id="24" dur="350"/>
                                  <p:tgtEl>
                                    <p:spTgt spid="38"/>
                                  </p:tgtEl>
                                </p:cBhvr>
                              </p:animEffect>
                            </p:childTnLst>
                          </p:cTn>
                        </p:par>
                      </p:childTnLst>
                    </p:cTn>
                  </p:par>
                </p:childTnLst>
              </p:cTn>
            </p:seq>
            <p:seq concurrent="1" nextAc="seek">
              <p:cTn id="25" restart="whenNotActive" fill="hold" evtFilter="cancelBubble" nodeType="interactiveSeq">
                <p:stCondLst>
                  <p:cond evt="onClick" delay="0">
                    <p:tgtEl>
                      <p:spTgt spid="39"/>
                    </p:tgtEl>
                  </p:cond>
                </p:stCondLst>
                <p:endSync evt="end" delay="0">
                  <p:rtn val="all"/>
                </p:endSync>
                <p:childTnLst>
                  <p:par>
                    <p:cTn id="26" fill="hold">
                      <p:stCondLst>
                        <p:cond delay="0"/>
                      </p:stCondLst>
                      <p:childTnLst>
                        <p:par>
                          <p:cTn id="27" presetID="10" presetClass="entr"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350"/>
                                  <p:tgtEl>
                                    <p:spTgt spid="16"/>
                                  </p:tgtEl>
                                </p:cBhvr>
                              </p:animEffect>
                            </p:childTnLst>
                          </p:cTn>
                        </p:par>
                        <p:par>
                          <p:cTn id="30" presetID="10" presetClass="entr"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350"/>
                                  <p:tgtEl>
                                    <p:spTgt spid="40"/>
                                  </p:tgtEl>
                                </p:cBhvr>
                              </p:animEffect>
                            </p:childTnLst>
                          </p:cTn>
                        </p:par>
                        <p:par>
                          <p:cTn id="33" presetID="10" presetClass="entr"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350"/>
                                  <p:tgtEl>
                                    <p:spTgt spid="41"/>
                                  </p:tgtEl>
                                </p:cBhvr>
                              </p:animEffect>
                            </p:childTnLst>
                          </p:cTn>
                        </p:par>
                        <p:par>
                          <p:cTn id="36" presetID="10" presetClass="entr"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350"/>
                                  <p:tgtEl>
                                    <p:spTgt spid="42"/>
                                  </p:tgtEl>
                                </p:cBhvr>
                              </p:animEffect>
                            </p:childTnLst>
                          </p:cTn>
                        </p:par>
                      </p:childTnLst>
                    </p:cTn>
                  </p:par>
                </p:childTnLst>
              </p:cTn>
            </p:seq>
            <p:seq concurrent="1" nextAc="seek">
              <p:cTn id="39" restart="whenNotActive" fill="hold" evtFilter="cancelBubble" nodeType="interactiveSeq">
                <p:stCondLst>
                  <p:cond evt="onClick" delay="0">
                    <p:tgtEl>
                      <p:spTgt spid="43"/>
                    </p:tgtEl>
                  </p:cond>
                </p:stCondLst>
                <p:endSync evt="end" delay="0">
                  <p:rtn val="all"/>
                </p:endSync>
                <p:childTnLst>
                  <p:par>
                    <p:cTn id="40" fill="hold">
                      <p:stCondLst>
                        <p:cond delay="0"/>
                      </p:stCondLst>
                      <p:childTnLst>
                        <p:par>
                          <p:cTn id="41" presetID="10" presetClass="entr"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50"/>
                                  <p:tgtEl>
                                    <p:spTgt spid="16"/>
                                  </p:tgtEl>
                                </p:cBhvr>
                              </p:animEffect>
                            </p:childTnLst>
                          </p:cTn>
                        </p:par>
                        <p:par>
                          <p:cTn id="44" presetID="10" presetClass="entr"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350"/>
                                  <p:tgtEl>
                                    <p:spTgt spid="44"/>
                                  </p:tgtEl>
                                </p:cBhvr>
                              </p:animEffect>
                            </p:childTnLst>
                          </p:cTn>
                        </p:par>
                        <p:par>
                          <p:cTn id="47" presetID="10" presetClass="entr"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fade">
                                <p:cBhvr>
                                  <p:cTn id="49" dur="350"/>
                                  <p:tgtEl>
                                    <p:spTgt spid="45"/>
                                  </p:tgtEl>
                                </p:cBhvr>
                              </p:animEffect>
                            </p:childTnLst>
                          </p:cTn>
                        </p:par>
                        <p:par>
                          <p:cTn id="50" presetID="10" presetClass="entr" fill="hold" grpId="0"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350"/>
                                  <p:tgtEl>
                                    <p:spTgt spid="46"/>
                                  </p:tgtEl>
                                </p:cBhvr>
                              </p:animEffect>
                            </p:childTnLst>
                          </p:cTn>
                        </p:par>
                      </p:childTnLst>
                    </p:cTn>
                  </p:par>
                </p:childTnLst>
              </p:cTn>
            </p:seq>
            <p:seq concurrent="1" nextAc="seek">
              <p:cTn id="53" restart="whenNotActive" fill="hold" evtFilter="cancelBubble" nodeType="interactiveSeq">
                <p:stCondLst>
                  <p:cond evt="onClick" delay="0">
                    <p:tgtEl>
                      <p:spTgt spid="53"/>
                    </p:tgtEl>
                  </p:cond>
                </p:stCondLst>
                <p:endSync evt="end" delay="0">
                  <p:rtn val="all"/>
                </p:endSync>
                <p:childTnLst>
                  <p:par>
                    <p:cTn id="54" fill="hold">
                      <p:stCondLst>
                        <p:cond delay="0"/>
                      </p:stCondLst>
                      <p:childTnLst>
                        <p:par>
                          <p:cTn id="55" presetID="10" presetClass="entr"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350"/>
                                  <p:tgtEl>
                                    <p:spTgt spid="17"/>
                                  </p:tgtEl>
                                </p:cBhvr>
                              </p:animEffect>
                            </p:childTnLst>
                          </p:cTn>
                        </p:par>
                        <p:par>
                          <p:cTn id="58" presetID="10" presetClass="entr" fill="hold" grpId="0" nodeType="withEffect">
                            <p:stCondLst>
                              <p:cond delay="0"/>
                            </p:stCondLst>
                            <p:childTnLst>
                              <p:set>
                                <p:cBhvr>
                                  <p:cTn id="59" dur="1" fill="hold">
                                    <p:stCondLst>
                                      <p:cond delay="0"/>
                                    </p:stCondLst>
                                  </p:cTn>
                                  <p:tgtEl>
                                    <p:spTgt spid="54"/>
                                  </p:tgtEl>
                                  <p:attrNameLst>
                                    <p:attrName>style.visibility</p:attrName>
                                  </p:attrNameLst>
                                </p:cBhvr>
                                <p:to>
                                  <p:strVal val="visible"/>
                                </p:to>
                              </p:set>
                              <p:animEffect transition="in" filter="fade">
                                <p:cBhvr>
                                  <p:cTn id="60" dur="350"/>
                                  <p:tgtEl>
                                    <p:spTgt spid="54"/>
                                  </p:tgtEl>
                                </p:cBhvr>
                              </p:animEffect>
                            </p:childTnLst>
                          </p:cTn>
                        </p:par>
                        <p:par>
                          <p:cTn id="61" presetID="10" presetClass="entr"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animEffect transition="in" filter="fade">
                                <p:cBhvr>
                                  <p:cTn id="63" dur="350"/>
                                  <p:tgtEl>
                                    <p:spTgt spid="55"/>
                                  </p:tgtEl>
                                </p:cBhvr>
                              </p:animEffect>
                            </p:childTnLst>
                          </p:cTn>
                        </p:par>
                        <p:par>
                          <p:cTn id="64" presetID="10" presetClass="entr" fill="hold" grpId="0" nodeType="withEffect">
                            <p:stCondLst>
                              <p:cond delay="0"/>
                            </p:stCondLst>
                            <p:childTnLst>
                              <p:set>
                                <p:cBhvr>
                                  <p:cTn id="65" dur="1" fill="hold">
                                    <p:stCondLst>
                                      <p:cond delay="0"/>
                                    </p:stCondLst>
                                  </p:cTn>
                                  <p:tgtEl>
                                    <p:spTgt spid="56"/>
                                  </p:tgtEl>
                                  <p:attrNameLst>
                                    <p:attrName>style.visibility</p:attrName>
                                  </p:attrNameLst>
                                </p:cBhvr>
                                <p:to>
                                  <p:strVal val="visible"/>
                                </p:to>
                              </p:set>
                              <p:animEffect transition="in" filter="fade">
                                <p:cBhvr>
                                  <p:cTn id="66" dur="350"/>
                                  <p:tgtEl>
                                    <p:spTgt spid="56"/>
                                  </p:tgtEl>
                                </p:cBhvr>
                              </p:animEffect>
                            </p:childTnLst>
                          </p:cTn>
                        </p:par>
                      </p:childTnLst>
                    </p:cTn>
                  </p:par>
                </p:childTnLst>
              </p:cTn>
            </p:seq>
            <p:seq concurrent="1" nextAc="seek">
              <p:cTn id="67" restart="whenNotActive" fill="hold" evtFilter="cancelBubble" nodeType="interactiveSeq">
                <p:stCondLst>
                  <p:cond evt="onClick" delay="0">
                    <p:tgtEl>
                      <p:spTgt spid="67"/>
                    </p:tgtEl>
                  </p:cond>
                </p:stCondLst>
                <p:endSync evt="end" delay="0">
                  <p:rtn val="all"/>
                </p:endSync>
                <p:childTnLst>
                  <p:par>
                    <p:cTn id="68" fill="hold">
                      <p:stCondLst>
                        <p:cond delay="0"/>
                      </p:stCondLst>
                      <p:childTnLst>
                        <p:par>
                          <p:cTn id="69" presetID="10" presetClass="entr"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350"/>
                                  <p:tgtEl>
                                    <p:spTgt spid="18"/>
                                  </p:tgtEl>
                                </p:cBhvr>
                              </p:animEffect>
                            </p:childTnLst>
                          </p:cTn>
                        </p:par>
                        <p:par>
                          <p:cTn id="72" presetID="10" presetClass="entr" fill="hold" grpId="0" nodeType="withEffect">
                            <p:stCondLst>
                              <p:cond delay="0"/>
                            </p:stCondLst>
                            <p:childTnLst>
                              <p:set>
                                <p:cBhvr>
                                  <p:cTn id="73" dur="1" fill="hold">
                                    <p:stCondLst>
                                      <p:cond delay="0"/>
                                    </p:stCondLst>
                                  </p:cTn>
                                  <p:tgtEl>
                                    <p:spTgt spid="68"/>
                                  </p:tgtEl>
                                  <p:attrNameLst>
                                    <p:attrName>style.visibility</p:attrName>
                                  </p:attrNameLst>
                                </p:cBhvr>
                                <p:to>
                                  <p:strVal val="visible"/>
                                </p:to>
                              </p:set>
                              <p:animEffect transition="in" filter="fade">
                                <p:cBhvr>
                                  <p:cTn id="74" dur="350"/>
                                  <p:tgtEl>
                                    <p:spTgt spid="68"/>
                                  </p:tgtEl>
                                </p:cBhvr>
                              </p:animEffect>
                            </p:childTnLst>
                          </p:cTn>
                        </p:par>
                        <p:par>
                          <p:cTn id="75" presetID="10" presetClass="entr" fill="hold" grpId="0" nodeType="withEffect">
                            <p:stCondLst>
                              <p:cond delay="0"/>
                            </p:stCondLst>
                            <p:childTnLst>
                              <p:set>
                                <p:cBhvr>
                                  <p:cTn id="76" dur="1" fill="hold">
                                    <p:stCondLst>
                                      <p:cond delay="0"/>
                                    </p:stCondLst>
                                  </p:cTn>
                                  <p:tgtEl>
                                    <p:spTgt spid="69"/>
                                  </p:tgtEl>
                                  <p:attrNameLst>
                                    <p:attrName>style.visibility</p:attrName>
                                  </p:attrNameLst>
                                </p:cBhvr>
                                <p:to>
                                  <p:strVal val="visible"/>
                                </p:to>
                              </p:set>
                              <p:animEffect transition="in" filter="fade">
                                <p:cBhvr>
                                  <p:cTn id="77" dur="350"/>
                                  <p:tgtEl>
                                    <p:spTgt spid="69"/>
                                  </p:tgtEl>
                                </p:cBhvr>
                              </p:animEffect>
                            </p:childTnLst>
                          </p:cTn>
                        </p:par>
                        <p:par>
                          <p:cTn id="78" presetID="10" presetClass="entr" fill="hold" grpId="0" nodeType="withEffect">
                            <p:stCondLst>
                              <p:cond delay="0"/>
                            </p:stCondLst>
                            <p:childTnLst>
                              <p:set>
                                <p:cBhvr>
                                  <p:cTn id="79" dur="1" fill="hold">
                                    <p:stCondLst>
                                      <p:cond delay="0"/>
                                    </p:stCondLst>
                                  </p:cTn>
                                  <p:tgtEl>
                                    <p:spTgt spid="70"/>
                                  </p:tgtEl>
                                  <p:attrNameLst>
                                    <p:attrName>style.visibility</p:attrName>
                                  </p:attrNameLst>
                                </p:cBhvr>
                                <p:to>
                                  <p:strVal val="visible"/>
                                </p:to>
                              </p:set>
                              <p:animEffect transition="in" filter="fade">
                                <p:cBhvr>
                                  <p:cTn id="80" dur="350"/>
                                  <p:tgtEl>
                                    <p:spTgt spid="70"/>
                                  </p:tgtEl>
                                </p:cBhvr>
                              </p:animEffect>
                            </p:childTnLst>
                          </p:cTn>
                        </p:par>
                      </p:childTnLst>
                    </p:cTn>
                  </p:par>
                </p:childTnLst>
              </p:cTn>
            </p:seq>
            <p:seq concurrent="1" nextAc="seek">
              <p:cTn id="81" restart="whenNotActive" fill="hold" evtFilter="cancelBubble" nodeType="interactiveSeq">
                <p:stCondLst>
                  <p:cond evt="onClick" delay="0">
                    <p:tgtEl>
                      <p:spTgt spid="81"/>
                    </p:tgtEl>
                  </p:cond>
                </p:stCondLst>
                <p:endSync evt="end" delay="0">
                  <p:rtn val="all"/>
                </p:endSync>
                <p:childTnLst>
                  <p:par>
                    <p:cTn id="82" fill="hold">
                      <p:stCondLst>
                        <p:cond delay="0"/>
                      </p:stCondLst>
                      <p:childTnLst>
                        <p:par>
                          <p:cTn id="83" presetID="10" presetClass="entr" fill="hold" grpId="0" nodeType="click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350"/>
                                  <p:tgtEl>
                                    <p:spTgt spid="15"/>
                                  </p:tgtEl>
                                </p:cBhvr>
                              </p:animEffect>
                            </p:childTnLst>
                          </p:cTn>
                        </p:par>
                        <p:par>
                          <p:cTn id="86" presetID="10" presetClass="entr" fill="hold" grpId="0" nodeType="with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350"/>
                                  <p:tgtEl>
                                    <p:spTgt spid="16"/>
                                  </p:tgtEl>
                                </p:cBhvr>
                              </p:animEffect>
                            </p:childTnLst>
                          </p:cTn>
                        </p:par>
                        <p:par>
                          <p:cTn id="89" presetID="10" presetClass="entr" fill="hold" grpId="0" nodeType="with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350"/>
                                  <p:tgtEl>
                                    <p:spTgt spid="17"/>
                                  </p:tgtEl>
                                </p:cBhvr>
                              </p:animEffect>
                            </p:childTnLst>
                          </p:cTn>
                        </p:par>
                        <p:par>
                          <p:cTn id="92" presetID="10" presetClass="entr" fill="hold" grpId="0" nodeType="with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350"/>
                                  <p:tgtEl>
                                    <p:spTgt spid="18"/>
                                  </p:tgtEl>
                                </p:cBhvr>
                              </p:animEffect>
                            </p:childTnLst>
                          </p:cTn>
                        </p:par>
                        <p:par>
                          <p:cTn id="95" presetID="10" presetClass="entr"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350"/>
                                  <p:tgtEl>
                                    <p:spTgt spid="36"/>
                                  </p:tgtEl>
                                </p:cBhvr>
                              </p:animEffect>
                            </p:childTnLst>
                          </p:cTn>
                        </p:par>
                        <p:par>
                          <p:cTn id="98" presetID="10" presetClass="entr"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350"/>
                                  <p:tgtEl>
                                    <p:spTgt spid="37"/>
                                  </p:tgtEl>
                                </p:cBhvr>
                              </p:animEffect>
                            </p:childTnLst>
                          </p:cTn>
                        </p:par>
                        <p:par>
                          <p:cTn id="101" presetID="10" presetClass="entr"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350"/>
                                  <p:tgtEl>
                                    <p:spTgt spid="38"/>
                                  </p:tgtEl>
                                </p:cBhvr>
                              </p:animEffect>
                            </p:childTnLst>
                          </p:cTn>
                        </p:par>
                        <p:par>
                          <p:cTn id="104" presetID="10" presetClass="entr" fill="hold" grpId="0" nodeType="with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fade">
                                <p:cBhvr>
                                  <p:cTn id="106" dur="350"/>
                                  <p:tgtEl>
                                    <p:spTgt spid="40"/>
                                  </p:tgtEl>
                                </p:cBhvr>
                              </p:animEffect>
                            </p:childTnLst>
                          </p:cTn>
                        </p:par>
                        <p:par>
                          <p:cTn id="107" presetID="10" presetClass="entr" fill="hold" grpId="0" nodeType="with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350"/>
                                  <p:tgtEl>
                                    <p:spTgt spid="41"/>
                                  </p:tgtEl>
                                </p:cBhvr>
                              </p:animEffect>
                            </p:childTnLst>
                          </p:cTn>
                        </p:par>
                        <p:par>
                          <p:cTn id="110" presetID="10" presetClass="entr" fill="hold" grpId="0" nodeType="withEffect">
                            <p:stCondLst>
                              <p:cond delay="0"/>
                            </p:stCondLst>
                            <p:childTnLst>
                              <p:set>
                                <p:cBhvr>
                                  <p:cTn id="111" dur="1" fill="hold">
                                    <p:stCondLst>
                                      <p:cond delay="0"/>
                                    </p:stCondLst>
                                  </p:cTn>
                                  <p:tgtEl>
                                    <p:spTgt spid="42"/>
                                  </p:tgtEl>
                                  <p:attrNameLst>
                                    <p:attrName>style.visibility</p:attrName>
                                  </p:attrNameLst>
                                </p:cBhvr>
                                <p:to>
                                  <p:strVal val="visible"/>
                                </p:to>
                              </p:set>
                              <p:animEffect transition="in" filter="fade">
                                <p:cBhvr>
                                  <p:cTn id="112" dur="350"/>
                                  <p:tgtEl>
                                    <p:spTgt spid="42"/>
                                  </p:tgtEl>
                                </p:cBhvr>
                              </p:animEffect>
                            </p:childTnLst>
                          </p:cTn>
                        </p:par>
                        <p:par>
                          <p:cTn id="113" presetID="10" presetClass="entr" fill="hold" grpId="0" nodeType="withEffect">
                            <p:stCondLst>
                              <p:cond delay="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5" dur="350"/>
                                  <p:tgtEl>
                                    <p:spTgt spid="44"/>
                                  </p:tgtEl>
                                </p:cBhvr>
                              </p:animEffect>
                            </p:childTnLst>
                          </p:cTn>
                        </p:par>
                        <p:par>
                          <p:cTn id="116" presetID="10" presetClass="entr"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8" dur="350"/>
                                  <p:tgtEl>
                                    <p:spTgt spid="45"/>
                                  </p:tgtEl>
                                </p:cBhvr>
                              </p:animEffect>
                            </p:childTnLst>
                          </p:cTn>
                        </p:par>
                        <p:par>
                          <p:cTn id="119" presetID="10" presetClass="entr" fill="hold" grpId="0" nodeType="withEffect">
                            <p:stCondLst>
                              <p:cond delay="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21" dur="350"/>
                                  <p:tgtEl>
                                    <p:spTgt spid="46"/>
                                  </p:tgtEl>
                                </p:cBhvr>
                              </p:animEffect>
                            </p:childTnLst>
                          </p:cTn>
                        </p:par>
                        <p:par>
                          <p:cTn id="122" presetID="10" presetClass="entr" fill="hold" grpId="0" nodeType="withEffect">
                            <p:stCondLst>
                              <p:cond delay="0"/>
                            </p:stCondLst>
                            <p:childTnLst>
                              <p:set>
                                <p:cBhvr>
                                  <p:cTn id="123" dur="1" fill="hold">
                                    <p:stCondLst>
                                      <p:cond delay="0"/>
                                    </p:stCondLst>
                                  </p:cTn>
                                  <p:tgtEl>
                                    <p:spTgt spid="54"/>
                                  </p:tgtEl>
                                  <p:attrNameLst>
                                    <p:attrName>style.visibility</p:attrName>
                                  </p:attrNameLst>
                                </p:cBhvr>
                                <p:to>
                                  <p:strVal val="visible"/>
                                </p:to>
                              </p:set>
                              <p:animEffect transition="in" filter="fade">
                                <p:cBhvr>
                                  <p:cTn id="124" dur="350"/>
                                  <p:tgtEl>
                                    <p:spTgt spid="54"/>
                                  </p:tgtEl>
                                </p:cBhvr>
                              </p:animEffect>
                            </p:childTnLst>
                          </p:cTn>
                        </p:par>
                        <p:par>
                          <p:cTn id="125" presetID="10" presetClass="entr" fill="hold" grpId="0" nodeType="withEffect">
                            <p:stCondLst>
                              <p:cond delay="0"/>
                            </p:stCondLst>
                            <p:childTnLst>
                              <p:set>
                                <p:cBhvr>
                                  <p:cTn id="126" dur="1" fill="hold">
                                    <p:stCondLst>
                                      <p:cond delay="0"/>
                                    </p:stCondLst>
                                  </p:cTn>
                                  <p:tgtEl>
                                    <p:spTgt spid="55"/>
                                  </p:tgtEl>
                                  <p:attrNameLst>
                                    <p:attrName>style.visibility</p:attrName>
                                  </p:attrNameLst>
                                </p:cBhvr>
                                <p:to>
                                  <p:strVal val="visible"/>
                                </p:to>
                              </p:set>
                              <p:animEffect transition="in" filter="fade">
                                <p:cBhvr>
                                  <p:cTn id="127" dur="350"/>
                                  <p:tgtEl>
                                    <p:spTgt spid="55"/>
                                  </p:tgtEl>
                                </p:cBhvr>
                              </p:animEffect>
                            </p:childTnLst>
                          </p:cTn>
                        </p:par>
                        <p:par>
                          <p:cTn id="128" presetID="10" presetClass="entr" fill="hold" grpId="0" nodeType="withEffect">
                            <p:stCondLst>
                              <p:cond delay="0"/>
                            </p:stCondLst>
                            <p:childTnLst>
                              <p:set>
                                <p:cBhvr>
                                  <p:cTn id="129" dur="1" fill="hold">
                                    <p:stCondLst>
                                      <p:cond delay="0"/>
                                    </p:stCondLst>
                                  </p:cTn>
                                  <p:tgtEl>
                                    <p:spTgt spid="56"/>
                                  </p:tgtEl>
                                  <p:attrNameLst>
                                    <p:attrName>style.visibility</p:attrName>
                                  </p:attrNameLst>
                                </p:cBhvr>
                                <p:to>
                                  <p:strVal val="visible"/>
                                </p:to>
                              </p:set>
                              <p:animEffect transition="in" filter="fade">
                                <p:cBhvr>
                                  <p:cTn id="130" dur="350"/>
                                  <p:tgtEl>
                                    <p:spTgt spid="56"/>
                                  </p:tgtEl>
                                </p:cBhvr>
                              </p:animEffect>
                            </p:childTnLst>
                          </p:cTn>
                        </p:par>
                        <p:par>
                          <p:cTn id="131" presetID="10" presetClass="entr" fill="hold" grpId="0" nodeType="withEffect">
                            <p:stCondLst>
                              <p:cond delay="0"/>
                            </p:stCondLst>
                            <p:childTnLst>
                              <p:set>
                                <p:cBhvr>
                                  <p:cTn id="132" dur="1" fill="hold">
                                    <p:stCondLst>
                                      <p:cond delay="0"/>
                                    </p:stCondLst>
                                  </p:cTn>
                                  <p:tgtEl>
                                    <p:spTgt spid="68"/>
                                  </p:tgtEl>
                                  <p:attrNameLst>
                                    <p:attrName>style.visibility</p:attrName>
                                  </p:attrNameLst>
                                </p:cBhvr>
                                <p:to>
                                  <p:strVal val="visible"/>
                                </p:to>
                              </p:set>
                              <p:animEffect transition="in" filter="fade">
                                <p:cBhvr>
                                  <p:cTn id="133" dur="350"/>
                                  <p:tgtEl>
                                    <p:spTgt spid="68"/>
                                  </p:tgtEl>
                                </p:cBhvr>
                              </p:animEffect>
                            </p:childTnLst>
                          </p:cTn>
                        </p:par>
                        <p:par>
                          <p:cTn id="134" presetID="10" presetClass="entr" fill="hold" grpId="0" nodeType="withEffect">
                            <p:stCondLst>
                              <p:cond delay="0"/>
                            </p:stCondLst>
                            <p:childTnLst>
                              <p:set>
                                <p:cBhvr>
                                  <p:cTn id="135" dur="1" fill="hold">
                                    <p:stCondLst>
                                      <p:cond delay="0"/>
                                    </p:stCondLst>
                                  </p:cTn>
                                  <p:tgtEl>
                                    <p:spTgt spid="69"/>
                                  </p:tgtEl>
                                  <p:attrNameLst>
                                    <p:attrName>style.visibility</p:attrName>
                                  </p:attrNameLst>
                                </p:cBhvr>
                                <p:to>
                                  <p:strVal val="visible"/>
                                </p:to>
                              </p:set>
                              <p:animEffect transition="in" filter="fade">
                                <p:cBhvr>
                                  <p:cTn id="136" dur="350"/>
                                  <p:tgtEl>
                                    <p:spTgt spid="69"/>
                                  </p:tgtEl>
                                </p:cBhvr>
                              </p:animEffect>
                            </p:childTnLst>
                          </p:cTn>
                        </p:par>
                        <p:par>
                          <p:cTn id="137" presetID="10" presetClass="entr" fill="hold" grpId="0" nodeType="withEffect">
                            <p:stCondLst>
                              <p:cond delay="0"/>
                            </p:stCondLst>
                            <p:childTnLst>
                              <p:set>
                                <p:cBhvr>
                                  <p:cTn id="138" dur="1" fill="hold">
                                    <p:stCondLst>
                                      <p:cond delay="0"/>
                                    </p:stCondLst>
                                  </p:cTn>
                                  <p:tgtEl>
                                    <p:spTgt spid="70"/>
                                  </p:tgtEl>
                                  <p:attrNameLst>
                                    <p:attrName>style.visibility</p:attrName>
                                  </p:attrNameLst>
                                </p:cBhvr>
                                <p:to>
                                  <p:strVal val="visible"/>
                                </p:to>
                              </p:set>
                              <p:animEffect transition="in" filter="fade">
                                <p:cBhvr>
                                  <p:cTn id="139" dur="350"/>
                                  <p:tgtEl>
                                    <p:spTgt spid="70"/>
                                  </p:tgtEl>
                                </p:cBhvr>
                              </p:animEffect>
                            </p:childTnLst>
                          </p:cTn>
                        </p:par>
                      </p:childTnLst>
                    </p:cTn>
                  </p:par>
                </p:childTnLst>
              </p:cTn>
            </p:seq>
            <p:audio>
              <p:cMediaNode vol="80000">
                <p:cTn id="140" fill="hold" display="0">
                  <p:stCondLst>
                    <p:cond delay="indefinite"/>
                  </p:stCondLst>
                  <p:endCondLst>
                    <p:cond evt="onStopAudio" delay="0">
                      <p:tgtEl>
                        <p:sldTgt/>
                      </p:tgtEl>
                    </p:cond>
                  </p:endCondLst>
                </p:cTn>
                <p:tgtEl>
                  <p:spTgt spid="13"/>
                </p:tgtEl>
              </p:cMediaNode>
            </p:audi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6603835"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13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REAL TALK</a:t>
            </a:r>
          </a:p>
        </p:txBody>
      </p:sp>
      <p:sp>
        <p:nvSpPr>
          <p:cNvPr id="12" name="TextBox 11"/>
          <p:cNvSpPr txBox="1"/>
          <p:nvPr/>
        </p:nvSpPr>
        <p:spPr>
          <a:xfrm>
            <a:off x="566928" y="786384"/>
            <a:ext cx="7315200" cy="1371600"/>
          </a:xfrm>
          <a:prstGeom prst="rect">
            <a:avLst/>
          </a:prstGeom>
          <a:noFill/>
        </p:spPr>
        <p:txBody>
          <a:bodyPr wrap="square" anchor="t" lIns="0" tIns="0" rIns="0" bIns="0"/>
          <a:lstStyle/>
          <a:p>
            <a:pPr algn="l">
              <a:lnSpc>
                <a:spcPct val="92000"/>
              </a:lnSpc>
              <a:spcBef>
                <a:spcPts val="0"/>
              </a:spcBef>
              <a:spcAft>
                <a:spcPts val="0"/>
              </a:spcAft>
            </a:pPr>
            <a:r>
              <a:rPr sz="3000" b="1" i="0">
                <a:solidFill>
                  <a:srgbClr val="0F1B33"/>
                </a:solidFill>
                <a:latin typeface="Trebuchet MS"/>
              </a:rPr>
              <a:t>Real Talk (phrases)</a:t>
            </a:r>
          </a:p>
        </p:txBody>
      </p:sp>
      <p:sp>
        <p:nvSpPr>
          <p:cNvPr id="13" name="TextBox 12"/>
          <p:cNvSpPr txBox="1"/>
          <p:nvPr/>
        </p:nvSpPr>
        <p:spPr>
          <a:xfrm>
            <a:off x="566928" y="1444752"/>
            <a:ext cx="10972800" cy="457200"/>
          </a:xfrm>
          <a:prstGeom prst="rect">
            <a:avLst/>
          </a:prstGeom>
          <a:noFill/>
        </p:spPr>
        <p:txBody>
          <a:bodyPr wrap="square" anchor="t" lIns="0" tIns="0" rIns="0" bIns="0"/>
          <a:lstStyle/>
          <a:p>
            <a:pPr algn="l">
              <a:lnSpc>
                <a:spcPct val="95000"/>
              </a:lnSpc>
              <a:spcBef>
                <a:spcPts val="0"/>
              </a:spcBef>
              <a:spcAft>
                <a:spcPts val="0"/>
              </a:spcAft>
            </a:pPr>
            <a:r>
              <a:rPr sz="1250" b="0" i="1">
                <a:solidFill>
                  <a:srgbClr val="5C6C86"/>
                </a:solidFill>
                <a:latin typeface="Calibri"/>
              </a:rPr>
              <a:t>Tap a sentence when the class has said what the blue phrase means.</a:t>
            </a:r>
          </a:p>
        </p:txBody>
      </p:sp>
      <p:sp>
        <p:nvSpPr>
          <p:cNvPr id="14" name="Rounded Rectangle 13"/>
          <p:cNvSpPr/>
          <p:nvPr/>
        </p:nvSpPr>
        <p:spPr>
          <a:xfrm>
            <a:off x="566928" y="1883664"/>
            <a:ext cx="11055096" cy="768096"/>
          </a:xfrm>
          <a:prstGeom prst="roundRect">
            <a:avLst>
              <a:gd name="adj" fmla="val 21428"/>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841248" y="1993392"/>
            <a:ext cx="6217920" cy="566928"/>
          </a:xfrm>
          <a:prstGeom prst="rect">
            <a:avLst/>
          </a:prstGeom>
          <a:noFill/>
        </p:spPr>
        <p:txBody>
          <a:bodyPr wrap="square" anchor="t" lIns="0" tIns="0" rIns="0" bIns="0"/>
          <a:lstStyle/>
          <a:p>
            <a:pPr algn="l">
              <a:lnSpc>
                <a:spcPct val="98000"/>
              </a:lnSpc>
              <a:spcBef>
                <a:spcPts val="0"/>
              </a:spcBef>
              <a:spcAft>
                <a:spcPts val="0"/>
              </a:spcAft>
            </a:pPr>
            <a:r>
              <a:rPr sz="1400" b="0" i="0">
                <a:solidFill>
                  <a:srgbClr val="0F1B33"/>
                </a:solidFill>
                <a:latin typeface="Calibri"/>
              </a:rPr>
              <a:t>How on earth did that happen ?</a:t>
            </a:r>
          </a:p>
        </p:txBody>
      </p:sp>
      <p:sp>
        <p:nvSpPr>
          <p:cNvPr id="16" name="Rounded Rectangle 15"/>
          <p:cNvSpPr/>
          <p:nvPr/>
        </p:nvSpPr>
        <p:spPr>
          <a:xfrm>
            <a:off x="6967728" y="2002536"/>
            <a:ext cx="3986784" cy="530352"/>
          </a:xfrm>
          <a:prstGeom prst="roundRect">
            <a:avLst>
              <a:gd name="adj" fmla="val 24137"/>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8288" rIns="128016" bIns="18288"/>
          <a:lstStyle/>
          <a:p>
            <a:pPr algn="l">
              <a:lnSpc>
                <a:spcPct val="95000"/>
              </a:lnSpc>
              <a:spcBef>
                <a:spcPts val="0"/>
              </a:spcBef>
              <a:spcAft>
                <a:spcPts val="0"/>
              </a:spcAft>
            </a:pPr>
            <a:r>
              <a:rPr sz="1250" b="1" i="0">
                <a:solidFill>
                  <a:srgbClr val="1B3FA8"/>
                </a:solidFill>
                <a:latin typeface="Calibri"/>
              </a:rPr>
              <a:t>How is it possible</a:t>
            </a:r>
          </a:p>
        </p:txBody>
      </p:sp>
      <p:sp>
        <p:nvSpPr>
          <p:cNvPr id="17" name="Rounded Rectangle 16"/>
          <p:cNvSpPr/>
          <p:nvPr/>
        </p:nvSpPr>
        <p:spPr>
          <a:xfrm>
            <a:off x="566928" y="2743200"/>
            <a:ext cx="11055096" cy="768096"/>
          </a:xfrm>
          <a:prstGeom prst="roundRect">
            <a:avLst>
              <a:gd name="adj" fmla="val 21428"/>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841248" y="2852928"/>
            <a:ext cx="6217920" cy="566928"/>
          </a:xfrm>
          <a:prstGeom prst="rect">
            <a:avLst/>
          </a:prstGeom>
          <a:noFill/>
        </p:spPr>
        <p:txBody>
          <a:bodyPr wrap="square" anchor="t" lIns="0" tIns="0" rIns="0" bIns="0"/>
          <a:lstStyle/>
          <a:p>
            <a:pPr algn="l">
              <a:lnSpc>
                <a:spcPct val="98000"/>
              </a:lnSpc>
              <a:spcBef>
                <a:spcPts val="0"/>
              </a:spcBef>
              <a:spcAft>
                <a:spcPts val="0"/>
              </a:spcAft>
            </a:pPr>
            <a:r>
              <a:rPr sz="1400" b="0" i="0">
                <a:solidFill>
                  <a:srgbClr val="0F1B33"/>
                </a:solidFill>
                <a:latin typeface="Calibri"/>
              </a:rPr>
              <a:t>If you can hold on , I’ll go and get some help .</a:t>
            </a:r>
          </a:p>
        </p:txBody>
      </p:sp>
      <p:sp>
        <p:nvSpPr>
          <p:cNvPr id="19" name="Rounded Rectangle 18"/>
          <p:cNvSpPr/>
          <p:nvPr/>
        </p:nvSpPr>
        <p:spPr>
          <a:xfrm>
            <a:off x="6967728" y="2862072"/>
            <a:ext cx="3986784" cy="530352"/>
          </a:xfrm>
          <a:prstGeom prst="roundRect">
            <a:avLst>
              <a:gd name="adj" fmla="val 24137"/>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8288" rIns="128016" bIns="18288"/>
          <a:lstStyle/>
          <a:p>
            <a:pPr algn="l">
              <a:lnSpc>
                <a:spcPct val="95000"/>
              </a:lnSpc>
              <a:spcBef>
                <a:spcPts val="0"/>
              </a:spcBef>
              <a:spcAft>
                <a:spcPts val="0"/>
              </a:spcAft>
            </a:pPr>
            <a:r>
              <a:rPr sz="1250" b="1" i="0">
                <a:solidFill>
                  <a:srgbClr val="1B3FA8"/>
                </a:solidFill>
                <a:latin typeface="Calibri"/>
              </a:rPr>
              <a:t>Wait a moment.</a:t>
            </a:r>
          </a:p>
        </p:txBody>
      </p:sp>
      <p:sp>
        <p:nvSpPr>
          <p:cNvPr id="21" name="Rounded Rectangle 20"/>
          <p:cNvSpPr/>
          <p:nvPr/>
        </p:nvSpPr>
        <p:spPr>
          <a:xfrm>
            <a:off x="566928" y="3602736"/>
            <a:ext cx="11055096" cy="768096"/>
          </a:xfrm>
          <a:prstGeom prst="roundRect">
            <a:avLst>
              <a:gd name="adj" fmla="val 21428"/>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TextBox 21"/>
          <p:cNvSpPr txBox="1"/>
          <p:nvPr/>
        </p:nvSpPr>
        <p:spPr>
          <a:xfrm>
            <a:off x="841248" y="3712464"/>
            <a:ext cx="6217920" cy="566928"/>
          </a:xfrm>
          <a:prstGeom prst="rect">
            <a:avLst/>
          </a:prstGeom>
          <a:noFill/>
        </p:spPr>
        <p:txBody>
          <a:bodyPr wrap="square" anchor="t" lIns="0" tIns="0" rIns="0" bIns="0"/>
          <a:lstStyle/>
          <a:p>
            <a:pPr algn="l">
              <a:lnSpc>
                <a:spcPct val="98000"/>
              </a:lnSpc>
              <a:spcBef>
                <a:spcPts val="0"/>
              </a:spcBef>
              <a:spcAft>
                <a:spcPts val="0"/>
              </a:spcAft>
            </a:pPr>
            <a:r>
              <a:rPr sz="1400" b="0" i="0">
                <a:solidFill>
                  <a:srgbClr val="0F1B33"/>
                </a:solidFill>
                <a:latin typeface="Calibri"/>
              </a:rPr>
              <a:t>Where do the youngsters hang out ?</a:t>
            </a:r>
          </a:p>
        </p:txBody>
      </p:sp>
      <p:sp>
        <p:nvSpPr>
          <p:cNvPr id="23" name="Rounded Rectangle 22"/>
          <p:cNvSpPr/>
          <p:nvPr/>
        </p:nvSpPr>
        <p:spPr>
          <a:xfrm>
            <a:off x="6967728" y="3721608"/>
            <a:ext cx="3986784" cy="530352"/>
          </a:xfrm>
          <a:prstGeom prst="roundRect">
            <a:avLst>
              <a:gd name="adj" fmla="val 24137"/>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8288" rIns="128016" bIns="18288"/>
          <a:lstStyle/>
          <a:p>
            <a:pPr algn="l">
              <a:lnSpc>
                <a:spcPct val="95000"/>
              </a:lnSpc>
              <a:spcBef>
                <a:spcPts val="0"/>
              </a:spcBef>
              <a:spcAft>
                <a:spcPts val="0"/>
              </a:spcAft>
            </a:pPr>
            <a:r>
              <a:rPr sz="1250" b="1" i="0">
                <a:solidFill>
                  <a:srgbClr val="1B3FA8"/>
                </a:solidFill>
                <a:latin typeface="Calibri"/>
              </a:rPr>
              <a:t>spend time together informally</a:t>
            </a:r>
          </a:p>
        </p:txBody>
      </p:sp>
      <p:sp>
        <p:nvSpPr>
          <p:cNvPr id="26" name="Rounded Rectangle 25"/>
          <p:cNvSpPr/>
          <p:nvPr/>
        </p:nvSpPr>
        <p:spPr>
          <a:xfrm>
            <a:off x="566928" y="4462272"/>
            <a:ext cx="11055096" cy="768096"/>
          </a:xfrm>
          <a:prstGeom prst="roundRect">
            <a:avLst>
              <a:gd name="adj" fmla="val 21428"/>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TextBox 26"/>
          <p:cNvSpPr txBox="1"/>
          <p:nvPr/>
        </p:nvSpPr>
        <p:spPr>
          <a:xfrm>
            <a:off x="841248" y="4572000"/>
            <a:ext cx="6217920" cy="566928"/>
          </a:xfrm>
          <a:prstGeom prst="rect">
            <a:avLst/>
          </a:prstGeom>
          <a:noFill/>
        </p:spPr>
        <p:txBody>
          <a:bodyPr wrap="square" anchor="t" lIns="0" tIns="0" rIns="0" bIns="0"/>
          <a:lstStyle/>
          <a:p>
            <a:pPr algn="l">
              <a:lnSpc>
                <a:spcPct val="98000"/>
              </a:lnSpc>
              <a:spcBef>
                <a:spcPts val="0"/>
              </a:spcBef>
              <a:spcAft>
                <a:spcPts val="0"/>
              </a:spcAft>
            </a:pPr>
            <a:r>
              <a:rPr sz="1400" b="0" i="0">
                <a:solidFill>
                  <a:srgbClr val="0F1B33"/>
                </a:solidFill>
                <a:latin typeface="Calibri"/>
              </a:rPr>
              <a:t>I don’t get it – it doesn’t make sense .</a:t>
            </a:r>
          </a:p>
        </p:txBody>
      </p:sp>
      <p:sp>
        <p:nvSpPr>
          <p:cNvPr id="28" name="Rounded Rectangle 27"/>
          <p:cNvSpPr/>
          <p:nvPr/>
        </p:nvSpPr>
        <p:spPr>
          <a:xfrm>
            <a:off x="6967728" y="4581144"/>
            <a:ext cx="3986784" cy="530352"/>
          </a:xfrm>
          <a:prstGeom prst="roundRect">
            <a:avLst>
              <a:gd name="adj" fmla="val 24137"/>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8288" rIns="128016" bIns="18288"/>
          <a:lstStyle/>
          <a:p>
            <a:pPr algn="l">
              <a:lnSpc>
                <a:spcPct val="95000"/>
              </a:lnSpc>
              <a:spcBef>
                <a:spcPts val="0"/>
              </a:spcBef>
              <a:spcAft>
                <a:spcPts val="0"/>
              </a:spcAft>
            </a:pPr>
            <a:r>
              <a:rPr sz="1250" b="1" i="0">
                <a:solidFill>
                  <a:srgbClr val="1B3FA8"/>
                </a:solidFill>
                <a:latin typeface="Calibri"/>
              </a:rPr>
              <a:t>understand</a:t>
            </a:r>
          </a:p>
        </p:txBody>
      </p:sp>
      <p:sp>
        <p:nvSpPr>
          <p:cNvPr id="31" name="Rounded Rectangle 30"/>
          <p:cNvSpPr/>
          <p:nvPr/>
        </p:nvSpPr>
        <p:spPr>
          <a:xfrm>
            <a:off x="566928" y="5321808"/>
            <a:ext cx="11055096" cy="768096"/>
          </a:xfrm>
          <a:prstGeom prst="roundRect">
            <a:avLst>
              <a:gd name="adj" fmla="val 21428"/>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TextBox 31"/>
          <p:cNvSpPr txBox="1"/>
          <p:nvPr/>
        </p:nvSpPr>
        <p:spPr>
          <a:xfrm>
            <a:off x="841248" y="5431536"/>
            <a:ext cx="6217920" cy="566928"/>
          </a:xfrm>
          <a:prstGeom prst="rect">
            <a:avLst/>
          </a:prstGeom>
          <a:noFill/>
        </p:spPr>
        <p:txBody>
          <a:bodyPr wrap="square" anchor="t" lIns="0" tIns="0" rIns="0" bIns="0"/>
          <a:lstStyle/>
          <a:p>
            <a:pPr algn="l">
              <a:lnSpc>
                <a:spcPct val="98000"/>
              </a:lnSpc>
              <a:spcBef>
                <a:spcPts val="0"/>
              </a:spcBef>
              <a:spcAft>
                <a:spcPts val="0"/>
              </a:spcAft>
            </a:pPr>
            <a:r>
              <a:rPr sz="1400" b="0" i="0">
                <a:solidFill>
                  <a:srgbClr val="0F1B33"/>
                </a:solidFill>
                <a:latin typeface="Calibri"/>
              </a:rPr>
              <a:t>I’ll teach you how to use the program – you’ll get the hang of it after a while.</a:t>
            </a:r>
          </a:p>
        </p:txBody>
      </p:sp>
      <p:sp>
        <p:nvSpPr>
          <p:cNvPr id="33" name="Rounded Rectangle 32"/>
          <p:cNvSpPr/>
          <p:nvPr/>
        </p:nvSpPr>
        <p:spPr>
          <a:xfrm>
            <a:off x="6967728" y="5440680"/>
            <a:ext cx="3986784" cy="530352"/>
          </a:xfrm>
          <a:prstGeom prst="roundRect">
            <a:avLst>
              <a:gd name="adj" fmla="val 24137"/>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8288" rIns="128016" bIns="18288"/>
          <a:lstStyle/>
          <a:p>
            <a:pPr algn="l">
              <a:lnSpc>
                <a:spcPct val="95000"/>
              </a:lnSpc>
              <a:spcBef>
                <a:spcPts val="0"/>
              </a:spcBef>
              <a:spcAft>
                <a:spcPts val="0"/>
              </a:spcAft>
            </a:pPr>
            <a:r>
              <a:rPr sz="1250" b="1" i="0">
                <a:solidFill>
                  <a:srgbClr val="1B3FA8"/>
                </a:solidFill>
                <a:latin typeface="Calibri"/>
              </a:rPr>
              <a:t>started to understand something</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4"/>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childTnLst>
                    </p:cTn>
                  </p:par>
                </p:childTnLst>
              </p:cTn>
            </p:seq>
            <p:seq concurrent="1" nextAc="seek">
              <p:cTn id="16" restart="whenNotActive" fill="hold" evtFilter="cancelBubble" nodeType="interactiveSeq">
                <p:stCondLst>
                  <p:cond evt="onClick" delay="0">
                    <p:tgtEl>
                      <p:spTgt spid="17"/>
                    </p:tgtEl>
                  </p:cond>
                </p:stCondLst>
                <p:endSync evt="end" delay="0">
                  <p:rtn val="all"/>
                </p:endSync>
                <p:childTnLst>
                  <p:par>
                    <p:cTn id="17" fill="hold">
                      <p:stCondLst>
                        <p:cond delay="0"/>
                      </p:stCondLst>
                      <p:childTnLst>
                        <p:par>
                          <p:cTn id="18" presetID="10" presetClass="entr"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350"/>
                                  <p:tgtEl>
                                    <p:spTgt spid="19"/>
                                  </p:tgtEl>
                                </p:cBhvr>
                              </p:animEffect>
                            </p:childTnLst>
                          </p:cTn>
                        </p:par>
                      </p:childTnLst>
                    </p:cTn>
                  </p:par>
                </p:childTnLst>
              </p:cTn>
            </p:seq>
            <p:seq concurrent="1" nextAc="seek">
              <p:cTn id="21" restart="whenNotActive" fill="hold" evtFilter="cancelBubble" nodeType="interactiveSeq">
                <p:stCondLst>
                  <p:cond evt="onClick" delay="0">
                    <p:tgtEl>
                      <p:spTgt spid="21"/>
                    </p:tgtEl>
                  </p:cond>
                </p:stCondLst>
                <p:endSync evt="end" delay="0">
                  <p:rtn val="all"/>
                </p:endSync>
                <p:childTnLst>
                  <p:par>
                    <p:cTn id="22" fill="hold">
                      <p:stCondLst>
                        <p:cond delay="0"/>
                      </p:stCondLst>
                      <p:childTnLst>
                        <p:par>
                          <p:cTn id="23" presetID="10" presetClass="entr"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350"/>
                                  <p:tgtEl>
                                    <p:spTgt spid="23"/>
                                  </p:tgtEl>
                                </p:cBhvr>
                              </p:animEffect>
                            </p:childTnLst>
                          </p:cTn>
                        </p:par>
                      </p:childTnLst>
                    </p:cTn>
                  </p:par>
                </p:childTnLst>
              </p:cTn>
            </p:seq>
            <p:seq concurrent="1" nextAc="seek">
              <p:cTn id="26" restart="whenNotActive" fill="hold" evtFilter="cancelBubble" nodeType="interactiveSeq">
                <p:stCondLst>
                  <p:cond evt="onClick" delay="0">
                    <p:tgtEl>
                      <p:spTgt spid="26"/>
                    </p:tgtEl>
                  </p:cond>
                </p:stCondLst>
                <p:endSync evt="end" delay="0">
                  <p:rtn val="all"/>
                </p:endSync>
                <p:childTnLst>
                  <p:par>
                    <p:cTn id="27" fill="hold">
                      <p:stCondLst>
                        <p:cond delay="0"/>
                      </p:stCondLst>
                      <p:childTnLst>
                        <p:par>
                          <p:cTn id="28" presetID="10" presetClass="entr"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350"/>
                                  <p:tgtEl>
                                    <p:spTgt spid="28"/>
                                  </p:tgtEl>
                                </p:cBhvr>
                              </p:animEffect>
                            </p:childTnLst>
                          </p:cTn>
                        </p:par>
                      </p:childTnLst>
                    </p:cTn>
                  </p:par>
                </p:childTnLst>
              </p:cTn>
            </p:seq>
            <p:seq concurrent="1" nextAc="seek">
              <p:cTn id="31" restart="whenNotActive" fill="hold" evtFilter="cancelBubble" nodeType="interactiveSeq">
                <p:stCondLst>
                  <p:cond evt="onClick" delay="0">
                    <p:tgtEl>
                      <p:spTgt spid="31"/>
                    </p:tgtEl>
                  </p:cond>
                </p:stCondLst>
                <p:endSync evt="end" delay="0">
                  <p:rtn val="all"/>
                </p:endSync>
                <p:childTnLst>
                  <p:par>
                    <p:cTn id="32" fill="hold">
                      <p:stCondLst>
                        <p:cond delay="0"/>
                      </p:stCondLst>
                      <p:childTnLst>
                        <p:par>
                          <p:cTn id="33" presetID="10" presetClass="entr"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350"/>
                                  <p:tgtEl>
                                    <p:spTgt spid="33"/>
                                  </p:tgtEl>
                                </p:cBhvr>
                              </p:animEffect>
                            </p:childTnLst>
                          </p:cTn>
                        </p:par>
                      </p:childTnLst>
                    </p:cTn>
                  </p:par>
                </p:childTnLst>
              </p:cTn>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7111822"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14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PRACTICE</a:t>
            </a:r>
          </a:p>
        </p:txBody>
      </p:sp>
      <p:sp>
        <p:nvSpPr>
          <p:cNvPr id="12" name="TextBox 11"/>
          <p:cNvSpPr txBox="1"/>
          <p:nvPr/>
        </p:nvSpPr>
        <p:spPr>
          <a:xfrm>
            <a:off x="566928" y="786384"/>
            <a:ext cx="5852160" cy="1371600"/>
          </a:xfrm>
          <a:prstGeom prst="rect">
            <a:avLst/>
          </a:prstGeom>
          <a:noFill/>
        </p:spPr>
        <p:txBody>
          <a:bodyPr wrap="square" anchor="t" lIns="0" tIns="0" rIns="0" bIns="0"/>
          <a:lstStyle/>
          <a:p>
            <a:pPr algn="l">
              <a:lnSpc>
                <a:spcPct val="92000"/>
              </a:lnSpc>
              <a:spcBef>
                <a:spcPts val="0"/>
              </a:spcBef>
              <a:spcAft>
                <a:spcPts val="0"/>
              </a:spcAft>
            </a:pPr>
            <a:r>
              <a:rPr sz="3200" b="1" i="0">
                <a:solidFill>
                  <a:srgbClr val="0F1B33"/>
                </a:solidFill>
                <a:latin typeface="Trebuchet MS"/>
              </a:rPr>
              <a:t>Practice Time</a:t>
            </a:r>
          </a:p>
        </p:txBody>
      </p:sp>
      <p:sp>
        <p:nvSpPr>
          <p:cNvPr id="13" name="Rounded Rectangle 12"/>
          <p:cNvSpPr/>
          <p:nvPr/>
        </p:nvSpPr>
        <p:spPr>
          <a:xfrm>
            <a:off x="5870448" y="877824"/>
            <a:ext cx="2743200" cy="457200"/>
          </a:xfrm>
          <a:prstGeom prst="roundRect">
            <a:avLst>
              <a:gd name="adj" fmla="val 50000"/>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tIns="0" rIns="73152" bIns="0"/>
          <a:lstStyle/>
          <a:p>
            <a:pPr algn="ctr">
              <a:lnSpc>
                <a:spcPct val="95000"/>
              </a:lnSpc>
              <a:spcBef>
                <a:spcPts val="0"/>
              </a:spcBef>
              <a:spcAft>
                <a:spcPts val="0"/>
              </a:spcAft>
            </a:pPr>
            <a:r>
              <a:rPr sz="1200" b="1" i="0">
                <a:solidFill>
                  <a:srgbClr val="1B3FA8"/>
                </a:solidFill>
                <a:latin typeface="Calibri"/>
              </a:rPr>
              <a:t>Real Talk (phrases)</a:t>
            </a:r>
          </a:p>
        </p:txBody>
      </p:sp>
      <p:sp>
        <p:nvSpPr>
          <p:cNvPr id="14" name="TextBox 13"/>
          <p:cNvSpPr txBox="1"/>
          <p:nvPr/>
        </p:nvSpPr>
        <p:spPr>
          <a:xfrm>
            <a:off x="566928" y="1444752"/>
            <a:ext cx="10058400" cy="457200"/>
          </a:xfrm>
          <a:prstGeom prst="rect">
            <a:avLst/>
          </a:prstGeom>
          <a:noFill/>
        </p:spPr>
        <p:txBody>
          <a:bodyPr wrap="square" anchor="t" lIns="0" tIns="0" rIns="0" bIns="0"/>
          <a:lstStyle/>
          <a:p>
            <a:pPr algn="l">
              <a:lnSpc>
                <a:spcPct val="95000"/>
              </a:lnSpc>
              <a:spcBef>
                <a:spcPts val="0"/>
              </a:spcBef>
              <a:spcAft>
                <a:spcPts val="0"/>
              </a:spcAft>
            </a:pPr>
            <a:r>
              <a:rPr sz="1250" b="0" i="1">
                <a:solidFill>
                  <a:srgbClr val="5C6C86"/>
                </a:solidFill>
                <a:latin typeface="Calibri"/>
              </a:rPr>
              <a:t>Tap a frame when the class has finished it.</a:t>
            </a:r>
          </a:p>
        </p:txBody>
      </p:sp>
      <p:sp>
        <p:nvSpPr>
          <p:cNvPr id="15" name="Rounded Rectangle 14"/>
          <p:cNvSpPr/>
          <p:nvPr/>
        </p:nvSpPr>
        <p:spPr>
          <a:xfrm>
            <a:off x="566928" y="1956816"/>
            <a:ext cx="11055096" cy="731520"/>
          </a:xfrm>
          <a:prstGeom prst="roundRect">
            <a:avLst>
              <a:gd name="adj" fmla="val 22499"/>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20040" rIns="914400"/>
          <a:lstStyle/>
          <a:p>
            <a:pPr algn="l">
              <a:lnSpc>
                <a:spcPct val="95000"/>
              </a:lnSpc>
              <a:spcBef>
                <a:spcPts val="0"/>
              </a:spcBef>
              <a:spcAft>
                <a:spcPts val="0"/>
              </a:spcAft>
            </a:pPr>
            <a:r>
              <a:rPr sz="1950" b="0" i="0">
                <a:solidFill>
                  <a:srgbClr val="0F1B33"/>
                </a:solidFill>
                <a:latin typeface="Calibri"/>
              </a:rPr>
              <a:t>How on earth can you _____?</a:t>
            </a:r>
          </a:p>
        </p:txBody>
      </p:sp>
      <p:sp>
        <p:nvSpPr>
          <p:cNvPr id="16" name="Oval 15"/>
          <p:cNvSpPr/>
          <p:nvPr/>
        </p:nvSpPr>
        <p:spPr>
          <a:xfrm>
            <a:off x="10652760" y="2139696"/>
            <a:ext cx="365760" cy="365760"/>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Connector 16"/>
          <p:cNvCxnSpPr/>
          <p:nvPr/>
        </p:nvCxnSpPr>
        <p:spPr>
          <a:xfrm>
            <a:off x="10755173" y="2326234"/>
            <a:ext cx="62179" cy="6583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817352" y="2249424"/>
            <a:ext cx="106070" cy="14264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66928" y="2798064"/>
            <a:ext cx="11055096" cy="731520"/>
          </a:xfrm>
          <a:prstGeom prst="roundRect">
            <a:avLst>
              <a:gd name="adj" fmla="val 22499"/>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20040" rIns="914400"/>
          <a:lstStyle/>
          <a:p>
            <a:pPr algn="l">
              <a:lnSpc>
                <a:spcPct val="95000"/>
              </a:lnSpc>
              <a:spcBef>
                <a:spcPts val="0"/>
              </a:spcBef>
              <a:spcAft>
                <a:spcPts val="0"/>
              </a:spcAft>
            </a:pPr>
            <a:r>
              <a:rPr sz="1950" b="0" i="0">
                <a:solidFill>
                  <a:srgbClr val="0F1B33"/>
                </a:solidFill>
                <a:latin typeface="Calibri"/>
              </a:rPr>
              <a:t>My friends and I often hang out at ______.</a:t>
            </a:r>
          </a:p>
        </p:txBody>
      </p:sp>
      <p:sp>
        <p:nvSpPr>
          <p:cNvPr id="23" name="Oval 22"/>
          <p:cNvSpPr/>
          <p:nvPr/>
        </p:nvSpPr>
        <p:spPr>
          <a:xfrm>
            <a:off x="10652760" y="2980944"/>
            <a:ext cx="365760" cy="365760"/>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Connector 23"/>
          <p:cNvCxnSpPr/>
          <p:nvPr/>
        </p:nvCxnSpPr>
        <p:spPr>
          <a:xfrm>
            <a:off x="10755173" y="3167482"/>
            <a:ext cx="62179" cy="6583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0817352" y="3090672"/>
            <a:ext cx="106070" cy="14264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66928" y="3639312"/>
            <a:ext cx="11055096" cy="731520"/>
          </a:xfrm>
          <a:prstGeom prst="roundRect">
            <a:avLst>
              <a:gd name="adj" fmla="val 22499"/>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20040" rIns="914400"/>
          <a:lstStyle/>
          <a:p>
            <a:pPr algn="l">
              <a:lnSpc>
                <a:spcPct val="95000"/>
              </a:lnSpc>
              <a:spcBef>
                <a:spcPts val="0"/>
              </a:spcBef>
              <a:spcAft>
                <a:spcPts val="0"/>
              </a:spcAft>
            </a:pPr>
            <a:r>
              <a:rPr sz="1950" b="0" i="0">
                <a:solidFill>
                  <a:srgbClr val="0F1B33"/>
                </a:solidFill>
                <a:latin typeface="Calibri"/>
              </a:rPr>
              <a:t>Hold on a minute. I have to _____.</a:t>
            </a:r>
          </a:p>
        </p:txBody>
      </p:sp>
      <p:sp>
        <p:nvSpPr>
          <p:cNvPr id="34" name="Oval 33"/>
          <p:cNvSpPr/>
          <p:nvPr/>
        </p:nvSpPr>
        <p:spPr>
          <a:xfrm>
            <a:off x="10652760" y="3822192"/>
            <a:ext cx="365760" cy="365760"/>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Connector 34"/>
          <p:cNvCxnSpPr/>
          <p:nvPr/>
        </p:nvCxnSpPr>
        <p:spPr>
          <a:xfrm>
            <a:off x="10755173" y="4008730"/>
            <a:ext cx="62179" cy="6583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0817352" y="3931920"/>
            <a:ext cx="106070" cy="14264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66928" y="4480560"/>
            <a:ext cx="11055096" cy="731520"/>
          </a:xfrm>
          <a:prstGeom prst="roundRect">
            <a:avLst>
              <a:gd name="adj" fmla="val 22499"/>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20040" rIns="914400"/>
          <a:lstStyle/>
          <a:p>
            <a:pPr algn="l">
              <a:lnSpc>
                <a:spcPct val="95000"/>
              </a:lnSpc>
              <a:spcBef>
                <a:spcPts val="0"/>
              </a:spcBef>
              <a:spcAft>
                <a:spcPts val="0"/>
              </a:spcAft>
            </a:pPr>
            <a:r>
              <a:rPr sz="1950" b="0" i="0">
                <a:solidFill>
                  <a:srgbClr val="0F1B33"/>
                </a:solidFill>
                <a:latin typeface="Calibri"/>
              </a:rPr>
              <a:t>I don’t get it. Why do you _____?</a:t>
            </a:r>
          </a:p>
        </p:txBody>
      </p:sp>
      <p:sp>
        <p:nvSpPr>
          <p:cNvPr id="45" name="Oval 44"/>
          <p:cNvSpPr/>
          <p:nvPr/>
        </p:nvSpPr>
        <p:spPr>
          <a:xfrm>
            <a:off x="10652760" y="4663440"/>
            <a:ext cx="365760" cy="365760"/>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Connector 45"/>
          <p:cNvCxnSpPr/>
          <p:nvPr/>
        </p:nvCxnSpPr>
        <p:spPr>
          <a:xfrm>
            <a:off x="10755173" y="4849978"/>
            <a:ext cx="62179" cy="6583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0817352" y="4773168"/>
            <a:ext cx="106070" cy="14264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566928" y="5321808"/>
            <a:ext cx="11055096" cy="731520"/>
          </a:xfrm>
          <a:prstGeom prst="roundRect">
            <a:avLst>
              <a:gd name="adj" fmla="val 22499"/>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20040" rIns="914400"/>
          <a:lstStyle/>
          <a:p>
            <a:pPr algn="l">
              <a:lnSpc>
                <a:spcPct val="95000"/>
              </a:lnSpc>
              <a:spcBef>
                <a:spcPts val="0"/>
              </a:spcBef>
              <a:spcAft>
                <a:spcPts val="0"/>
              </a:spcAft>
            </a:pPr>
            <a:r>
              <a:rPr sz="1950" b="0" i="0">
                <a:solidFill>
                  <a:srgbClr val="0F1B33"/>
                </a:solidFill>
                <a:latin typeface="Calibri"/>
              </a:rPr>
              <a:t>I finally got the hang of ______.</a:t>
            </a:r>
          </a:p>
        </p:txBody>
      </p:sp>
      <p:sp>
        <p:nvSpPr>
          <p:cNvPr id="56" name="Oval 55"/>
          <p:cNvSpPr/>
          <p:nvPr/>
        </p:nvSpPr>
        <p:spPr>
          <a:xfrm>
            <a:off x="10652760" y="5504688"/>
            <a:ext cx="365760" cy="365760"/>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7" name="Connector 56"/>
          <p:cNvCxnSpPr/>
          <p:nvPr/>
        </p:nvCxnSpPr>
        <p:spPr>
          <a:xfrm>
            <a:off x="10755173" y="5691226"/>
            <a:ext cx="62179" cy="6583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10817352" y="5614416"/>
            <a:ext cx="106070" cy="14264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5"/>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par>
                          <p:cTn id="16" presetID="10" presetClass="entr"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50"/>
                                  <p:tgtEl>
                                    <p:spTgt spid="17"/>
                                  </p:tgtEl>
                                </p:cBhvr>
                              </p:animEffect>
                            </p:childTnLst>
                          </p:cTn>
                        </p:par>
                        <p:par>
                          <p:cTn id="19" presetID="10" presetClass="entr"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350"/>
                                  <p:tgtEl>
                                    <p:spTgt spid="18"/>
                                  </p:tgtEl>
                                </p:cBhvr>
                              </p:animEffect>
                            </p:childTnLst>
                          </p:cTn>
                        </p:par>
                      </p:childTnLst>
                    </p:cTn>
                  </p:par>
                </p:childTnLst>
              </p:cTn>
            </p:seq>
            <p:seq concurrent="1" nextAc="seek">
              <p:cTn id="22" restart="whenNotActive" fill="hold" evtFilter="cancelBubble" nodeType="interactiveSeq">
                <p:stCondLst>
                  <p:cond evt="onClick" delay="0">
                    <p:tgtEl>
                      <p:spTgt spid="22"/>
                    </p:tgtEl>
                  </p:cond>
                </p:stCondLst>
                <p:endSync evt="end" delay="0">
                  <p:rtn val="all"/>
                </p:endSync>
                <p:childTnLst>
                  <p:par>
                    <p:cTn id="23" fill="hold">
                      <p:stCondLst>
                        <p:cond delay="0"/>
                      </p:stCondLst>
                      <p:childTnLst>
                        <p:par>
                          <p:cTn id="24" presetID="10" presetClass="entr"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350"/>
                                  <p:tgtEl>
                                    <p:spTgt spid="23"/>
                                  </p:tgtEl>
                                </p:cBhvr>
                              </p:animEffect>
                            </p:childTnLst>
                          </p:cTn>
                        </p:par>
                        <p:par>
                          <p:cTn id="27" presetID="10" presetClass="entr"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350"/>
                                  <p:tgtEl>
                                    <p:spTgt spid="24"/>
                                  </p:tgtEl>
                                </p:cBhvr>
                              </p:animEffect>
                            </p:childTnLst>
                          </p:cTn>
                        </p:par>
                        <p:par>
                          <p:cTn id="30" presetID="10" presetClass="entr"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350"/>
                                  <p:tgtEl>
                                    <p:spTgt spid="25"/>
                                  </p:tgtEl>
                                </p:cBhvr>
                              </p:animEffect>
                            </p:childTnLst>
                          </p:cTn>
                        </p:par>
                      </p:childTnLst>
                    </p:cTn>
                  </p:par>
                </p:childTnLst>
              </p:cTn>
            </p:seq>
            <p:seq concurrent="1" nextAc="seek">
              <p:cTn id="33" restart="whenNotActive" fill="hold" evtFilter="cancelBubble" nodeType="interactiveSeq">
                <p:stCondLst>
                  <p:cond evt="onClick" delay="0">
                    <p:tgtEl>
                      <p:spTgt spid="33"/>
                    </p:tgtEl>
                  </p:cond>
                </p:stCondLst>
                <p:endSync evt="end" delay="0">
                  <p:rtn val="all"/>
                </p:endSync>
                <p:childTnLst>
                  <p:par>
                    <p:cTn id="34" fill="hold">
                      <p:stCondLst>
                        <p:cond delay="0"/>
                      </p:stCondLst>
                      <p:childTnLst>
                        <p:par>
                          <p:cTn id="35" presetID="10" presetClass="entr"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350"/>
                                  <p:tgtEl>
                                    <p:spTgt spid="34"/>
                                  </p:tgtEl>
                                </p:cBhvr>
                              </p:animEffect>
                            </p:childTnLst>
                          </p:cTn>
                        </p:par>
                        <p:par>
                          <p:cTn id="38" presetID="10" presetClass="entr"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350"/>
                                  <p:tgtEl>
                                    <p:spTgt spid="35"/>
                                  </p:tgtEl>
                                </p:cBhvr>
                              </p:animEffect>
                            </p:childTnLst>
                          </p:cTn>
                        </p:par>
                        <p:par>
                          <p:cTn id="41" presetID="10" presetClass="entr"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350"/>
                                  <p:tgtEl>
                                    <p:spTgt spid="36"/>
                                  </p:tgtEl>
                                </p:cBhvr>
                              </p:animEffect>
                            </p:childTnLst>
                          </p:cTn>
                        </p:par>
                      </p:childTnLst>
                    </p:cTn>
                  </p:par>
                </p:childTnLst>
              </p:cTn>
            </p:seq>
            <p:seq concurrent="1" nextAc="seek">
              <p:cTn id="44" restart="whenNotActive" fill="hold" evtFilter="cancelBubble" nodeType="interactiveSeq">
                <p:stCondLst>
                  <p:cond evt="onClick" delay="0">
                    <p:tgtEl>
                      <p:spTgt spid="44"/>
                    </p:tgtEl>
                  </p:cond>
                </p:stCondLst>
                <p:endSync evt="end" delay="0">
                  <p:rtn val="all"/>
                </p:endSync>
                <p:childTnLst>
                  <p:par>
                    <p:cTn id="45" fill="hold">
                      <p:stCondLst>
                        <p:cond delay="0"/>
                      </p:stCondLst>
                      <p:childTnLst>
                        <p:par>
                          <p:cTn id="46" presetID="10" presetClass="entr"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350"/>
                                  <p:tgtEl>
                                    <p:spTgt spid="45"/>
                                  </p:tgtEl>
                                </p:cBhvr>
                              </p:animEffect>
                            </p:childTnLst>
                          </p:cTn>
                        </p:par>
                        <p:par>
                          <p:cTn id="49" presetID="10" presetClass="entr"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350"/>
                                  <p:tgtEl>
                                    <p:spTgt spid="46"/>
                                  </p:tgtEl>
                                </p:cBhvr>
                              </p:animEffect>
                            </p:childTnLst>
                          </p:cTn>
                        </p:par>
                        <p:par>
                          <p:cTn id="52" presetID="10" presetClass="entr"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350"/>
                                  <p:tgtEl>
                                    <p:spTgt spid="47"/>
                                  </p:tgtEl>
                                </p:cBhvr>
                              </p:animEffect>
                            </p:childTnLst>
                          </p:cTn>
                        </p:par>
                      </p:childTnLst>
                    </p:cTn>
                  </p:par>
                </p:childTnLst>
              </p:cTn>
            </p:seq>
            <p:seq concurrent="1" nextAc="seek">
              <p:cTn id="55" restart="whenNotActive" fill="hold" evtFilter="cancelBubble" nodeType="interactiveSeq">
                <p:stCondLst>
                  <p:cond evt="onClick" delay="0">
                    <p:tgtEl>
                      <p:spTgt spid="55"/>
                    </p:tgtEl>
                  </p:cond>
                </p:stCondLst>
                <p:endSync evt="end" delay="0">
                  <p:rtn val="all"/>
                </p:endSync>
                <p:childTnLst>
                  <p:par>
                    <p:cTn id="56" fill="hold">
                      <p:stCondLst>
                        <p:cond delay="0"/>
                      </p:stCondLst>
                      <p:childTnLst>
                        <p:par>
                          <p:cTn id="57" presetID="10" presetClass="entr" fill="hold" grpId="0"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350"/>
                                  <p:tgtEl>
                                    <p:spTgt spid="56"/>
                                  </p:tgtEl>
                                </p:cBhvr>
                              </p:animEffect>
                            </p:childTnLst>
                          </p:cTn>
                        </p:par>
                        <p:par>
                          <p:cTn id="60" presetID="10" presetClass="entr" fill="hold" grpId="0" nodeType="with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fade">
                                <p:cBhvr>
                                  <p:cTn id="62" dur="350"/>
                                  <p:tgtEl>
                                    <p:spTgt spid="57"/>
                                  </p:tgtEl>
                                </p:cBhvr>
                              </p:animEffect>
                            </p:childTnLst>
                          </p:cTn>
                        </p:par>
                        <p:par>
                          <p:cTn id="63" presetID="10" presetClass="entr"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fade">
                                <p:cBhvr>
                                  <p:cTn id="65" dur="350"/>
                                  <p:tgtEl>
                                    <p:spTgt spid="58"/>
                                  </p:tgtEl>
                                </p:cBhvr>
                              </p:animEffect>
                            </p:childTnLst>
                          </p:cTn>
                        </p:par>
                      </p:childTnLst>
                    </p:cTn>
                  </p:par>
                </p:childTnLst>
              </p:cTn>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7619810"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15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CHECK UNDERSTANDING</a:t>
            </a:r>
          </a:p>
        </p:txBody>
      </p:sp>
      <p:sp>
        <p:nvSpPr>
          <p:cNvPr id="12" name="TextBox 11"/>
          <p:cNvSpPr txBox="1"/>
          <p:nvPr/>
        </p:nvSpPr>
        <p:spPr>
          <a:xfrm>
            <a:off x="566928" y="841248"/>
            <a:ext cx="5852160" cy="1371600"/>
          </a:xfrm>
          <a:prstGeom prst="rect">
            <a:avLst/>
          </a:prstGeom>
          <a:noFill/>
        </p:spPr>
        <p:txBody>
          <a:bodyPr wrap="square" anchor="t" lIns="0" tIns="0" rIns="0" bIns="0"/>
          <a:lstStyle/>
          <a:p>
            <a:pPr algn="l">
              <a:lnSpc>
                <a:spcPct val="92000"/>
              </a:lnSpc>
              <a:spcBef>
                <a:spcPts val="0"/>
              </a:spcBef>
              <a:spcAft>
                <a:spcPts val="0"/>
              </a:spcAft>
            </a:pPr>
            <a:r>
              <a:rPr sz="3000" b="1" i="0">
                <a:solidFill>
                  <a:srgbClr val="0F1B33"/>
                </a:solidFill>
                <a:latin typeface="Trebuchet MS"/>
              </a:rPr>
              <a:t>True or false ?</a:t>
            </a:r>
          </a:p>
        </p:txBody>
      </p:sp>
      <p:sp>
        <p:nvSpPr>
          <p:cNvPr id="13" name="TextBox 12"/>
          <p:cNvSpPr txBox="1"/>
          <p:nvPr/>
        </p:nvSpPr>
        <p:spPr>
          <a:xfrm>
            <a:off x="4041648" y="969264"/>
            <a:ext cx="7498080" cy="457200"/>
          </a:xfrm>
          <a:prstGeom prst="rect">
            <a:avLst/>
          </a:prstGeom>
          <a:noFill/>
        </p:spPr>
        <p:txBody>
          <a:bodyPr wrap="square" anchor="t" lIns="0" tIns="0" rIns="0" bIns="0"/>
          <a:lstStyle/>
          <a:p>
            <a:pPr algn="l">
              <a:lnSpc>
                <a:spcPct val="95000"/>
              </a:lnSpc>
              <a:spcBef>
                <a:spcPts val="0"/>
              </a:spcBef>
              <a:spcAft>
                <a:spcPts val="0"/>
              </a:spcAft>
            </a:pPr>
            <a:r>
              <a:rPr sz="1250" b="0" i="1">
                <a:solidFill>
                  <a:srgbClr val="5C6C86"/>
                </a:solidFill>
                <a:latin typeface="Calibri"/>
              </a:rPr>
              <a:t>Decide in pairs, then tap TRUE or FALSE — and read the line that proves it.</a:t>
            </a:r>
          </a:p>
        </p:txBody>
      </p:sp>
      <p:sp>
        <p:nvSpPr>
          <p:cNvPr id="14" name="Rounded Rectangle 13"/>
          <p:cNvSpPr/>
          <p:nvPr/>
        </p:nvSpPr>
        <p:spPr>
          <a:xfrm>
            <a:off x="566928" y="1719072"/>
            <a:ext cx="11055096" cy="2011680"/>
          </a:xfrm>
          <a:prstGeom prst="roundRect">
            <a:avLst>
              <a:gd name="adj" fmla="val 10000"/>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877824" y="1956816"/>
            <a:ext cx="6903720" cy="914400"/>
          </a:xfrm>
          <a:prstGeom prst="rect">
            <a:avLst/>
          </a:prstGeom>
          <a:noFill/>
        </p:spPr>
        <p:txBody>
          <a:bodyPr wrap="square" anchor="t" lIns="0" tIns="0" rIns="0" bIns="0"/>
          <a:lstStyle/>
          <a:p>
            <a:pPr algn="l">
              <a:lnSpc>
                <a:spcPct val="98000"/>
              </a:lnSpc>
              <a:spcBef>
                <a:spcPts val="0"/>
              </a:spcBef>
              <a:spcAft>
                <a:spcPts val="0"/>
              </a:spcAft>
            </a:pPr>
            <a:r>
              <a:rPr sz="1600" b="0" i="0">
                <a:solidFill>
                  <a:srgbClr val="0F1B33"/>
                </a:solidFill>
                <a:latin typeface="Calibri"/>
              </a:rPr>
              <a:t>1- The grandmother doesn’t understand how Cara types a text message so quickly .</a:t>
            </a:r>
          </a:p>
        </p:txBody>
      </p:sp>
      <p:sp>
        <p:nvSpPr>
          <p:cNvPr id="16" name="Rounded Rectangle 15"/>
          <p:cNvSpPr/>
          <p:nvPr/>
        </p:nvSpPr>
        <p:spPr>
          <a:xfrm>
            <a:off x="7882128" y="1938528"/>
            <a:ext cx="1316736" cy="457200"/>
          </a:xfrm>
          <a:prstGeom prst="roundRect">
            <a:avLst>
              <a:gd name="adj" fmla="val 50000"/>
            </a:avLst>
          </a:prstGeom>
          <a:solidFill>
            <a:srgbClr val="FFFFFF"/>
          </a:solidFill>
          <a:ln w="19050">
            <a:solidFill>
              <a:srgbClr val="BFE3CB"/>
            </a:solidFill>
          </a:ln>
        </p:spPr>
        <p:style>
          <a:lnRef idx="1">
            <a:schemeClr val="accent1"/>
          </a:lnRef>
          <a:fillRef idx="3">
            <a:schemeClr val="accent1"/>
          </a:fillRef>
          <a:effectRef idx="2">
            <a:schemeClr val="accent1"/>
          </a:effectRef>
          <a:fontRef idx="minor">
            <a:schemeClr val="lt1"/>
          </a:fontRef>
        </p:style>
        <p:txBody>
          <a:bodyPr rtlCol="0" anchor="ctr" wrap="square" lIns="36576" tIns="0" rIns="36576" bIns="0"/>
          <a:lstStyle/>
          <a:p>
            <a:pPr algn="ctr">
              <a:lnSpc>
                <a:spcPct val="95000"/>
              </a:lnSpc>
              <a:spcBef>
                <a:spcPts val="0"/>
              </a:spcBef>
              <a:spcAft>
                <a:spcPts val="0"/>
              </a:spcAft>
            </a:pPr>
            <a:r>
              <a:rPr sz="1200" b="1" i="0">
                <a:solidFill>
                  <a:srgbClr val="0F6B33"/>
                </a:solidFill>
                <a:latin typeface="Calibri"/>
              </a:rPr>
              <a:t>TRUE</a:t>
            </a:r>
          </a:p>
        </p:txBody>
      </p:sp>
      <p:sp>
        <p:nvSpPr>
          <p:cNvPr id="17" name="Rounded Rectangle 16"/>
          <p:cNvSpPr/>
          <p:nvPr/>
        </p:nvSpPr>
        <p:spPr>
          <a:xfrm>
            <a:off x="7882128" y="2505456"/>
            <a:ext cx="1316736" cy="457200"/>
          </a:xfrm>
          <a:prstGeom prst="roundRect">
            <a:avLst>
              <a:gd name="adj" fmla="val 50000"/>
            </a:avLst>
          </a:prstGeom>
          <a:solidFill>
            <a:srgbClr val="FFFFFF"/>
          </a:solidFill>
          <a:ln w="19050">
            <a:solidFill>
              <a:srgbClr val="F3C9C4"/>
            </a:solidFill>
          </a:ln>
        </p:spPr>
        <p:style>
          <a:lnRef idx="1">
            <a:schemeClr val="accent1"/>
          </a:lnRef>
          <a:fillRef idx="3">
            <a:schemeClr val="accent1"/>
          </a:fillRef>
          <a:effectRef idx="2">
            <a:schemeClr val="accent1"/>
          </a:effectRef>
          <a:fontRef idx="minor">
            <a:schemeClr val="lt1"/>
          </a:fontRef>
        </p:style>
        <p:txBody>
          <a:bodyPr rtlCol="0" anchor="ctr" wrap="square" lIns="36576" tIns="0" rIns="36576" bIns="0"/>
          <a:lstStyle/>
          <a:p>
            <a:pPr algn="ctr">
              <a:lnSpc>
                <a:spcPct val="95000"/>
              </a:lnSpc>
              <a:spcBef>
                <a:spcPts val="0"/>
              </a:spcBef>
              <a:spcAft>
                <a:spcPts val="0"/>
              </a:spcAft>
            </a:pPr>
            <a:r>
              <a:rPr sz="1200" b="1" i="0">
                <a:solidFill>
                  <a:srgbClr val="B42318"/>
                </a:solidFill>
                <a:latin typeface="Calibri"/>
              </a:rPr>
              <a:t>FALSE</a:t>
            </a:r>
          </a:p>
        </p:txBody>
      </p:sp>
      <p:sp>
        <p:nvSpPr>
          <p:cNvPr id="18" name="Oval 17"/>
          <p:cNvSpPr/>
          <p:nvPr/>
        </p:nvSpPr>
        <p:spPr>
          <a:xfrm>
            <a:off x="9345168" y="2020824"/>
            <a:ext cx="292608" cy="29260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Connector 18"/>
          <p:cNvCxnSpPr/>
          <p:nvPr/>
        </p:nvCxnSpPr>
        <p:spPr>
          <a:xfrm>
            <a:off x="9427098" y="2170054"/>
            <a:ext cx="49744" cy="5267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476842" y="2108606"/>
            <a:ext cx="84856" cy="114118"/>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9345168" y="2587752"/>
            <a:ext cx="292608" cy="29260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Connector 21"/>
          <p:cNvCxnSpPr/>
          <p:nvPr/>
        </p:nvCxnSpPr>
        <p:spPr>
          <a:xfrm>
            <a:off x="9441729" y="2684313"/>
            <a:ext cx="99486" cy="99486"/>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9441729" y="2684313"/>
            <a:ext cx="99486" cy="99486"/>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41248" y="3035808"/>
            <a:ext cx="10506456" cy="530352"/>
          </a:xfrm>
          <a:prstGeom prst="roundRect">
            <a:avLst>
              <a:gd name="adj" fmla="val 20689"/>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8288" rIns="164592" bIns="18288"/>
          <a:lstStyle/>
          <a:p>
            <a:pPr algn="l">
              <a:lnSpc>
                <a:spcPct val="95000"/>
              </a:lnSpc>
              <a:spcBef>
                <a:spcPts val="0"/>
              </a:spcBef>
              <a:spcAft>
                <a:spcPts val="0"/>
              </a:spcAft>
            </a:pPr>
            <a:r>
              <a:rPr sz="1250" b="1" i="0">
                <a:solidFill>
                  <a:srgbClr val="0F6B33"/>
                </a:solidFill>
                <a:latin typeface="Calibri"/>
              </a:rPr>
              <a:t>TRUE  —  “How on earth do you type what you want to say so quickly?”</a:t>
            </a:r>
          </a:p>
        </p:txBody>
      </p:sp>
      <p:sp>
        <p:nvSpPr>
          <p:cNvPr id="25" name="Rounded Rectangle 24"/>
          <p:cNvSpPr/>
          <p:nvPr/>
        </p:nvSpPr>
        <p:spPr>
          <a:xfrm>
            <a:off x="841248" y="3035808"/>
            <a:ext cx="10506456" cy="530352"/>
          </a:xfrm>
          <a:prstGeom prst="roundRect">
            <a:avLst>
              <a:gd name="adj" fmla="val 20689"/>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8288" rIns="164592" bIns="18288"/>
          <a:lstStyle/>
          <a:p>
            <a:pPr algn="l">
              <a:lnSpc>
                <a:spcPct val="95000"/>
              </a:lnSpc>
              <a:spcBef>
                <a:spcPts val="0"/>
              </a:spcBef>
              <a:spcAft>
                <a:spcPts val="0"/>
              </a:spcAft>
            </a:pPr>
            <a:r>
              <a:rPr sz="1250" b="1" i="0">
                <a:solidFill>
                  <a:srgbClr val="B42318"/>
                </a:solidFill>
                <a:latin typeface="Calibri"/>
              </a:rPr>
              <a:t>Not quite — listen again.</a:t>
            </a:r>
          </a:p>
        </p:txBody>
      </p:sp>
      <p:sp>
        <p:nvSpPr>
          <p:cNvPr id="39" name="Rounded Rectangle 38"/>
          <p:cNvSpPr/>
          <p:nvPr/>
        </p:nvSpPr>
        <p:spPr>
          <a:xfrm>
            <a:off x="566928" y="4023360"/>
            <a:ext cx="11055096" cy="2011680"/>
          </a:xfrm>
          <a:prstGeom prst="roundRect">
            <a:avLst>
              <a:gd name="adj" fmla="val 10000"/>
            </a:avLst>
          </a:prstGeom>
          <a:solidFill>
            <a:srgbClr val="FFFFFF"/>
          </a:solidFill>
          <a:ln w="11430">
            <a:solidFill>
              <a:srgbClr val="DCE5F2"/>
            </a:solidFill>
          </a:ln>
          <a:effectLst>
            <a:outerShdw blurRad="2540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TextBox 39"/>
          <p:cNvSpPr txBox="1"/>
          <p:nvPr/>
        </p:nvSpPr>
        <p:spPr>
          <a:xfrm>
            <a:off x="877824" y="4261104"/>
            <a:ext cx="6903720" cy="914400"/>
          </a:xfrm>
          <a:prstGeom prst="rect">
            <a:avLst/>
          </a:prstGeom>
          <a:noFill/>
        </p:spPr>
        <p:txBody>
          <a:bodyPr wrap="square" anchor="t" lIns="0" tIns="0" rIns="0" bIns="0"/>
          <a:lstStyle/>
          <a:p>
            <a:pPr algn="l">
              <a:lnSpc>
                <a:spcPct val="98000"/>
              </a:lnSpc>
              <a:spcBef>
                <a:spcPts val="0"/>
              </a:spcBef>
              <a:spcAft>
                <a:spcPts val="0"/>
              </a:spcAft>
            </a:pPr>
            <a:r>
              <a:rPr sz="1600" b="0" i="0">
                <a:solidFill>
                  <a:srgbClr val="0F1B33"/>
                </a:solidFill>
                <a:latin typeface="Calibri"/>
              </a:rPr>
              <a:t>2- The grandmother learns the acronym, “DYWT,” or “do you want to.”</a:t>
            </a:r>
          </a:p>
        </p:txBody>
      </p:sp>
      <p:sp>
        <p:nvSpPr>
          <p:cNvPr id="41" name="Rounded Rectangle 40"/>
          <p:cNvSpPr/>
          <p:nvPr/>
        </p:nvSpPr>
        <p:spPr>
          <a:xfrm>
            <a:off x="7882128" y="4242816"/>
            <a:ext cx="1316736" cy="457200"/>
          </a:xfrm>
          <a:prstGeom prst="roundRect">
            <a:avLst>
              <a:gd name="adj" fmla="val 50000"/>
            </a:avLst>
          </a:prstGeom>
          <a:solidFill>
            <a:srgbClr val="FFFFFF"/>
          </a:solidFill>
          <a:ln w="19050">
            <a:solidFill>
              <a:srgbClr val="BFE3CB"/>
            </a:solidFill>
          </a:ln>
        </p:spPr>
        <p:style>
          <a:lnRef idx="1">
            <a:schemeClr val="accent1"/>
          </a:lnRef>
          <a:fillRef idx="3">
            <a:schemeClr val="accent1"/>
          </a:fillRef>
          <a:effectRef idx="2">
            <a:schemeClr val="accent1"/>
          </a:effectRef>
          <a:fontRef idx="minor">
            <a:schemeClr val="lt1"/>
          </a:fontRef>
        </p:style>
        <p:txBody>
          <a:bodyPr rtlCol="0" anchor="ctr" wrap="square" lIns="36576" tIns="0" rIns="36576" bIns="0"/>
          <a:lstStyle/>
          <a:p>
            <a:pPr algn="ctr">
              <a:lnSpc>
                <a:spcPct val="95000"/>
              </a:lnSpc>
              <a:spcBef>
                <a:spcPts val="0"/>
              </a:spcBef>
              <a:spcAft>
                <a:spcPts val="0"/>
              </a:spcAft>
            </a:pPr>
            <a:r>
              <a:rPr sz="1200" b="1" i="0">
                <a:solidFill>
                  <a:srgbClr val="0F6B33"/>
                </a:solidFill>
                <a:latin typeface="Calibri"/>
              </a:rPr>
              <a:t>TRUE</a:t>
            </a:r>
          </a:p>
        </p:txBody>
      </p:sp>
      <p:sp>
        <p:nvSpPr>
          <p:cNvPr id="42" name="Rounded Rectangle 41"/>
          <p:cNvSpPr/>
          <p:nvPr/>
        </p:nvSpPr>
        <p:spPr>
          <a:xfrm>
            <a:off x="7882128" y="4809744"/>
            <a:ext cx="1316736" cy="457200"/>
          </a:xfrm>
          <a:prstGeom prst="roundRect">
            <a:avLst>
              <a:gd name="adj" fmla="val 50000"/>
            </a:avLst>
          </a:prstGeom>
          <a:solidFill>
            <a:srgbClr val="FFFFFF"/>
          </a:solidFill>
          <a:ln w="19050">
            <a:solidFill>
              <a:srgbClr val="F3C9C4"/>
            </a:solidFill>
          </a:ln>
        </p:spPr>
        <p:style>
          <a:lnRef idx="1">
            <a:schemeClr val="accent1"/>
          </a:lnRef>
          <a:fillRef idx="3">
            <a:schemeClr val="accent1"/>
          </a:fillRef>
          <a:effectRef idx="2">
            <a:schemeClr val="accent1"/>
          </a:effectRef>
          <a:fontRef idx="minor">
            <a:schemeClr val="lt1"/>
          </a:fontRef>
        </p:style>
        <p:txBody>
          <a:bodyPr rtlCol="0" anchor="ctr" wrap="square" lIns="36576" tIns="0" rIns="36576" bIns="0"/>
          <a:lstStyle/>
          <a:p>
            <a:pPr algn="ctr">
              <a:lnSpc>
                <a:spcPct val="95000"/>
              </a:lnSpc>
              <a:spcBef>
                <a:spcPts val="0"/>
              </a:spcBef>
              <a:spcAft>
                <a:spcPts val="0"/>
              </a:spcAft>
            </a:pPr>
            <a:r>
              <a:rPr sz="1200" b="1" i="0">
                <a:solidFill>
                  <a:srgbClr val="B42318"/>
                </a:solidFill>
                <a:latin typeface="Calibri"/>
              </a:rPr>
              <a:t>FALSE</a:t>
            </a:r>
          </a:p>
        </p:txBody>
      </p:sp>
      <p:sp>
        <p:nvSpPr>
          <p:cNvPr id="43" name="Oval 42"/>
          <p:cNvSpPr/>
          <p:nvPr/>
        </p:nvSpPr>
        <p:spPr>
          <a:xfrm>
            <a:off x="9345168" y="4325112"/>
            <a:ext cx="292608" cy="29260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4" name="Connector 43"/>
          <p:cNvCxnSpPr/>
          <p:nvPr/>
        </p:nvCxnSpPr>
        <p:spPr>
          <a:xfrm>
            <a:off x="9427098" y="4474342"/>
            <a:ext cx="49744" cy="5267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9476842" y="4412894"/>
            <a:ext cx="84856" cy="114118"/>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9345168" y="4892040"/>
            <a:ext cx="292608" cy="29260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Connector 46"/>
          <p:cNvCxnSpPr/>
          <p:nvPr/>
        </p:nvCxnSpPr>
        <p:spPr>
          <a:xfrm>
            <a:off x="9441729" y="4988601"/>
            <a:ext cx="99486" cy="99486"/>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9441729" y="4988601"/>
            <a:ext cx="99486" cy="99486"/>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841248" y="5340096"/>
            <a:ext cx="10506456" cy="530352"/>
          </a:xfrm>
          <a:prstGeom prst="roundRect">
            <a:avLst>
              <a:gd name="adj" fmla="val 20689"/>
            </a:avLst>
          </a:prstGeom>
          <a:solidFill>
            <a:srgbClr val="E7F6EC"/>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8288" rIns="164592" bIns="18288"/>
          <a:lstStyle/>
          <a:p>
            <a:pPr algn="l">
              <a:lnSpc>
                <a:spcPct val="95000"/>
              </a:lnSpc>
              <a:spcBef>
                <a:spcPts val="0"/>
              </a:spcBef>
              <a:spcAft>
                <a:spcPts val="0"/>
              </a:spcAft>
            </a:pPr>
            <a:r>
              <a:rPr sz="1250" b="1" i="0">
                <a:solidFill>
                  <a:srgbClr val="0F6B33"/>
                </a:solidFill>
                <a:latin typeface="Calibri"/>
              </a:rPr>
              <a:t>TRUE  —  “DYWT means ‘Do you want to.’ It’s the first letter of each word.”</a:t>
            </a:r>
          </a:p>
        </p:txBody>
      </p:sp>
      <p:sp>
        <p:nvSpPr>
          <p:cNvPr id="50" name="Rounded Rectangle 49"/>
          <p:cNvSpPr/>
          <p:nvPr/>
        </p:nvSpPr>
        <p:spPr>
          <a:xfrm>
            <a:off x="841248" y="5340096"/>
            <a:ext cx="10506456" cy="530352"/>
          </a:xfrm>
          <a:prstGeom prst="roundRect">
            <a:avLst>
              <a:gd name="adj" fmla="val 20689"/>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18288" rIns="164592" bIns="18288"/>
          <a:lstStyle/>
          <a:p>
            <a:pPr algn="l">
              <a:lnSpc>
                <a:spcPct val="95000"/>
              </a:lnSpc>
              <a:spcBef>
                <a:spcPts val="0"/>
              </a:spcBef>
              <a:spcAft>
                <a:spcPts val="0"/>
              </a:spcAft>
            </a:pPr>
            <a:r>
              <a:rPr sz="1250" b="1" i="0">
                <a:solidFill>
                  <a:srgbClr val="B42318"/>
                </a:solidFill>
                <a:latin typeface="Calibri"/>
              </a:rPr>
              <a:t>Not quite — listen again.</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6"/>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350"/>
                                  <p:tgtEl>
                                    <p:spTgt spid="24"/>
                                  </p:tgtEl>
                                </p:cBhvr>
                              </p:animEffect>
                            </p:childTnLst>
                          </p:cTn>
                        </p:par>
                        <p:par>
                          <p:cTn id="16" presetID="10" presetClass="entr"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350"/>
                                  <p:tgtEl>
                                    <p:spTgt spid="18"/>
                                  </p:tgtEl>
                                </p:cBhvr>
                              </p:animEffect>
                            </p:childTnLst>
                          </p:cTn>
                        </p:par>
                        <p:par>
                          <p:cTn id="19" presetID="10" presetClass="entr"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350"/>
                                  <p:tgtEl>
                                    <p:spTgt spid="19"/>
                                  </p:tgtEl>
                                </p:cBhvr>
                              </p:animEffect>
                            </p:childTnLst>
                          </p:cTn>
                        </p:par>
                        <p:par>
                          <p:cTn id="22" presetID="10" presetClass="entr"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350"/>
                                  <p:tgtEl>
                                    <p:spTgt spid="20"/>
                                  </p:tgtEl>
                                </p:cBhvr>
                              </p:animEffect>
                            </p:childTnLst>
                          </p:cTn>
                        </p:par>
                      </p:childTnLst>
                    </p:cTn>
                  </p:par>
                </p:childTnLst>
              </p:cTn>
            </p:seq>
            <p:seq concurrent="1" nextAc="seek">
              <p:cTn id="25" restart="whenNotActive" fill="hold" evtFilter="cancelBubble" nodeType="interactiveSeq">
                <p:stCondLst>
                  <p:cond evt="onClick" delay="0">
                    <p:tgtEl>
                      <p:spTgt spid="17"/>
                    </p:tgtEl>
                  </p:cond>
                </p:stCondLst>
                <p:endSync evt="end" delay="0">
                  <p:rtn val="all"/>
                </p:endSync>
                <p:childTnLst>
                  <p:par>
                    <p:cTn id="26" fill="hold">
                      <p:stCondLst>
                        <p:cond delay="0"/>
                      </p:stCondLst>
                      <p:childTnLst>
                        <p:par>
                          <p:cTn id="27" presetID="10" presetClass="entr"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350"/>
                                  <p:tgtEl>
                                    <p:spTgt spid="25"/>
                                  </p:tgtEl>
                                </p:cBhvr>
                              </p:animEffect>
                            </p:childTnLst>
                          </p:cTn>
                        </p:par>
                        <p:par>
                          <p:cTn id="30" presetID="10" presetClass="entr"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350"/>
                                  <p:tgtEl>
                                    <p:spTgt spid="21"/>
                                  </p:tgtEl>
                                </p:cBhvr>
                              </p:animEffect>
                            </p:childTnLst>
                          </p:cTn>
                        </p:par>
                        <p:par>
                          <p:cTn id="33" presetID="10" presetClass="entr"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350"/>
                                  <p:tgtEl>
                                    <p:spTgt spid="22"/>
                                  </p:tgtEl>
                                </p:cBhvr>
                              </p:animEffect>
                            </p:childTnLst>
                          </p:cTn>
                        </p:par>
                        <p:par>
                          <p:cTn id="36" presetID="10" presetClass="entr"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350"/>
                                  <p:tgtEl>
                                    <p:spTgt spid="23"/>
                                  </p:tgtEl>
                                </p:cBhvr>
                              </p:animEffect>
                            </p:childTnLst>
                          </p:cTn>
                        </p:par>
                      </p:childTnLst>
                    </p:cTn>
                  </p:par>
                </p:childTnLst>
              </p:cTn>
            </p:seq>
            <p:seq concurrent="1" nextAc="seek">
              <p:cTn id="39" restart="whenNotActive" fill="hold" evtFilter="cancelBubble" nodeType="interactiveSeq">
                <p:stCondLst>
                  <p:cond evt="onClick" delay="0">
                    <p:tgtEl>
                      <p:spTgt spid="41"/>
                    </p:tgtEl>
                  </p:cond>
                </p:stCondLst>
                <p:endSync evt="end" delay="0">
                  <p:rtn val="all"/>
                </p:endSync>
                <p:childTnLst>
                  <p:par>
                    <p:cTn id="40" fill="hold">
                      <p:stCondLst>
                        <p:cond delay="0"/>
                      </p:stCondLst>
                      <p:childTnLst>
                        <p:par>
                          <p:cTn id="41" presetID="10" presetClass="entr"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350"/>
                                  <p:tgtEl>
                                    <p:spTgt spid="49"/>
                                  </p:tgtEl>
                                </p:cBhvr>
                              </p:animEffect>
                            </p:childTnLst>
                          </p:cTn>
                        </p:par>
                        <p:par>
                          <p:cTn id="44" presetID="10" presetClass="entr" fill="hold" grpId="0" nodeType="with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fade">
                                <p:cBhvr>
                                  <p:cTn id="46" dur="350"/>
                                  <p:tgtEl>
                                    <p:spTgt spid="43"/>
                                  </p:tgtEl>
                                </p:cBhvr>
                              </p:animEffect>
                            </p:childTnLst>
                          </p:cTn>
                        </p:par>
                        <p:par>
                          <p:cTn id="47" presetID="10" presetClass="entr"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350"/>
                                  <p:tgtEl>
                                    <p:spTgt spid="44"/>
                                  </p:tgtEl>
                                </p:cBhvr>
                              </p:animEffect>
                            </p:childTnLst>
                          </p:cTn>
                        </p:par>
                        <p:par>
                          <p:cTn id="50" presetID="10" presetClass="entr" fill="hold" grpId="0"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350"/>
                                  <p:tgtEl>
                                    <p:spTgt spid="45"/>
                                  </p:tgtEl>
                                </p:cBhvr>
                              </p:animEffect>
                            </p:childTnLst>
                          </p:cTn>
                        </p:par>
                      </p:childTnLst>
                    </p:cTn>
                  </p:par>
                </p:childTnLst>
              </p:cTn>
            </p:seq>
            <p:seq concurrent="1" nextAc="seek">
              <p:cTn id="53" restart="whenNotActive" fill="hold" evtFilter="cancelBubble" nodeType="interactiveSeq">
                <p:stCondLst>
                  <p:cond evt="onClick" delay="0">
                    <p:tgtEl>
                      <p:spTgt spid="42"/>
                    </p:tgtEl>
                  </p:cond>
                </p:stCondLst>
                <p:endSync evt="end" delay="0">
                  <p:rtn val="all"/>
                </p:endSync>
                <p:childTnLst>
                  <p:par>
                    <p:cTn id="54" fill="hold">
                      <p:stCondLst>
                        <p:cond delay="0"/>
                      </p:stCondLst>
                      <p:childTnLst>
                        <p:par>
                          <p:cTn id="55" presetID="10" presetClass="entr" fill="hold" grpId="0" nodeType="clickEffect">
                            <p:stCondLst>
                              <p:cond delay="0"/>
                            </p:stCondLst>
                            <p:childTnLst>
                              <p:set>
                                <p:cBhvr>
                                  <p:cTn id="56" dur="1" fill="hold">
                                    <p:stCondLst>
                                      <p:cond delay="0"/>
                                    </p:stCondLst>
                                  </p:cTn>
                                  <p:tgtEl>
                                    <p:spTgt spid="50"/>
                                  </p:tgtEl>
                                  <p:attrNameLst>
                                    <p:attrName>style.visibility</p:attrName>
                                  </p:attrNameLst>
                                </p:cBhvr>
                                <p:to>
                                  <p:strVal val="visible"/>
                                </p:to>
                              </p:set>
                              <p:animEffect transition="in" filter="fade">
                                <p:cBhvr>
                                  <p:cTn id="57" dur="350"/>
                                  <p:tgtEl>
                                    <p:spTgt spid="50"/>
                                  </p:tgtEl>
                                </p:cBhvr>
                              </p:animEffect>
                            </p:childTnLst>
                          </p:cTn>
                        </p:par>
                        <p:par>
                          <p:cTn id="58" presetID="10" presetClass="entr" fill="hold" grpId="0"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350"/>
                                  <p:tgtEl>
                                    <p:spTgt spid="46"/>
                                  </p:tgtEl>
                                </p:cBhvr>
                              </p:animEffect>
                            </p:childTnLst>
                          </p:cTn>
                        </p:par>
                        <p:par>
                          <p:cTn id="61" presetID="10" presetClass="entr"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350"/>
                                  <p:tgtEl>
                                    <p:spTgt spid="47"/>
                                  </p:tgtEl>
                                </p:cBhvr>
                              </p:animEffect>
                            </p:childTnLst>
                          </p:cTn>
                        </p:par>
                        <p:par>
                          <p:cTn id="64" presetID="10" presetClass="entr" fill="hold" grpId="0"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350"/>
                                  <p:tgtEl>
                                    <p:spTgt spid="48"/>
                                  </p:tgtEl>
                                </p:cBhvr>
                              </p:animEffect>
                            </p:childTnLst>
                          </p:cTn>
                        </p:par>
                      </p:childTnLst>
                    </p:cTn>
                  </p:par>
                </p:childTnLst>
              </p:cTn>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8127797"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16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CLARIFY</a:t>
            </a:r>
          </a:p>
        </p:txBody>
      </p:sp>
      <p:sp>
        <p:nvSpPr>
          <p:cNvPr id="12" name="TextBox 11"/>
          <p:cNvSpPr txBox="1"/>
          <p:nvPr/>
        </p:nvSpPr>
        <p:spPr>
          <a:xfrm>
            <a:off x="566928" y="822960"/>
            <a:ext cx="10972800" cy="1371600"/>
          </a:xfrm>
          <a:prstGeom prst="rect">
            <a:avLst/>
          </a:prstGeom>
          <a:noFill/>
        </p:spPr>
        <p:txBody>
          <a:bodyPr wrap="square" anchor="t" lIns="0" tIns="0" rIns="0" bIns="0"/>
          <a:lstStyle/>
          <a:p>
            <a:pPr algn="l">
              <a:lnSpc>
                <a:spcPct val="92000"/>
              </a:lnSpc>
              <a:spcBef>
                <a:spcPts val="0"/>
              </a:spcBef>
              <a:spcAft>
                <a:spcPts val="0"/>
              </a:spcAft>
            </a:pPr>
            <a:r>
              <a:rPr sz="2600" b="1" i="0">
                <a:solidFill>
                  <a:srgbClr val="0F1B33"/>
                </a:solidFill>
                <a:latin typeface="Trebuchet MS"/>
              </a:rPr>
              <a:t>Which things would you say when you don’t understand something or want an explanation ?</a:t>
            </a:r>
          </a:p>
        </p:txBody>
      </p:sp>
      <p:sp>
        <p:nvSpPr>
          <p:cNvPr id="13" name="Rounded Rectangle 12"/>
          <p:cNvSpPr/>
          <p:nvPr/>
        </p:nvSpPr>
        <p:spPr>
          <a:xfrm>
            <a:off x="566928" y="2432304"/>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I don’t understand.</a:t>
            </a:r>
          </a:p>
        </p:txBody>
      </p:sp>
      <p:sp>
        <p:nvSpPr>
          <p:cNvPr id="14" name="Oval 13"/>
          <p:cNvSpPr/>
          <p:nvPr/>
        </p:nvSpPr>
        <p:spPr>
          <a:xfrm>
            <a:off x="5367528" y="2697480"/>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5" name="Connector 14"/>
          <p:cNvCxnSpPr/>
          <p:nvPr/>
        </p:nvCxnSpPr>
        <p:spPr>
          <a:xfrm>
            <a:off x="5475061" y="2893344"/>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540350" y="2812694"/>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99632" y="2432304"/>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Can you explain it?</a:t>
            </a:r>
          </a:p>
        </p:txBody>
      </p:sp>
      <p:sp>
        <p:nvSpPr>
          <p:cNvPr id="23" name="Oval 22"/>
          <p:cNvSpPr/>
          <p:nvPr/>
        </p:nvSpPr>
        <p:spPr>
          <a:xfrm>
            <a:off x="11000232" y="2697480"/>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Connector 23"/>
          <p:cNvCxnSpPr/>
          <p:nvPr/>
        </p:nvCxnSpPr>
        <p:spPr>
          <a:xfrm>
            <a:off x="11107765" y="2893344"/>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173054" y="2812694"/>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66928" y="3566160"/>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How do you…?</a:t>
            </a:r>
          </a:p>
        </p:txBody>
      </p:sp>
      <p:sp>
        <p:nvSpPr>
          <p:cNvPr id="34" name="Oval 33"/>
          <p:cNvSpPr/>
          <p:nvPr/>
        </p:nvSpPr>
        <p:spPr>
          <a:xfrm>
            <a:off x="5367528" y="3831336"/>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Connector 34"/>
          <p:cNvCxnSpPr/>
          <p:nvPr/>
        </p:nvCxnSpPr>
        <p:spPr>
          <a:xfrm>
            <a:off x="5475061" y="4027200"/>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540350" y="3946550"/>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199632" y="3566160"/>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What does that mean?</a:t>
            </a:r>
          </a:p>
        </p:txBody>
      </p:sp>
      <p:sp>
        <p:nvSpPr>
          <p:cNvPr id="45" name="Oval 44"/>
          <p:cNvSpPr/>
          <p:nvPr/>
        </p:nvSpPr>
        <p:spPr>
          <a:xfrm>
            <a:off x="11000232" y="3831336"/>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Connector 45"/>
          <p:cNvCxnSpPr/>
          <p:nvPr/>
        </p:nvCxnSpPr>
        <p:spPr>
          <a:xfrm>
            <a:off x="11107765" y="4027200"/>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173054" y="3946550"/>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566928" y="4700016"/>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Does that make sense?</a:t>
            </a:r>
          </a:p>
        </p:txBody>
      </p:sp>
      <p:sp>
        <p:nvSpPr>
          <p:cNvPr id="56" name="Oval 55"/>
          <p:cNvSpPr/>
          <p:nvPr/>
        </p:nvSpPr>
        <p:spPr>
          <a:xfrm>
            <a:off x="5367528" y="4965192"/>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7" name="Connector 56"/>
          <p:cNvCxnSpPr/>
          <p:nvPr/>
        </p:nvCxnSpPr>
        <p:spPr>
          <a:xfrm>
            <a:off x="5494264" y="5091928"/>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494264" y="5091928"/>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199632" y="4700016"/>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I get it.</a:t>
            </a:r>
          </a:p>
        </p:txBody>
      </p:sp>
      <p:sp>
        <p:nvSpPr>
          <p:cNvPr id="67" name="Oval 66"/>
          <p:cNvSpPr/>
          <p:nvPr/>
        </p:nvSpPr>
        <p:spPr>
          <a:xfrm>
            <a:off x="11000232" y="4965192"/>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68" name="Connector 67"/>
          <p:cNvCxnSpPr/>
          <p:nvPr/>
        </p:nvCxnSpPr>
        <p:spPr>
          <a:xfrm>
            <a:off x="11126968" y="5091928"/>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1126968" y="5091928"/>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66928" y="5852160"/>
            <a:ext cx="1069848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a phrase: green = it asks for clarification, red = it doesn’t.</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3"/>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50"/>
                                  <p:tgtEl>
                                    <p:spTgt spid="14"/>
                                  </p:tgtEl>
                                </p:cBhvr>
                              </p:animEffect>
                            </p:childTnLst>
                          </p:cTn>
                        </p:par>
                        <p:par>
                          <p:cTn id="16" presetID="10" presetClass="entr"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350"/>
                                  <p:tgtEl>
                                    <p:spTgt spid="15"/>
                                  </p:tgtEl>
                                </p:cBhvr>
                              </p:animEffect>
                            </p:childTnLst>
                          </p:cTn>
                        </p:par>
                        <p:par>
                          <p:cTn id="19" presetID="10" presetClass="entr"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50"/>
                                  <p:tgtEl>
                                    <p:spTgt spid="16"/>
                                  </p:tgtEl>
                                </p:cBhvr>
                              </p:animEffect>
                            </p:childTnLst>
                          </p:cTn>
                        </p:par>
                      </p:childTnLst>
                    </p:cTn>
                  </p:par>
                </p:childTnLst>
              </p:cTn>
            </p:seq>
            <p:seq concurrent="1" nextAc="seek">
              <p:cTn id="22" restart="whenNotActive" fill="hold" evtFilter="cancelBubble" nodeType="interactiveSeq">
                <p:stCondLst>
                  <p:cond evt="onClick" delay="0">
                    <p:tgtEl>
                      <p:spTgt spid="22"/>
                    </p:tgtEl>
                  </p:cond>
                </p:stCondLst>
                <p:endSync evt="end" delay="0">
                  <p:rtn val="all"/>
                </p:endSync>
                <p:childTnLst>
                  <p:par>
                    <p:cTn id="23" fill="hold">
                      <p:stCondLst>
                        <p:cond delay="0"/>
                      </p:stCondLst>
                      <p:childTnLst>
                        <p:par>
                          <p:cTn id="24" presetID="10" presetClass="entr"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350"/>
                                  <p:tgtEl>
                                    <p:spTgt spid="23"/>
                                  </p:tgtEl>
                                </p:cBhvr>
                              </p:animEffect>
                            </p:childTnLst>
                          </p:cTn>
                        </p:par>
                        <p:par>
                          <p:cTn id="27" presetID="10" presetClass="entr"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350"/>
                                  <p:tgtEl>
                                    <p:spTgt spid="24"/>
                                  </p:tgtEl>
                                </p:cBhvr>
                              </p:animEffect>
                            </p:childTnLst>
                          </p:cTn>
                        </p:par>
                        <p:par>
                          <p:cTn id="30" presetID="10" presetClass="entr"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350"/>
                                  <p:tgtEl>
                                    <p:spTgt spid="25"/>
                                  </p:tgtEl>
                                </p:cBhvr>
                              </p:animEffect>
                            </p:childTnLst>
                          </p:cTn>
                        </p:par>
                      </p:childTnLst>
                    </p:cTn>
                  </p:par>
                </p:childTnLst>
              </p:cTn>
            </p:seq>
            <p:seq concurrent="1" nextAc="seek">
              <p:cTn id="33" restart="whenNotActive" fill="hold" evtFilter="cancelBubble" nodeType="interactiveSeq">
                <p:stCondLst>
                  <p:cond evt="onClick" delay="0">
                    <p:tgtEl>
                      <p:spTgt spid="33"/>
                    </p:tgtEl>
                  </p:cond>
                </p:stCondLst>
                <p:endSync evt="end" delay="0">
                  <p:rtn val="all"/>
                </p:endSync>
                <p:childTnLst>
                  <p:par>
                    <p:cTn id="34" fill="hold">
                      <p:stCondLst>
                        <p:cond delay="0"/>
                      </p:stCondLst>
                      <p:childTnLst>
                        <p:par>
                          <p:cTn id="35" presetID="10" presetClass="entr"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350"/>
                                  <p:tgtEl>
                                    <p:spTgt spid="34"/>
                                  </p:tgtEl>
                                </p:cBhvr>
                              </p:animEffect>
                            </p:childTnLst>
                          </p:cTn>
                        </p:par>
                        <p:par>
                          <p:cTn id="38" presetID="10" presetClass="entr"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350"/>
                                  <p:tgtEl>
                                    <p:spTgt spid="35"/>
                                  </p:tgtEl>
                                </p:cBhvr>
                              </p:animEffect>
                            </p:childTnLst>
                          </p:cTn>
                        </p:par>
                        <p:par>
                          <p:cTn id="41" presetID="10" presetClass="entr"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350"/>
                                  <p:tgtEl>
                                    <p:spTgt spid="36"/>
                                  </p:tgtEl>
                                </p:cBhvr>
                              </p:animEffect>
                            </p:childTnLst>
                          </p:cTn>
                        </p:par>
                      </p:childTnLst>
                    </p:cTn>
                  </p:par>
                </p:childTnLst>
              </p:cTn>
            </p:seq>
            <p:seq concurrent="1" nextAc="seek">
              <p:cTn id="44" restart="whenNotActive" fill="hold" evtFilter="cancelBubble" nodeType="interactiveSeq">
                <p:stCondLst>
                  <p:cond evt="onClick" delay="0">
                    <p:tgtEl>
                      <p:spTgt spid="44"/>
                    </p:tgtEl>
                  </p:cond>
                </p:stCondLst>
                <p:endSync evt="end" delay="0">
                  <p:rtn val="all"/>
                </p:endSync>
                <p:childTnLst>
                  <p:par>
                    <p:cTn id="45" fill="hold">
                      <p:stCondLst>
                        <p:cond delay="0"/>
                      </p:stCondLst>
                      <p:childTnLst>
                        <p:par>
                          <p:cTn id="46" presetID="10" presetClass="entr"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350"/>
                                  <p:tgtEl>
                                    <p:spTgt spid="45"/>
                                  </p:tgtEl>
                                </p:cBhvr>
                              </p:animEffect>
                            </p:childTnLst>
                          </p:cTn>
                        </p:par>
                        <p:par>
                          <p:cTn id="49" presetID="10" presetClass="entr"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350"/>
                                  <p:tgtEl>
                                    <p:spTgt spid="46"/>
                                  </p:tgtEl>
                                </p:cBhvr>
                              </p:animEffect>
                            </p:childTnLst>
                          </p:cTn>
                        </p:par>
                        <p:par>
                          <p:cTn id="52" presetID="10" presetClass="entr"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350"/>
                                  <p:tgtEl>
                                    <p:spTgt spid="47"/>
                                  </p:tgtEl>
                                </p:cBhvr>
                              </p:animEffect>
                            </p:childTnLst>
                          </p:cTn>
                        </p:par>
                      </p:childTnLst>
                    </p:cTn>
                  </p:par>
                </p:childTnLst>
              </p:cTn>
            </p:seq>
            <p:seq concurrent="1" nextAc="seek">
              <p:cTn id="55" restart="whenNotActive" fill="hold" evtFilter="cancelBubble" nodeType="interactiveSeq">
                <p:stCondLst>
                  <p:cond evt="onClick" delay="0">
                    <p:tgtEl>
                      <p:spTgt spid="55"/>
                    </p:tgtEl>
                  </p:cond>
                </p:stCondLst>
                <p:endSync evt="end" delay="0">
                  <p:rtn val="all"/>
                </p:endSync>
                <p:childTnLst>
                  <p:par>
                    <p:cTn id="56" fill="hold">
                      <p:stCondLst>
                        <p:cond delay="0"/>
                      </p:stCondLst>
                      <p:childTnLst>
                        <p:par>
                          <p:cTn id="57" presetID="10" presetClass="entr" fill="hold" grpId="0"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350"/>
                                  <p:tgtEl>
                                    <p:spTgt spid="56"/>
                                  </p:tgtEl>
                                </p:cBhvr>
                              </p:animEffect>
                            </p:childTnLst>
                          </p:cTn>
                        </p:par>
                        <p:par>
                          <p:cTn id="60" presetID="10" presetClass="entr" fill="hold" grpId="0" nodeType="with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fade">
                                <p:cBhvr>
                                  <p:cTn id="62" dur="350"/>
                                  <p:tgtEl>
                                    <p:spTgt spid="57"/>
                                  </p:tgtEl>
                                </p:cBhvr>
                              </p:animEffect>
                            </p:childTnLst>
                          </p:cTn>
                        </p:par>
                        <p:par>
                          <p:cTn id="63" presetID="10" presetClass="entr"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fade">
                                <p:cBhvr>
                                  <p:cTn id="65" dur="350"/>
                                  <p:tgtEl>
                                    <p:spTgt spid="58"/>
                                  </p:tgtEl>
                                </p:cBhvr>
                              </p:animEffect>
                            </p:childTnLst>
                          </p:cTn>
                        </p:par>
                      </p:childTnLst>
                    </p:cTn>
                  </p:par>
                </p:childTnLst>
              </p:cTn>
            </p:seq>
            <p:seq concurrent="1" nextAc="seek">
              <p:cTn id="66" restart="whenNotActive" fill="hold" evtFilter="cancelBubble" nodeType="interactiveSeq">
                <p:stCondLst>
                  <p:cond evt="onClick" delay="0">
                    <p:tgtEl>
                      <p:spTgt spid="66"/>
                    </p:tgtEl>
                  </p:cond>
                </p:stCondLst>
                <p:endSync evt="end" delay="0">
                  <p:rtn val="all"/>
                </p:endSync>
                <p:childTnLst>
                  <p:par>
                    <p:cTn id="67" fill="hold">
                      <p:stCondLst>
                        <p:cond delay="0"/>
                      </p:stCondLst>
                      <p:childTnLst>
                        <p:par>
                          <p:cTn id="68" presetID="10" presetClass="entr" fill="hold" grpId="0" nodeType="click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350"/>
                                  <p:tgtEl>
                                    <p:spTgt spid="67"/>
                                  </p:tgtEl>
                                </p:cBhvr>
                              </p:animEffect>
                            </p:childTnLst>
                          </p:cTn>
                        </p:par>
                        <p:par>
                          <p:cTn id="71" presetID="10" presetClass="entr" fill="hold" grpId="0" nodeType="with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350"/>
                                  <p:tgtEl>
                                    <p:spTgt spid="68"/>
                                  </p:tgtEl>
                                </p:cBhvr>
                              </p:animEffect>
                            </p:childTnLst>
                          </p:cTn>
                        </p:par>
                        <p:par>
                          <p:cTn id="74" presetID="10" presetClass="entr" fill="hold" grpId="0" nodeType="withEffect">
                            <p:stCondLst>
                              <p:cond delay="0"/>
                            </p:stCondLst>
                            <p:childTnLst>
                              <p:set>
                                <p:cBhvr>
                                  <p:cTn id="75" dur="1" fill="hold">
                                    <p:stCondLst>
                                      <p:cond delay="0"/>
                                    </p:stCondLst>
                                  </p:cTn>
                                  <p:tgtEl>
                                    <p:spTgt spid="69"/>
                                  </p:tgtEl>
                                  <p:attrNameLst>
                                    <p:attrName>style.visibility</p:attrName>
                                  </p:attrNameLst>
                                </p:cBhvr>
                                <p:to>
                                  <p:strVal val="visible"/>
                                </p:to>
                              </p:set>
                              <p:animEffect transition="in" filter="fade">
                                <p:cBhvr>
                                  <p:cTn id="76" dur="350"/>
                                  <p:tgtEl>
                                    <p:spTgt spid="69"/>
                                  </p:tgtEl>
                                </p:cBhvr>
                              </p:animEffect>
                            </p:childTnLst>
                          </p:cTn>
                        </p:par>
                      </p:childTnLst>
                    </p:cTn>
                  </p:par>
                </p:childTnLst>
              </p:cTn>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8635784"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17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CONFIRM</a:t>
            </a:r>
          </a:p>
        </p:txBody>
      </p:sp>
      <p:sp>
        <p:nvSpPr>
          <p:cNvPr id="12" name="TextBox 11"/>
          <p:cNvSpPr txBox="1"/>
          <p:nvPr/>
        </p:nvSpPr>
        <p:spPr>
          <a:xfrm>
            <a:off x="566928" y="822960"/>
            <a:ext cx="10972800" cy="1371600"/>
          </a:xfrm>
          <a:prstGeom prst="rect">
            <a:avLst/>
          </a:prstGeom>
          <a:noFill/>
        </p:spPr>
        <p:txBody>
          <a:bodyPr wrap="square" anchor="t" lIns="0" tIns="0" rIns="0" bIns="0"/>
          <a:lstStyle/>
          <a:p>
            <a:pPr algn="l">
              <a:lnSpc>
                <a:spcPct val="92000"/>
              </a:lnSpc>
              <a:spcBef>
                <a:spcPts val="0"/>
              </a:spcBef>
              <a:spcAft>
                <a:spcPts val="0"/>
              </a:spcAft>
            </a:pPr>
            <a:r>
              <a:rPr sz="2800" b="1" i="0">
                <a:solidFill>
                  <a:srgbClr val="0F1B33"/>
                </a:solidFill>
                <a:latin typeface="Trebuchet MS"/>
              </a:rPr>
              <a:t>What do you say when you understand something ?</a:t>
            </a:r>
          </a:p>
        </p:txBody>
      </p:sp>
      <p:sp>
        <p:nvSpPr>
          <p:cNvPr id="13" name="Rounded Rectangle 12"/>
          <p:cNvSpPr/>
          <p:nvPr/>
        </p:nvSpPr>
        <p:spPr>
          <a:xfrm>
            <a:off x="566928" y="2432304"/>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I don’t understand.</a:t>
            </a:r>
          </a:p>
        </p:txBody>
      </p:sp>
      <p:sp>
        <p:nvSpPr>
          <p:cNvPr id="14" name="Oval 13"/>
          <p:cNvSpPr/>
          <p:nvPr/>
        </p:nvSpPr>
        <p:spPr>
          <a:xfrm>
            <a:off x="5367528" y="2697480"/>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5" name="Connector 14"/>
          <p:cNvCxnSpPr/>
          <p:nvPr/>
        </p:nvCxnSpPr>
        <p:spPr>
          <a:xfrm>
            <a:off x="5494264" y="2824216"/>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5494264" y="2824216"/>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99632" y="2432304"/>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Can you explain it?</a:t>
            </a:r>
          </a:p>
        </p:txBody>
      </p:sp>
      <p:sp>
        <p:nvSpPr>
          <p:cNvPr id="23" name="Oval 22"/>
          <p:cNvSpPr/>
          <p:nvPr/>
        </p:nvSpPr>
        <p:spPr>
          <a:xfrm>
            <a:off x="11000232" y="2697480"/>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Connector 23"/>
          <p:cNvCxnSpPr/>
          <p:nvPr/>
        </p:nvCxnSpPr>
        <p:spPr>
          <a:xfrm>
            <a:off x="11126968" y="2824216"/>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126968" y="2824216"/>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66928" y="3566160"/>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How do you…?</a:t>
            </a:r>
          </a:p>
        </p:txBody>
      </p:sp>
      <p:sp>
        <p:nvSpPr>
          <p:cNvPr id="34" name="Oval 33"/>
          <p:cNvSpPr/>
          <p:nvPr/>
        </p:nvSpPr>
        <p:spPr>
          <a:xfrm>
            <a:off x="5367528" y="3831336"/>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Connector 34"/>
          <p:cNvCxnSpPr/>
          <p:nvPr/>
        </p:nvCxnSpPr>
        <p:spPr>
          <a:xfrm>
            <a:off x="5494264" y="3958072"/>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5494264" y="3958072"/>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199632" y="3566160"/>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What does that mean?</a:t>
            </a:r>
          </a:p>
        </p:txBody>
      </p:sp>
      <p:sp>
        <p:nvSpPr>
          <p:cNvPr id="45" name="Oval 44"/>
          <p:cNvSpPr/>
          <p:nvPr/>
        </p:nvSpPr>
        <p:spPr>
          <a:xfrm>
            <a:off x="11000232" y="3831336"/>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Connector 45"/>
          <p:cNvCxnSpPr/>
          <p:nvPr/>
        </p:nvCxnSpPr>
        <p:spPr>
          <a:xfrm>
            <a:off x="11126968" y="3958072"/>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1126968" y="3958072"/>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566928" y="4700016"/>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Does that make sense?</a:t>
            </a:r>
          </a:p>
        </p:txBody>
      </p:sp>
      <p:sp>
        <p:nvSpPr>
          <p:cNvPr id="56" name="Oval 55"/>
          <p:cNvSpPr/>
          <p:nvPr/>
        </p:nvSpPr>
        <p:spPr>
          <a:xfrm>
            <a:off x="5367528" y="4965192"/>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7" name="Connector 56"/>
          <p:cNvCxnSpPr/>
          <p:nvPr/>
        </p:nvCxnSpPr>
        <p:spPr>
          <a:xfrm>
            <a:off x="5494264" y="5091928"/>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494264" y="5091928"/>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199632" y="4700016"/>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I get it.</a:t>
            </a:r>
          </a:p>
        </p:txBody>
      </p:sp>
      <p:sp>
        <p:nvSpPr>
          <p:cNvPr id="67" name="Oval 66"/>
          <p:cNvSpPr/>
          <p:nvPr/>
        </p:nvSpPr>
        <p:spPr>
          <a:xfrm>
            <a:off x="11000232" y="4965192"/>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68" name="Connector 67"/>
          <p:cNvCxnSpPr/>
          <p:nvPr/>
        </p:nvCxnSpPr>
        <p:spPr>
          <a:xfrm>
            <a:off x="11107765" y="5161056"/>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11173054" y="5080406"/>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66928" y="5852160"/>
            <a:ext cx="1069848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a phrase: only one of these confirms that you understand.</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3"/>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50"/>
                                  <p:tgtEl>
                                    <p:spTgt spid="14"/>
                                  </p:tgtEl>
                                </p:cBhvr>
                              </p:animEffect>
                            </p:childTnLst>
                          </p:cTn>
                        </p:par>
                        <p:par>
                          <p:cTn id="16" presetID="10" presetClass="entr"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350"/>
                                  <p:tgtEl>
                                    <p:spTgt spid="15"/>
                                  </p:tgtEl>
                                </p:cBhvr>
                              </p:animEffect>
                            </p:childTnLst>
                          </p:cTn>
                        </p:par>
                        <p:par>
                          <p:cTn id="19" presetID="10" presetClass="entr"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50"/>
                                  <p:tgtEl>
                                    <p:spTgt spid="16"/>
                                  </p:tgtEl>
                                </p:cBhvr>
                              </p:animEffect>
                            </p:childTnLst>
                          </p:cTn>
                        </p:par>
                      </p:childTnLst>
                    </p:cTn>
                  </p:par>
                </p:childTnLst>
              </p:cTn>
            </p:seq>
            <p:seq concurrent="1" nextAc="seek">
              <p:cTn id="22" restart="whenNotActive" fill="hold" evtFilter="cancelBubble" nodeType="interactiveSeq">
                <p:stCondLst>
                  <p:cond evt="onClick" delay="0">
                    <p:tgtEl>
                      <p:spTgt spid="22"/>
                    </p:tgtEl>
                  </p:cond>
                </p:stCondLst>
                <p:endSync evt="end" delay="0">
                  <p:rtn val="all"/>
                </p:endSync>
                <p:childTnLst>
                  <p:par>
                    <p:cTn id="23" fill="hold">
                      <p:stCondLst>
                        <p:cond delay="0"/>
                      </p:stCondLst>
                      <p:childTnLst>
                        <p:par>
                          <p:cTn id="24" presetID="10" presetClass="entr"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350"/>
                                  <p:tgtEl>
                                    <p:spTgt spid="23"/>
                                  </p:tgtEl>
                                </p:cBhvr>
                              </p:animEffect>
                            </p:childTnLst>
                          </p:cTn>
                        </p:par>
                        <p:par>
                          <p:cTn id="27" presetID="10" presetClass="entr"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350"/>
                                  <p:tgtEl>
                                    <p:spTgt spid="24"/>
                                  </p:tgtEl>
                                </p:cBhvr>
                              </p:animEffect>
                            </p:childTnLst>
                          </p:cTn>
                        </p:par>
                        <p:par>
                          <p:cTn id="30" presetID="10" presetClass="entr"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350"/>
                                  <p:tgtEl>
                                    <p:spTgt spid="25"/>
                                  </p:tgtEl>
                                </p:cBhvr>
                              </p:animEffect>
                            </p:childTnLst>
                          </p:cTn>
                        </p:par>
                      </p:childTnLst>
                    </p:cTn>
                  </p:par>
                </p:childTnLst>
              </p:cTn>
            </p:seq>
            <p:seq concurrent="1" nextAc="seek">
              <p:cTn id="33" restart="whenNotActive" fill="hold" evtFilter="cancelBubble" nodeType="interactiveSeq">
                <p:stCondLst>
                  <p:cond evt="onClick" delay="0">
                    <p:tgtEl>
                      <p:spTgt spid="33"/>
                    </p:tgtEl>
                  </p:cond>
                </p:stCondLst>
                <p:endSync evt="end" delay="0">
                  <p:rtn val="all"/>
                </p:endSync>
                <p:childTnLst>
                  <p:par>
                    <p:cTn id="34" fill="hold">
                      <p:stCondLst>
                        <p:cond delay="0"/>
                      </p:stCondLst>
                      <p:childTnLst>
                        <p:par>
                          <p:cTn id="35" presetID="10" presetClass="entr"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350"/>
                                  <p:tgtEl>
                                    <p:spTgt spid="34"/>
                                  </p:tgtEl>
                                </p:cBhvr>
                              </p:animEffect>
                            </p:childTnLst>
                          </p:cTn>
                        </p:par>
                        <p:par>
                          <p:cTn id="38" presetID="10" presetClass="entr"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350"/>
                                  <p:tgtEl>
                                    <p:spTgt spid="35"/>
                                  </p:tgtEl>
                                </p:cBhvr>
                              </p:animEffect>
                            </p:childTnLst>
                          </p:cTn>
                        </p:par>
                        <p:par>
                          <p:cTn id="41" presetID="10" presetClass="entr"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350"/>
                                  <p:tgtEl>
                                    <p:spTgt spid="36"/>
                                  </p:tgtEl>
                                </p:cBhvr>
                              </p:animEffect>
                            </p:childTnLst>
                          </p:cTn>
                        </p:par>
                      </p:childTnLst>
                    </p:cTn>
                  </p:par>
                </p:childTnLst>
              </p:cTn>
            </p:seq>
            <p:seq concurrent="1" nextAc="seek">
              <p:cTn id="44" restart="whenNotActive" fill="hold" evtFilter="cancelBubble" nodeType="interactiveSeq">
                <p:stCondLst>
                  <p:cond evt="onClick" delay="0">
                    <p:tgtEl>
                      <p:spTgt spid="44"/>
                    </p:tgtEl>
                  </p:cond>
                </p:stCondLst>
                <p:endSync evt="end" delay="0">
                  <p:rtn val="all"/>
                </p:endSync>
                <p:childTnLst>
                  <p:par>
                    <p:cTn id="45" fill="hold">
                      <p:stCondLst>
                        <p:cond delay="0"/>
                      </p:stCondLst>
                      <p:childTnLst>
                        <p:par>
                          <p:cTn id="46" presetID="10" presetClass="entr"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350"/>
                                  <p:tgtEl>
                                    <p:spTgt spid="45"/>
                                  </p:tgtEl>
                                </p:cBhvr>
                              </p:animEffect>
                            </p:childTnLst>
                          </p:cTn>
                        </p:par>
                        <p:par>
                          <p:cTn id="49" presetID="10" presetClass="entr"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350"/>
                                  <p:tgtEl>
                                    <p:spTgt spid="46"/>
                                  </p:tgtEl>
                                </p:cBhvr>
                              </p:animEffect>
                            </p:childTnLst>
                          </p:cTn>
                        </p:par>
                        <p:par>
                          <p:cTn id="52" presetID="10" presetClass="entr"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350"/>
                                  <p:tgtEl>
                                    <p:spTgt spid="47"/>
                                  </p:tgtEl>
                                </p:cBhvr>
                              </p:animEffect>
                            </p:childTnLst>
                          </p:cTn>
                        </p:par>
                      </p:childTnLst>
                    </p:cTn>
                  </p:par>
                </p:childTnLst>
              </p:cTn>
            </p:seq>
            <p:seq concurrent="1" nextAc="seek">
              <p:cTn id="55" restart="whenNotActive" fill="hold" evtFilter="cancelBubble" nodeType="interactiveSeq">
                <p:stCondLst>
                  <p:cond evt="onClick" delay="0">
                    <p:tgtEl>
                      <p:spTgt spid="55"/>
                    </p:tgtEl>
                  </p:cond>
                </p:stCondLst>
                <p:endSync evt="end" delay="0">
                  <p:rtn val="all"/>
                </p:endSync>
                <p:childTnLst>
                  <p:par>
                    <p:cTn id="56" fill="hold">
                      <p:stCondLst>
                        <p:cond delay="0"/>
                      </p:stCondLst>
                      <p:childTnLst>
                        <p:par>
                          <p:cTn id="57" presetID="10" presetClass="entr" fill="hold" grpId="0"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350"/>
                                  <p:tgtEl>
                                    <p:spTgt spid="56"/>
                                  </p:tgtEl>
                                </p:cBhvr>
                              </p:animEffect>
                            </p:childTnLst>
                          </p:cTn>
                        </p:par>
                        <p:par>
                          <p:cTn id="60" presetID="10" presetClass="entr" fill="hold" grpId="0" nodeType="with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fade">
                                <p:cBhvr>
                                  <p:cTn id="62" dur="350"/>
                                  <p:tgtEl>
                                    <p:spTgt spid="57"/>
                                  </p:tgtEl>
                                </p:cBhvr>
                              </p:animEffect>
                            </p:childTnLst>
                          </p:cTn>
                        </p:par>
                        <p:par>
                          <p:cTn id="63" presetID="10" presetClass="entr"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fade">
                                <p:cBhvr>
                                  <p:cTn id="65" dur="350"/>
                                  <p:tgtEl>
                                    <p:spTgt spid="58"/>
                                  </p:tgtEl>
                                </p:cBhvr>
                              </p:animEffect>
                            </p:childTnLst>
                          </p:cTn>
                        </p:par>
                      </p:childTnLst>
                    </p:cTn>
                  </p:par>
                </p:childTnLst>
              </p:cTn>
            </p:seq>
            <p:seq concurrent="1" nextAc="seek">
              <p:cTn id="66" restart="whenNotActive" fill="hold" evtFilter="cancelBubble" nodeType="interactiveSeq">
                <p:stCondLst>
                  <p:cond evt="onClick" delay="0">
                    <p:tgtEl>
                      <p:spTgt spid="66"/>
                    </p:tgtEl>
                  </p:cond>
                </p:stCondLst>
                <p:endSync evt="end" delay="0">
                  <p:rtn val="all"/>
                </p:endSync>
                <p:childTnLst>
                  <p:par>
                    <p:cTn id="67" fill="hold">
                      <p:stCondLst>
                        <p:cond delay="0"/>
                      </p:stCondLst>
                      <p:childTnLst>
                        <p:par>
                          <p:cTn id="68" presetID="10" presetClass="entr" fill="hold" grpId="0" nodeType="click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350"/>
                                  <p:tgtEl>
                                    <p:spTgt spid="67"/>
                                  </p:tgtEl>
                                </p:cBhvr>
                              </p:animEffect>
                            </p:childTnLst>
                          </p:cTn>
                        </p:par>
                        <p:par>
                          <p:cTn id="71" presetID="10" presetClass="entr" fill="hold" grpId="0" nodeType="with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350"/>
                                  <p:tgtEl>
                                    <p:spTgt spid="68"/>
                                  </p:tgtEl>
                                </p:cBhvr>
                              </p:animEffect>
                            </p:childTnLst>
                          </p:cTn>
                        </p:par>
                        <p:par>
                          <p:cTn id="74" presetID="10" presetClass="entr" fill="hold" grpId="0" nodeType="withEffect">
                            <p:stCondLst>
                              <p:cond delay="0"/>
                            </p:stCondLst>
                            <p:childTnLst>
                              <p:set>
                                <p:cBhvr>
                                  <p:cTn id="75" dur="1" fill="hold">
                                    <p:stCondLst>
                                      <p:cond delay="0"/>
                                    </p:stCondLst>
                                  </p:cTn>
                                  <p:tgtEl>
                                    <p:spTgt spid="69"/>
                                  </p:tgtEl>
                                  <p:attrNameLst>
                                    <p:attrName>style.visibility</p:attrName>
                                  </p:attrNameLst>
                                </p:cBhvr>
                                <p:to>
                                  <p:strVal val="visible"/>
                                </p:to>
                              </p:set>
                              <p:animEffect transition="in" filter="fade">
                                <p:cBhvr>
                                  <p:cTn id="76" dur="350"/>
                                  <p:tgtEl>
                                    <p:spTgt spid="69"/>
                                  </p:tgtEl>
                                </p:cBhvr>
                              </p:animEffect>
                            </p:childTnLst>
                          </p:cTn>
                        </p:par>
                      </p:childTnLst>
                    </p:cTn>
                  </p:par>
                </p:childTnLst>
              </p:cTn>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9143771"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18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CHECK</a:t>
            </a:r>
          </a:p>
        </p:txBody>
      </p:sp>
      <p:sp>
        <p:nvSpPr>
          <p:cNvPr id="12" name="TextBox 11"/>
          <p:cNvSpPr txBox="1"/>
          <p:nvPr/>
        </p:nvSpPr>
        <p:spPr>
          <a:xfrm>
            <a:off x="566928" y="822960"/>
            <a:ext cx="10972800" cy="1371600"/>
          </a:xfrm>
          <a:prstGeom prst="rect">
            <a:avLst/>
          </a:prstGeom>
          <a:noFill/>
        </p:spPr>
        <p:txBody>
          <a:bodyPr wrap="square" anchor="t" lIns="0" tIns="0" rIns="0" bIns="0"/>
          <a:lstStyle/>
          <a:p>
            <a:pPr algn="l">
              <a:lnSpc>
                <a:spcPct val="92000"/>
              </a:lnSpc>
              <a:spcBef>
                <a:spcPts val="0"/>
              </a:spcBef>
              <a:spcAft>
                <a:spcPts val="0"/>
              </a:spcAft>
            </a:pPr>
            <a:r>
              <a:rPr sz="2600" b="1" i="0">
                <a:solidFill>
                  <a:srgbClr val="0F1B33"/>
                </a:solidFill>
                <a:latin typeface="Trebuchet MS"/>
              </a:rPr>
              <a:t>What do you say when you want to know if your explanation is clear ?</a:t>
            </a:r>
          </a:p>
        </p:txBody>
      </p:sp>
      <p:sp>
        <p:nvSpPr>
          <p:cNvPr id="13" name="Rounded Rectangle 12"/>
          <p:cNvSpPr/>
          <p:nvPr/>
        </p:nvSpPr>
        <p:spPr>
          <a:xfrm>
            <a:off x="566928" y="2432304"/>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I don’t understand.</a:t>
            </a:r>
          </a:p>
        </p:txBody>
      </p:sp>
      <p:sp>
        <p:nvSpPr>
          <p:cNvPr id="14" name="Oval 13"/>
          <p:cNvSpPr/>
          <p:nvPr/>
        </p:nvSpPr>
        <p:spPr>
          <a:xfrm>
            <a:off x="5367528" y="2697480"/>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5" name="Connector 14"/>
          <p:cNvCxnSpPr/>
          <p:nvPr/>
        </p:nvCxnSpPr>
        <p:spPr>
          <a:xfrm>
            <a:off x="5494264" y="2824216"/>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5494264" y="2824216"/>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99632" y="2432304"/>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Can you explain it?</a:t>
            </a:r>
          </a:p>
        </p:txBody>
      </p:sp>
      <p:sp>
        <p:nvSpPr>
          <p:cNvPr id="23" name="Oval 22"/>
          <p:cNvSpPr/>
          <p:nvPr/>
        </p:nvSpPr>
        <p:spPr>
          <a:xfrm>
            <a:off x="11000232" y="2697480"/>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Connector 23"/>
          <p:cNvCxnSpPr/>
          <p:nvPr/>
        </p:nvCxnSpPr>
        <p:spPr>
          <a:xfrm>
            <a:off x="11126968" y="2824216"/>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126968" y="2824216"/>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66928" y="3566160"/>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How do you…?</a:t>
            </a:r>
          </a:p>
        </p:txBody>
      </p:sp>
      <p:sp>
        <p:nvSpPr>
          <p:cNvPr id="34" name="Oval 33"/>
          <p:cNvSpPr/>
          <p:nvPr/>
        </p:nvSpPr>
        <p:spPr>
          <a:xfrm>
            <a:off x="5367528" y="3831336"/>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Connector 34"/>
          <p:cNvCxnSpPr/>
          <p:nvPr/>
        </p:nvCxnSpPr>
        <p:spPr>
          <a:xfrm>
            <a:off x="5494264" y="3958072"/>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5494264" y="3958072"/>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199632" y="3566160"/>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What does that mean?</a:t>
            </a:r>
          </a:p>
        </p:txBody>
      </p:sp>
      <p:sp>
        <p:nvSpPr>
          <p:cNvPr id="45" name="Oval 44"/>
          <p:cNvSpPr/>
          <p:nvPr/>
        </p:nvSpPr>
        <p:spPr>
          <a:xfrm>
            <a:off x="11000232" y="3831336"/>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Connector 45"/>
          <p:cNvCxnSpPr/>
          <p:nvPr/>
        </p:nvCxnSpPr>
        <p:spPr>
          <a:xfrm>
            <a:off x="11126968" y="3958072"/>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1126968" y="3958072"/>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566928" y="4700016"/>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Does that make sense?</a:t>
            </a:r>
          </a:p>
        </p:txBody>
      </p:sp>
      <p:sp>
        <p:nvSpPr>
          <p:cNvPr id="56" name="Oval 55"/>
          <p:cNvSpPr/>
          <p:nvPr/>
        </p:nvSpPr>
        <p:spPr>
          <a:xfrm>
            <a:off x="5367528" y="4965192"/>
            <a:ext cx="384048" cy="384048"/>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7" name="Connector 56"/>
          <p:cNvCxnSpPr/>
          <p:nvPr/>
        </p:nvCxnSpPr>
        <p:spPr>
          <a:xfrm>
            <a:off x="5475061" y="5161056"/>
            <a:ext cx="65289" cy="6912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540350" y="5080406"/>
            <a:ext cx="111374" cy="149779"/>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199632" y="4700016"/>
            <a:ext cx="5449824" cy="914400"/>
          </a:xfrm>
          <a:prstGeom prst="roundRect">
            <a:avLst>
              <a:gd name="adj" fmla="val 18000"/>
            </a:avLst>
          </a:prstGeom>
          <a:solidFill>
            <a:srgbClr val="FFFFFF"/>
          </a:solidFill>
          <a:ln w="1143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10896" tIns="54864" rIns="914400" bIns="54864"/>
          <a:lstStyle/>
          <a:p>
            <a:pPr algn="l">
              <a:lnSpc>
                <a:spcPct val="95000"/>
              </a:lnSpc>
              <a:spcBef>
                <a:spcPts val="0"/>
              </a:spcBef>
              <a:spcAft>
                <a:spcPts val="0"/>
              </a:spcAft>
            </a:pPr>
            <a:r>
              <a:rPr sz="1900" b="0" i="0">
                <a:solidFill>
                  <a:srgbClr val="0F1B33"/>
                </a:solidFill>
                <a:latin typeface="Calibri"/>
              </a:rPr>
              <a:t>I get it.</a:t>
            </a:r>
          </a:p>
        </p:txBody>
      </p:sp>
      <p:sp>
        <p:nvSpPr>
          <p:cNvPr id="67" name="Oval 66"/>
          <p:cNvSpPr/>
          <p:nvPr/>
        </p:nvSpPr>
        <p:spPr>
          <a:xfrm>
            <a:off x="11000232" y="4965192"/>
            <a:ext cx="384048" cy="384048"/>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68" name="Connector 67"/>
          <p:cNvCxnSpPr/>
          <p:nvPr/>
        </p:nvCxnSpPr>
        <p:spPr>
          <a:xfrm>
            <a:off x="11126968" y="5091928"/>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1126968" y="5091928"/>
            <a:ext cx="130576" cy="130576"/>
          </a:xfrm>
          <a:prstGeom prst="line">
            <a:avLst/>
          </a:prstGeom>
          <a:ln w="26670">
            <a:solidFill>
              <a:srgbClr val="FFFFFF"/>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66928" y="5852160"/>
            <a:ext cx="1069848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a phrase: only one of these checks that you were clear.</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3"/>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50"/>
                                  <p:tgtEl>
                                    <p:spTgt spid="14"/>
                                  </p:tgtEl>
                                </p:cBhvr>
                              </p:animEffect>
                            </p:childTnLst>
                          </p:cTn>
                        </p:par>
                        <p:par>
                          <p:cTn id="16" presetID="10" presetClass="entr"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350"/>
                                  <p:tgtEl>
                                    <p:spTgt spid="15"/>
                                  </p:tgtEl>
                                </p:cBhvr>
                              </p:animEffect>
                            </p:childTnLst>
                          </p:cTn>
                        </p:par>
                        <p:par>
                          <p:cTn id="19" presetID="10" presetClass="entr"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50"/>
                                  <p:tgtEl>
                                    <p:spTgt spid="16"/>
                                  </p:tgtEl>
                                </p:cBhvr>
                              </p:animEffect>
                            </p:childTnLst>
                          </p:cTn>
                        </p:par>
                      </p:childTnLst>
                    </p:cTn>
                  </p:par>
                </p:childTnLst>
              </p:cTn>
            </p:seq>
            <p:seq concurrent="1" nextAc="seek">
              <p:cTn id="22" restart="whenNotActive" fill="hold" evtFilter="cancelBubble" nodeType="interactiveSeq">
                <p:stCondLst>
                  <p:cond evt="onClick" delay="0">
                    <p:tgtEl>
                      <p:spTgt spid="22"/>
                    </p:tgtEl>
                  </p:cond>
                </p:stCondLst>
                <p:endSync evt="end" delay="0">
                  <p:rtn val="all"/>
                </p:endSync>
                <p:childTnLst>
                  <p:par>
                    <p:cTn id="23" fill="hold">
                      <p:stCondLst>
                        <p:cond delay="0"/>
                      </p:stCondLst>
                      <p:childTnLst>
                        <p:par>
                          <p:cTn id="24" presetID="10" presetClass="entr"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350"/>
                                  <p:tgtEl>
                                    <p:spTgt spid="23"/>
                                  </p:tgtEl>
                                </p:cBhvr>
                              </p:animEffect>
                            </p:childTnLst>
                          </p:cTn>
                        </p:par>
                        <p:par>
                          <p:cTn id="27" presetID="10" presetClass="entr"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350"/>
                                  <p:tgtEl>
                                    <p:spTgt spid="24"/>
                                  </p:tgtEl>
                                </p:cBhvr>
                              </p:animEffect>
                            </p:childTnLst>
                          </p:cTn>
                        </p:par>
                        <p:par>
                          <p:cTn id="30" presetID="10" presetClass="entr"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350"/>
                                  <p:tgtEl>
                                    <p:spTgt spid="25"/>
                                  </p:tgtEl>
                                </p:cBhvr>
                              </p:animEffect>
                            </p:childTnLst>
                          </p:cTn>
                        </p:par>
                      </p:childTnLst>
                    </p:cTn>
                  </p:par>
                </p:childTnLst>
              </p:cTn>
            </p:seq>
            <p:seq concurrent="1" nextAc="seek">
              <p:cTn id="33" restart="whenNotActive" fill="hold" evtFilter="cancelBubble" nodeType="interactiveSeq">
                <p:stCondLst>
                  <p:cond evt="onClick" delay="0">
                    <p:tgtEl>
                      <p:spTgt spid="33"/>
                    </p:tgtEl>
                  </p:cond>
                </p:stCondLst>
                <p:endSync evt="end" delay="0">
                  <p:rtn val="all"/>
                </p:endSync>
                <p:childTnLst>
                  <p:par>
                    <p:cTn id="34" fill="hold">
                      <p:stCondLst>
                        <p:cond delay="0"/>
                      </p:stCondLst>
                      <p:childTnLst>
                        <p:par>
                          <p:cTn id="35" presetID="10" presetClass="entr"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350"/>
                                  <p:tgtEl>
                                    <p:spTgt spid="34"/>
                                  </p:tgtEl>
                                </p:cBhvr>
                              </p:animEffect>
                            </p:childTnLst>
                          </p:cTn>
                        </p:par>
                        <p:par>
                          <p:cTn id="38" presetID="10" presetClass="entr"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350"/>
                                  <p:tgtEl>
                                    <p:spTgt spid="35"/>
                                  </p:tgtEl>
                                </p:cBhvr>
                              </p:animEffect>
                            </p:childTnLst>
                          </p:cTn>
                        </p:par>
                        <p:par>
                          <p:cTn id="41" presetID="10" presetClass="entr"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350"/>
                                  <p:tgtEl>
                                    <p:spTgt spid="36"/>
                                  </p:tgtEl>
                                </p:cBhvr>
                              </p:animEffect>
                            </p:childTnLst>
                          </p:cTn>
                        </p:par>
                      </p:childTnLst>
                    </p:cTn>
                  </p:par>
                </p:childTnLst>
              </p:cTn>
            </p:seq>
            <p:seq concurrent="1" nextAc="seek">
              <p:cTn id="44" restart="whenNotActive" fill="hold" evtFilter="cancelBubble" nodeType="interactiveSeq">
                <p:stCondLst>
                  <p:cond evt="onClick" delay="0">
                    <p:tgtEl>
                      <p:spTgt spid="44"/>
                    </p:tgtEl>
                  </p:cond>
                </p:stCondLst>
                <p:endSync evt="end" delay="0">
                  <p:rtn val="all"/>
                </p:endSync>
                <p:childTnLst>
                  <p:par>
                    <p:cTn id="45" fill="hold">
                      <p:stCondLst>
                        <p:cond delay="0"/>
                      </p:stCondLst>
                      <p:childTnLst>
                        <p:par>
                          <p:cTn id="46" presetID="10" presetClass="entr"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350"/>
                                  <p:tgtEl>
                                    <p:spTgt spid="45"/>
                                  </p:tgtEl>
                                </p:cBhvr>
                              </p:animEffect>
                            </p:childTnLst>
                          </p:cTn>
                        </p:par>
                        <p:par>
                          <p:cTn id="49" presetID="10" presetClass="entr"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350"/>
                                  <p:tgtEl>
                                    <p:spTgt spid="46"/>
                                  </p:tgtEl>
                                </p:cBhvr>
                              </p:animEffect>
                            </p:childTnLst>
                          </p:cTn>
                        </p:par>
                        <p:par>
                          <p:cTn id="52" presetID="10" presetClass="entr"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350"/>
                                  <p:tgtEl>
                                    <p:spTgt spid="47"/>
                                  </p:tgtEl>
                                </p:cBhvr>
                              </p:animEffect>
                            </p:childTnLst>
                          </p:cTn>
                        </p:par>
                      </p:childTnLst>
                    </p:cTn>
                  </p:par>
                </p:childTnLst>
              </p:cTn>
            </p:seq>
            <p:seq concurrent="1" nextAc="seek">
              <p:cTn id="55" restart="whenNotActive" fill="hold" evtFilter="cancelBubble" nodeType="interactiveSeq">
                <p:stCondLst>
                  <p:cond evt="onClick" delay="0">
                    <p:tgtEl>
                      <p:spTgt spid="55"/>
                    </p:tgtEl>
                  </p:cond>
                </p:stCondLst>
                <p:endSync evt="end" delay="0">
                  <p:rtn val="all"/>
                </p:endSync>
                <p:childTnLst>
                  <p:par>
                    <p:cTn id="56" fill="hold">
                      <p:stCondLst>
                        <p:cond delay="0"/>
                      </p:stCondLst>
                      <p:childTnLst>
                        <p:par>
                          <p:cTn id="57" presetID="10" presetClass="entr" fill="hold" grpId="0"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350"/>
                                  <p:tgtEl>
                                    <p:spTgt spid="56"/>
                                  </p:tgtEl>
                                </p:cBhvr>
                              </p:animEffect>
                            </p:childTnLst>
                          </p:cTn>
                        </p:par>
                        <p:par>
                          <p:cTn id="60" presetID="10" presetClass="entr" fill="hold" grpId="0" nodeType="with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fade">
                                <p:cBhvr>
                                  <p:cTn id="62" dur="350"/>
                                  <p:tgtEl>
                                    <p:spTgt spid="57"/>
                                  </p:tgtEl>
                                </p:cBhvr>
                              </p:animEffect>
                            </p:childTnLst>
                          </p:cTn>
                        </p:par>
                        <p:par>
                          <p:cTn id="63" presetID="10" presetClass="entr" fill="hold" grpId="0" nodeType="with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fade">
                                <p:cBhvr>
                                  <p:cTn id="65" dur="350"/>
                                  <p:tgtEl>
                                    <p:spTgt spid="58"/>
                                  </p:tgtEl>
                                </p:cBhvr>
                              </p:animEffect>
                            </p:childTnLst>
                          </p:cTn>
                        </p:par>
                      </p:childTnLst>
                    </p:cTn>
                  </p:par>
                </p:childTnLst>
              </p:cTn>
            </p:seq>
            <p:seq concurrent="1" nextAc="seek">
              <p:cTn id="66" restart="whenNotActive" fill="hold" evtFilter="cancelBubble" nodeType="interactiveSeq">
                <p:stCondLst>
                  <p:cond evt="onClick" delay="0">
                    <p:tgtEl>
                      <p:spTgt spid="66"/>
                    </p:tgtEl>
                  </p:cond>
                </p:stCondLst>
                <p:endSync evt="end" delay="0">
                  <p:rtn val="all"/>
                </p:endSync>
                <p:childTnLst>
                  <p:par>
                    <p:cTn id="67" fill="hold">
                      <p:stCondLst>
                        <p:cond delay="0"/>
                      </p:stCondLst>
                      <p:childTnLst>
                        <p:par>
                          <p:cTn id="68" presetID="10" presetClass="entr" fill="hold" grpId="0" nodeType="click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350"/>
                                  <p:tgtEl>
                                    <p:spTgt spid="67"/>
                                  </p:tgtEl>
                                </p:cBhvr>
                              </p:animEffect>
                            </p:childTnLst>
                          </p:cTn>
                        </p:par>
                        <p:par>
                          <p:cTn id="71" presetID="10" presetClass="entr" fill="hold" grpId="0" nodeType="with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350"/>
                                  <p:tgtEl>
                                    <p:spTgt spid="68"/>
                                  </p:tgtEl>
                                </p:cBhvr>
                              </p:animEffect>
                            </p:childTnLst>
                          </p:cTn>
                        </p:par>
                        <p:par>
                          <p:cTn id="74" presetID="10" presetClass="entr" fill="hold" grpId="0" nodeType="withEffect">
                            <p:stCondLst>
                              <p:cond delay="0"/>
                            </p:stCondLst>
                            <p:childTnLst>
                              <p:set>
                                <p:cBhvr>
                                  <p:cTn id="75" dur="1" fill="hold">
                                    <p:stCondLst>
                                      <p:cond delay="0"/>
                                    </p:stCondLst>
                                  </p:cTn>
                                  <p:tgtEl>
                                    <p:spTgt spid="69"/>
                                  </p:tgtEl>
                                  <p:attrNameLst>
                                    <p:attrName>style.visibility</p:attrName>
                                  </p:attrNameLst>
                                </p:cBhvr>
                                <p:to>
                                  <p:strVal val="visible"/>
                                </p:to>
                              </p:set>
                              <p:animEffect transition="in" filter="fade">
                                <p:cBhvr>
                                  <p:cTn id="76" dur="350"/>
                                  <p:tgtEl>
                                    <p:spTgt spid="69"/>
                                  </p:tgtEl>
                                </p:cBhvr>
                              </p:animEffect>
                            </p:childTnLst>
                          </p:cTn>
                        </p:par>
                      </p:childTnLst>
                    </p:cTn>
                  </p:par>
                </p:childTnLst>
              </p:cTn>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bg1"/>
          <p:cNvSpPr/>
          <p:nvPr/>
        </p:nvSpPr>
        <p:spPr>
          <a:xfrm>
            <a:off x="7680960" y="-1828800"/>
            <a:ext cx="6583680" cy="6583680"/>
          </a:xfrm>
          <a:prstGeom prst="ellipse">
            <a:avLst/>
          </a:prstGeom>
          <a:solidFill>
            <a:srgbClr val="14284A">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645920" y="4389120"/>
            <a:ext cx="4023360" cy="4023360"/>
          </a:xfrm>
          <a:prstGeom prst="ellipse">
            <a:avLst/>
          </a:prstGeom>
          <a:solidFill>
            <a:srgbClr val="14284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2A447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9651759" cy="50292"/>
          </a:xfrm>
          <a:prstGeom prst="rect">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93A9CC"/>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93A9CC"/>
                </a:solidFill>
                <a:latin typeface="Calibri"/>
              </a:rPr>
              <a:t>19 / 24</a:t>
            </a:r>
          </a:p>
        </p:txBody>
      </p:sp>
      <p:sp>
        <p:nvSpPr>
          <p:cNvPr id="9" name="Rounded Rectangle 8"/>
          <p:cNvSpPr/>
          <p:nvPr/>
        </p:nvSpPr>
        <p:spPr>
          <a:xfrm>
            <a:off x="8338479" y="118872"/>
            <a:ext cx="3432592" cy="43891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8FB0FF"/>
                </a:solidFill>
                <a:latin typeface="Calibri"/>
              </a:rPr>
              <a:t>SPEAKING</a:t>
            </a:r>
          </a:p>
        </p:txBody>
      </p:sp>
      <p:sp>
        <p:nvSpPr>
          <p:cNvPr id="12" name="!!bubble"/>
          <p:cNvSpPr/>
          <p:nvPr/>
        </p:nvSpPr>
        <p:spPr>
          <a:xfrm>
            <a:off x="9704527" y="6181344"/>
            <a:ext cx="365760" cy="270662"/>
          </a:xfrm>
          <a:prstGeom prst="roundRect">
            <a:avLst>
              <a:gd name="adj" fmla="val 35135"/>
            </a:avLst>
          </a:prstGeom>
          <a:solidFill>
            <a:srgbClr val="1B3A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dot1"/>
          <p:cNvSpPr/>
          <p:nvPr/>
        </p:nvSpPr>
        <p:spPr>
          <a:xfrm>
            <a:off x="9792310" y="6289609"/>
            <a:ext cx="45720" cy="45720"/>
          </a:xfrm>
          <a:prstGeom prst="ellipse">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dot2"/>
          <p:cNvSpPr/>
          <p:nvPr/>
        </p:nvSpPr>
        <p:spPr>
          <a:xfrm>
            <a:off x="9859975" y="6289609"/>
            <a:ext cx="45720" cy="45720"/>
          </a:xfrm>
          <a:prstGeom prst="ellipse">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dot3"/>
          <p:cNvSpPr/>
          <p:nvPr/>
        </p:nvSpPr>
        <p:spPr>
          <a:xfrm>
            <a:off x="9927641" y="6289609"/>
            <a:ext cx="45720" cy="45720"/>
          </a:xfrm>
          <a:prstGeom prst="ellipse">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566928" y="658368"/>
            <a:ext cx="8229600" cy="640080"/>
          </a:xfrm>
          <a:prstGeom prst="rect">
            <a:avLst/>
          </a:prstGeom>
          <a:noFill/>
        </p:spPr>
        <p:txBody>
          <a:bodyPr wrap="square" anchor="t" lIns="0" tIns="0" rIns="0" bIns="0"/>
          <a:lstStyle/>
          <a:p>
            <a:pPr algn="l">
              <a:lnSpc>
                <a:spcPct val="95000"/>
              </a:lnSpc>
              <a:spcBef>
                <a:spcPts val="0"/>
              </a:spcBef>
              <a:spcAft>
                <a:spcPts val="0"/>
              </a:spcAft>
            </a:pPr>
            <a:r>
              <a:rPr sz="3600" b="1" i="0">
                <a:solidFill>
                  <a:srgbClr val="FFFFFF"/>
                </a:solidFill>
                <a:latin typeface="Trebuchet MS"/>
              </a:rPr>
              <a:t>Talk Time</a:t>
            </a:r>
          </a:p>
        </p:txBody>
      </p:sp>
      <p:sp>
        <p:nvSpPr>
          <p:cNvPr id="17" name="Rounded Rectangular Callout 16"/>
          <p:cNvSpPr/>
          <p:nvPr/>
        </p:nvSpPr>
        <p:spPr>
          <a:xfrm>
            <a:off x="566928" y="1426464"/>
            <a:ext cx="6446520" cy="1389888"/>
          </a:xfrm>
          <a:prstGeom prst="wedgeRoundRectCallout">
            <a:avLst>
              <a:gd name="adj1" fmla="val 20000"/>
              <a:gd name="adj2" fmla="val 14000"/>
              <a:gd name="adj3" fmla="val -50000"/>
            </a:avLst>
          </a:prstGeom>
          <a:solidFill>
            <a:srgbClr val="14284A"/>
          </a:solidFill>
          <a:ln w="12700">
            <a:solidFill>
              <a:srgbClr val="2A4470"/>
            </a:solidFill>
          </a:ln>
        </p:spPr>
        <p:style>
          <a:lnRef idx="1">
            <a:schemeClr val="accent1"/>
          </a:lnRef>
          <a:fillRef idx="3">
            <a:schemeClr val="accent1"/>
          </a:fillRef>
          <a:effectRef idx="2">
            <a:schemeClr val="accent1"/>
          </a:effectRef>
          <a:fontRef idx="minor">
            <a:schemeClr val="lt1"/>
          </a:fontRef>
        </p:style>
        <p:txBody>
          <a:bodyPr rtlCol="0" anchor="ctr" wrap="square" lIns="310896" tIns="146304" rIns="310896" bIns="109728"/>
          <a:lstStyle/>
          <a:p>
            <a:pPr algn="l">
              <a:lnSpc>
                <a:spcPct val="100000"/>
              </a:lnSpc>
              <a:spcBef>
                <a:spcPts val="0"/>
              </a:spcBef>
              <a:spcAft>
                <a:spcPts val="0"/>
              </a:spcAft>
            </a:pPr>
            <a:r>
              <a:rPr sz="1650" b="0" i="0">
                <a:solidFill>
                  <a:srgbClr val="FFFFFF"/>
                </a:solidFill>
                <a:latin typeface="Calibri"/>
              </a:rPr>
              <a:t>Create conversations using</a:t>
            </a:r>
          </a:p>
          <a:p>
            <a:pPr algn="l">
              <a:lnSpc>
                <a:spcPct val="100000"/>
              </a:lnSpc>
              <a:spcBef>
                <a:spcPts val="0"/>
              </a:spcBef>
              <a:spcAft>
                <a:spcPts val="0"/>
              </a:spcAft>
            </a:pPr>
            <a:r>
              <a:rPr sz="1250" b="0" i="0">
                <a:solidFill>
                  <a:srgbClr val="AFC6E8"/>
                </a:solidFill>
                <a:latin typeface="Calibri"/>
              </a:rPr>
              <a:t>phrases from Real Talk</a:t>
            </a:r>
          </a:p>
          <a:p>
            <a:pPr algn="l">
              <a:lnSpc>
                <a:spcPct val="100000"/>
              </a:lnSpc>
              <a:spcBef>
                <a:spcPts val="0"/>
              </a:spcBef>
              <a:spcAft>
                <a:spcPts val="0"/>
              </a:spcAft>
            </a:pPr>
            <a:r>
              <a:rPr sz="1250" b="0" i="0">
                <a:solidFill>
                  <a:srgbClr val="AFC6E8"/>
                </a:solidFill>
                <a:latin typeface="Calibri"/>
              </a:rPr>
              <a:t>phrases for asking for clarification &amp; confirming</a:t>
            </a:r>
          </a:p>
        </p:txBody>
      </p:sp>
      <p:sp>
        <p:nvSpPr>
          <p:cNvPr id="18" name="Rounded Rectangle 17"/>
          <p:cNvSpPr/>
          <p:nvPr/>
        </p:nvSpPr>
        <p:spPr>
          <a:xfrm>
            <a:off x="7406640" y="1426464"/>
            <a:ext cx="4160520" cy="1883664"/>
          </a:xfrm>
          <a:prstGeom prst="roundRect">
            <a:avLst>
              <a:gd name="adj" fmla="val 7766"/>
            </a:avLst>
          </a:prstGeom>
          <a:solidFill>
            <a:srgbClr val="FFFF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9" name="Picture 18" descr="image25.jpeg"/>
          <p:cNvPicPr>
            <a:picLocks noChangeAspect="1"/>
          </p:cNvPicPr>
          <p:nvPr/>
        </p:nvPicPr>
        <p:blipFill>
          <a:blip r:embed="rId3"/>
          <a:stretch>
            <a:fillRect/>
          </a:stretch>
        </p:blipFill>
        <p:spPr>
          <a:xfrm>
            <a:off x="8188410" y="1481328"/>
            <a:ext cx="2596978" cy="1773935"/>
          </a:xfrm>
          <a:prstGeom prst="rect">
            <a:avLst/>
          </a:prstGeom>
        </p:spPr>
      </p:pic>
      <p:sp>
        <p:nvSpPr>
          <p:cNvPr id="20" name="Rounded Rectangle 19"/>
          <p:cNvSpPr/>
          <p:nvPr/>
        </p:nvSpPr>
        <p:spPr>
          <a:xfrm>
            <a:off x="566928" y="3236976"/>
            <a:ext cx="2596896" cy="2560320"/>
          </a:xfrm>
          <a:prstGeom prst="roundRect">
            <a:avLst>
              <a:gd name="adj" fmla="val 7142"/>
            </a:avLst>
          </a:prstGeom>
          <a:solidFill>
            <a:srgbClr val="14284A"/>
          </a:solidFill>
          <a:ln w="12700">
            <a:solidFill>
              <a:srgbClr val="2A4470"/>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749808" y="3383280"/>
            <a:ext cx="2231136" cy="1115568"/>
          </a:xfrm>
          <a:prstGeom prst="rect">
            <a:avLst/>
          </a:prstGeom>
          <a:noFill/>
        </p:spPr>
        <p:txBody>
          <a:bodyPr wrap="square" anchor="t" lIns="0" tIns="0" rIns="0" bIns="0"/>
          <a:lstStyle/>
          <a:p>
            <a:pPr algn="l">
              <a:lnSpc>
                <a:spcPct val="98000"/>
              </a:lnSpc>
              <a:spcBef>
                <a:spcPts val="0"/>
              </a:spcBef>
              <a:spcAft>
                <a:spcPts val="0"/>
              </a:spcAft>
            </a:pPr>
            <a:r>
              <a:rPr sz="1250" b="1" i="0">
                <a:solidFill>
                  <a:srgbClr val="FFFFFF"/>
                </a:solidFill>
                <a:latin typeface="Calibri"/>
              </a:rPr>
              <a:t>… when you don’t understand</a:t>
            </a:r>
          </a:p>
          <a:p>
            <a:pPr algn="l">
              <a:lnSpc>
                <a:spcPct val="98000"/>
              </a:lnSpc>
              <a:spcBef>
                <a:spcPts val="0"/>
              </a:spcBef>
              <a:spcAft>
                <a:spcPts val="0"/>
              </a:spcAft>
            </a:pPr>
            <a:r>
              <a:rPr sz="1250" b="1" i="0">
                <a:solidFill>
                  <a:srgbClr val="FFFFFF"/>
                </a:solidFill>
                <a:latin typeface="Calibri"/>
              </a:rPr>
              <a:t>something</a:t>
            </a:r>
          </a:p>
        </p:txBody>
      </p:sp>
      <p:sp>
        <p:nvSpPr>
          <p:cNvPr id="22" name="Rounded Rectangle 21"/>
          <p:cNvSpPr/>
          <p:nvPr/>
        </p:nvSpPr>
        <p:spPr>
          <a:xfrm>
            <a:off x="713232" y="4645152"/>
            <a:ext cx="2304288" cy="969264"/>
          </a:xfrm>
          <a:prstGeom prst="roundRect">
            <a:avLst>
              <a:gd name="adj" fmla="val 11320"/>
            </a:avLst>
          </a:prstGeom>
          <a:solidFill>
            <a:srgbClr val="1B3A66"/>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54864"/>
          <a:lstStyle/>
          <a:p>
            <a:pPr algn="l">
              <a:lnSpc>
                <a:spcPct val="94000"/>
              </a:lnSpc>
              <a:spcBef>
                <a:spcPts val="0"/>
              </a:spcBef>
              <a:spcAft>
                <a:spcPts val="0"/>
              </a:spcAft>
            </a:pPr>
            <a:r>
              <a:rPr sz="1200" b="1" i="0">
                <a:solidFill>
                  <a:srgbClr val="C6D6EE"/>
                </a:solidFill>
                <a:latin typeface="Calibri"/>
              </a:rPr>
              <a:t>I don’t understand.</a:t>
            </a:r>
          </a:p>
          <a:p>
            <a:pPr algn="l">
              <a:lnSpc>
                <a:spcPct val="94000"/>
              </a:lnSpc>
              <a:spcBef>
                <a:spcPts val="0"/>
              </a:spcBef>
              <a:spcAft>
                <a:spcPts val="0"/>
              </a:spcAft>
            </a:pPr>
            <a:r>
              <a:rPr sz="1200" b="1" i="0">
                <a:solidFill>
                  <a:srgbClr val="C6D6EE"/>
                </a:solidFill>
                <a:latin typeface="Calibri"/>
              </a:rPr>
              <a:t>Can you explain it?</a:t>
            </a:r>
          </a:p>
        </p:txBody>
      </p:sp>
      <p:sp>
        <p:nvSpPr>
          <p:cNvPr id="23" name="Rounded Rectangle 22"/>
          <p:cNvSpPr/>
          <p:nvPr/>
        </p:nvSpPr>
        <p:spPr>
          <a:xfrm>
            <a:off x="3328416" y="3236976"/>
            <a:ext cx="2596896" cy="2560320"/>
          </a:xfrm>
          <a:prstGeom prst="roundRect">
            <a:avLst>
              <a:gd name="adj" fmla="val 7142"/>
            </a:avLst>
          </a:prstGeom>
          <a:solidFill>
            <a:srgbClr val="14284A"/>
          </a:solidFill>
          <a:ln w="12700">
            <a:solidFill>
              <a:srgbClr val="2A4470"/>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3511296" y="3383280"/>
            <a:ext cx="2231136" cy="1115568"/>
          </a:xfrm>
          <a:prstGeom prst="rect">
            <a:avLst/>
          </a:prstGeom>
          <a:noFill/>
        </p:spPr>
        <p:txBody>
          <a:bodyPr wrap="square" anchor="t" lIns="0" tIns="0" rIns="0" bIns="0"/>
          <a:lstStyle/>
          <a:p>
            <a:pPr algn="l">
              <a:lnSpc>
                <a:spcPct val="98000"/>
              </a:lnSpc>
              <a:spcBef>
                <a:spcPts val="0"/>
              </a:spcBef>
              <a:spcAft>
                <a:spcPts val="0"/>
              </a:spcAft>
            </a:pPr>
            <a:r>
              <a:rPr sz="1250" b="1" i="0">
                <a:solidFill>
                  <a:srgbClr val="FFFFFF"/>
                </a:solidFill>
                <a:latin typeface="Calibri"/>
              </a:rPr>
              <a:t>… when you understand</a:t>
            </a:r>
          </a:p>
          <a:p>
            <a:pPr algn="l">
              <a:lnSpc>
                <a:spcPct val="98000"/>
              </a:lnSpc>
              <a:spcBef>
                <a:spcPts val="0"/>
              </a:spcBef>
              <a:spcAft>
                <a:spcPts val="0"/>
              </a:spcAft>
            </a:pPr>
            <a:r>
              <a:rPr sz="1250" b="1" i="0">
                <a:solidFill>
                  <a:srgbClr val="FFFFFF"/>
                </a:solidFill>
                <a:latin typeface="Calibri"/>
              </a:rPr>
              <a:t>something</a:t>
            </a:r>
          </a:p>
        </p:txBody>
      </p:sp>
      <p:sp>
        <p:nvSpPr>
          <p:cNvPr id="25" name="Rounded Rectangle 24"/>
          <p:cNvSpPr/>
          <p:nvPr/>
        </p:nvSpPr>
        <p:spPr>
          <a:xfrm>
            <a:off x="3474720" y="4645152"/>
            <a:ext cx="2304288" cy="969264"/>
          </a:xfrm>
          <a:prstGeom prst="roundRect">
            <a:avLst>
              <a:gd name="adj" fmla="val 11320"/>
            </a:avLst>
          </a:prstGeom>
          <a:solidFill>
            <a:srgbClr val="1B3A66"/>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54864"/>
          <a:lstStyle/>
          <a:p>
            <a:pPr algn="l">
              <a:lnSpc>
                <a:spcPct val="94000"/>
              </a:lnSpc>
              <a:spcBef>
                <a:spcPts val="0"/>
              </a:spcBef>
              <a:spcAft>
                <a:spcPts val="0"/>
              </a:spcAft>
            </a:pPr>
            <a:r>
              <a:rPr sz="1200" b="1" i="0">
                <a:solidFill>
                  <a:srgbClr val="C6D6EE"/>
                </a:solidFill>
                <a:latin typeface="Calibri"/>
              </a:rPr>
              <a:t>I get it.</a:t>
            </a:r>
          </a:p>
          <a:p>
            <a:pPr algn="l">
              <a:lnSpc>
                <a:spcPct val="94000"/>
              </a:lnSpc>
              <a:spcBef>
                <a:spcPts val="0"/>
              </a:spcBef>
              <a:spcAft>
                <a:spcPts val="0"/>
              </a:spcAft>
            </a:pPr>
            <a:r>
              <a:rPr sz="1200" b="1" i="0">
                <a:solidFill>
                  <a:srgbClr val="C6D6EE"/>
                </a:solidFill>
                <a:latin typeface="Calibri"/>
              </a:rPr>
              <a:t>Ahaa, I get it now</a:t>
            </a:r>
          </a:p>
        </p:txBody>
      </p:sp>
      <p:sp>
        <p:nvSpPr>
          <p:cNvPr id="26" name="Rounded Rectangle 25"/>
          <p:cNvSpPr/>
          <p:nvPr/>
        </p:nvSpPr>
        <p:spPr>
          <a:xfrm>
            <a:off x="6089904" y="3236976"/>
            <a:ext cx="2596896" cy="2560320"/>
          </a:xfrm>
          <a:prstGeom prst="roundRect">
            <a:avLst>
              <a:gd name="adj" fmla="val 7142"/>
            </a:avLst>
          </a:prstGeom>
          <a:solidFill>
            <a:srgbClr val="14284A"/>
          </a:solidFill>
          <a:ln w="12700">
            <a:solidFill>
              <a:srgbClr val="2A4470"/>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TextBox 26"/>
          <p:cNvSpPr txBox="1"/>
          <p:nvPr/>
        </p:nvSpPr>
        <p:spPr>
          <a:xfrm>
            <a:off x="6272784" y="3383280"/>
            <a:ext cx="2231136" cy="1115568"/>
          </a:xfrm>
          <a:prstGeom prst="rect">
            <a:avLst/>
          </a:prstGeom>
          <a:noFill/>
        </p:spPr>
        <p:txBody>
          <a:bodyPr wrap="square" anchor="t" lIns="0" tIns="0" rIns="0" bIns="0"/>
          <a:lstStyle/>
          <a:p>
            <a:pPr algn="l">
              <a:lnSpc>
                <a:spcPct val="98000"/>
              </a:lnSpc>
              <a:spcBef>
                <a:spcPts val="0"/>
              </a:spcBef>
              <a:spcAft>
                <a:spcPts val="0"/>
              </a:spcAft>
            </a:pPr>
            <a:r>
              <a:rPr sz="1250" b="1" i="0">
                <a:solidFill>
                  <a:srgbClr val="FFFFFF"/>
                </a:solidFill>
                <a:latin typeface="Calibri"/>
              </a:rPr>
              <a:t>… when you check your</a:t>
            </a:r>
          </a:p>
          <a:p>
            <a:pPr algn="l">
              <a:lnSpc>
                <a:spcPct val="98000"/>
              </a:lnSpc>
              <a:spcBef>
                <a:spcPts val="0"/>
              </a:spcBef>
              <a:spcAft>
                <a:spcPts val="0"/>
              </a:spcAft>
            </a:pPr>
            <a:r>
              <a:rPr sz="1250" b="1" i="0">
                <a:solidFill>
                  <a:srgbClr val="FFFFFF"/>
                </a:solidFill>
                <a:latin typeface="Calibri"/>
              </a:rPr>
              <a:t>explanation is clear</a:t>
            </a:r>
          </a:p>
        </p:txBody>
      </p:sp>
      <p:sp>
        <p:nvSpPr>
          <p:cNvPr id="28" name="Rounded Rectangle 27"/>
          <p:cNvSpPr/>
          <p:nvPr/>
        </p:nvSpPr>
        <p:spPr>
          <a:xfrm>
            <a:off x="6236208" y="4645152"/>
            <a:ext cx="2304288" cy="969264"/>
          </a:xfrm>
          <a:prstGeom prst="roundRect">
            <a:avLst>
              <a:gd name="adj" fmla="val 11320"/>
            </a:avLst>
          </a:prstGeom>
          <a:solidFill>
            <a:srgbClr val="1B3A66"/>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54864"/>
          <a:lstStyle/>
          <a:p>
            <a:pPr algn="l">
              <a:lnSpc>
                <a:spcPct val="94000"/>
              </a:lnSpc>
              <a:spcBef>
                <a:spcPts val="0"/>
              </a:spcBef>
              <a:spcAft>
                <a:spcPts val="0"/>
              </a:spcAft>
            </a:pPr>
            <a:r>
              <a:rPr sz="1200" b="1" i="0">
                <a:solidFill>
                  <a:srgbClr val="C6D6EE"/>
                </a:solidFill>
                <a:latin typeface="Calibri"/>
              </a:rPr>
              <a:t>Does that make sense?</a:t>
            </a:r>
          </a:p>
        </p:txBody>
      </p:sp>
      <p:sp>
        <p:nvSpPr>
          <p:cNvPr id="29" name="Rounded Rectangle 28"/>
          <p:cNvSpPr/>
          <p:nvPr/>
        </p:nvSpPr>
        <p:spPr>
          <a:xfrm>
            <a:off x="8851392" y="3236976"/>
            <a:ext cx="2596896" cy="2560320"/>
          </a:xfrm>
          <a:prstGeom prst="roundRect">
            <a:avLst>
              <a:gd name="adj" fmla="val 7142"/>
            </a:avLst>
          </a:prstGeom>
          <a:solidFill>
            <a:srgbClr val="14284A"/>
          </a:solidFill>
          <a:ln w="12700">
            <a:solidFill>
              <a:srgbClr val="2A4470"/>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TextBox 29"/>
          <p:cNvSpPr txBox="1"/>
          <p:nvPr/>
        </p:nvSpPr>
        <p:spPr>
          <a:xfrm>
            <a:off x="9034272" y="3383280"/>
            <a:ext cx="2231136" cy="1115568"/>
          </a:xfrm>
          <a:prstGeom prst="rect">
            <a:avLst/>
          </a:prstGeom>
          <a:noFill/>
        </p:spPr>
        <p:txBody>
          <a:bodyPr wrap="square" anchor="t" lIns="0" tIns="0" rIns="0" bIns="0"/>
          <a:lstStyle/>
          <a:p>
            <a:pPr algn="l">
              <a:lnSpc>
                <a:spcPct val="98000"/>
              </a:lnSpc>
              <a:spcBef>
                <a:spcPts val="0"/>
              </a:spcBef>
              <a:spcAft>
                <a:spcPts val="0"/>
              </a:spcAft>
            </a:pPr>
            <a:r>
              <a:rPr sz="1250" b="1" i="0">
                <a:solidFill>
                  <a:srgbClr val="FFFFFF"/>
                </a:solidFill>
                <a:latin typeface="Calibri"/>
              </a:rPr>
              <a:t>Use a Real Talk phrase</a:t>
            </a:r>
          </a:p>
        </p:txBody>
      </p:sp>
      <p:sp>
        <p:nvSpPr>
          <p:cNvPr id="31" name="Rounded Rectangle 30"/>
          <p:cNvSpPr/>
          <p:nvPr/>
        </p:nvSpPr>
        <p:spPr>
          <a:xfrm>
            <a:off x="8997696" y="4645152"/>
            <a:ext cx="2304288" cy="969264"/>
          </a:xfrm>
          <a:prstGeom prst="roundRect">
            <a:avLst>
              <a:gd name="adj" fmla="val 11320"/>
            </a:avLst>
          </a:prstGeom>
          <a:solidFill>
            <a:srgbClr val="1B3A66"/>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54864"/>
          <a:lstStyle/>
          <a:p>
            <a:pPr algn="l">
              <a:lnSpc>
                <a:spcPct val="94000"/>
              </a:lnSpc>
              <a:spcBef>
                <a:spcPts val="0"/>
              </a:spcBef>
              <a:spcAft>
                <a:spcPts val="0"/>
              </a:spcAft>
            </a:pPr>
            <a:r>
              <a:rPr sz="1200" b="1" i="0">
                <a:solidFill>
                  <a:srgbClr val="C6D6EE"/>
                </a:solidFill>
                <a:latin typeface="Calibri"/>
              </a:rPr>
              <a:t>How on earth?</a:t>
            </a:r>
          </a:p>
          <a:p>
            <a:pPr algn="l">
              <a:lnSpc>
                <a:spcPct val="94000"/>
              </a:lnSpc>
              <a:spcBef>
                <a:spcPts val="0"/>
              </a:spcBef>
              <a:spcAft>
                <a:spcPts val="0"/>
              </a:spcAft>
            </a:pPr>
            <a:r>
              <a:rPr sz="1200" b="1" i="0">
                <a:solidFill>
                  <a:srgbClr val="C6D6EE"/>
                </a:solidFill>
                <a:latin typeface="Calibri"/>
              </a:rPr>
              <a:t>hold on / hang out</a:t>
            </a:r>
          </a:p>
        </p:txBody>
      </p:sp>
      <p:sp>
        <p:nvSpPr>
          <p:cNvPr id="32" name="TextBox 31"/>
          <p:cNvSpPr txBox="1"/>
          <p:nvPr/>
        </p:nvSpPr>
        <p:spPr>
          <a:xfrm>
            <a:off x="566928" y="5797296"/>
            <a:ext cx="10607040" cy="365760"/>
          </a:xfrm>
          <a:prstGeom prst="rect">
            <a:avLst/>
          </a:prstGeom>
          <a:noFill/>
        </p:spPr>
        <p:txBody>
          <a:bodyPr wrap="square" anchor="t" lIns="0" tIns="0" rIns="0" bIns="0"/>
          <a:lstStyle/>
          <a:p>
            <a:pPr algn="l">
              <a:lnSpc>
                <a:spcPct val="95000"/>
              </a:lnSpc>
              <a:spcBef>
                <a:spcPts val="0"/>
              </a:spcBef>
              <a:spcAft>
                <a:spcPts val="0"/>
              </a:spcAft>
            </a:pPr>
            <a:r>
              <a:rPr sz="1200" b="0" i="0">
                <a:solidFill>
                  <a:srgbClr val="A9BCD9"/>
                </a:solidFill>
                <a:latin typeface="Calibri"/>
              </a:rPr>
              <a:t>Pick a card, then talk for one minute with your partner.</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20"/>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350"/>
                                  <p:tgtEl>
                                    <p:spTgt spid="22"/>
                                  </p:tgtEl>
                                </p:cBhvr>
                              </p:animEffect>
                            </p:childTnLst>
                          </p:cTn>
                        </p:par>
                      </p:childTnLst>
                    </p:cTn>
                  </p:par>
                </p:childTnLst>
              </p:cTn>
            </p:seq>
            <p:seq concurrent="1" nextAc="seek">
              <p:cTn id="16" restart="whenNotActive" fill="hold" evtFilter="cancelBubble" nodeType="interactiveSeq">
                <p:stCondLst>
                  <p:cond evt="onClick" delay="0">
                    <p:tgtEl>
                      <p:spTgt spid="23"/>
                    </p:tgtEl>
                  </p:cond>
                </p:stCondLst>
                <p:endSync evt="end" delay="0">
                  <p:rtn val="all"/>
                </p:endSync>
                <p:childTnLst>
                  <p:par>
                    <p:cTn id="17" fill="hold">
                      <p:stCondLst>
                        <p:cond delay="0"/>
                      </p:stCondLst>
                      <p:childTnLst>
                        <p:par>
                          <p:cTn id="18" presetID="10" presetClass="entr"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350"/>
                                  <p:tgtEl>
                                    <p:spTgt spid="25"/>
                                  </p:tgtEl>
                                </p:cBhvr>
                              </p:animEffect>
                            </p:childTnLst>
                          </p:cTn>
                        </p:par>
                      </p:childTnLst>
                    </p:cTn>
                  </p:par>
                </p:childTnLst>
              </p:cTn>
            </p:seq>
            <p:seq concurrent="1" nextAc="seek">
              <p:cTn id="21" restart="whenNotActive" fill="hold" evtFilter="cancelBubble" nodeType="interactiveSeq">
                <p:stCondLst>
                  <p:cond evt="onClick" delay="0">
                    <p:tgtEl>
                      <p:spTgt spid="26"/>
                    </p:tgtEl>
                  </p:cond>
                </p:stCondLst>
                <p:endSync evt="end" delay="0">
                  <p:rtn val="all"/>
                </p:endSync>
                <p:childTnLst>
                  <p:par>
                    <p:cTn id="22" fill="hold">
                      <p:stCondLst>
                        <p:cond delay="0"/>
                      </p:stCondLst>
                      <p:childTnLst>
                        <p:par>
                          <p:cTn id="23" presetID="10" presetClass="entr"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350"/>
                                  <p:tgtEl>
                                    <p:spTgt spid="28"/>
                                  </p:tgtEl>
                                </p:cBhvr>
                              </p:animEffect>
                            </p:childTnLst>
                          </p:cTn>
                        </p:par>
                      </p:childTnLst>
                    </p:cTn>
                  </p:par>
                </p:childTnLst>
              </p:cTn>
            </p:seq>
            <p:seq concurrent="1" nextAc="seek">
              <p:cTn id="26" restart="whenNotActive" fill="hold" evtFilter="cancelBubble" nodeType="interactiveSeq">
                <p:stCondLst>
                  <p:cond evt="onClick" delay="0">
                    <p:tgtEl>
                      <p:spTgt spid="29"/>
                    </p:tgtEl>
                  </p:cond>
                </p:stCondLst>
                <p:endSync evt="end" delay="0">
                  <p:rtn val="all"/>
                </p:endSync>
                <p:childTnLst>
                  <p:par>
                    <p:cTn id="27" fill="hold">
                      <p:stCondLst>
                        <p:cond delay="0"/>
                      </p:stCondLst>
                      <p:childTnLst>
                        <p:par>
                          <p:cTn id="28" presetID="10" presetClass="entr" fill="hold" grpId="0" nodeType="click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350"/>
                                  <p:tgtEl>
                                    <p:spTgt spid="31"/>
                                  </p:tgtEl>
                                </p:cBhvr>
                              </p:animEffect>
                            </p:childTnLst>
                          </p:cTn>
                        </p:par>
                      </p:childTnLst>
                    </p:cTn>
                  </p:par>
                </p:childTnLst>
              </p:cTn>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10159746"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20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PRACTICE</a:t>
            </a:r>
          </a:p>
        </p:txBody>
      </p:sp>
      <p:sp>
        <p:nvSpPr>
          <p:cNvPr id="12" name="TextBox 11"/>
          <p:cNvSpPr txBox="1"/>
          <p:nvPr/>
        </p:nvSpPr>
        <p:spPr>
          <a:xfrm>
            <a:off x="566928" y="859536"/>
            <a:ext cx="8595360" cy="1371600"/>
          </a:xfrm>
          <a:prstGeom prst="rect">
            <a:avLst/>
          </a:prstGeom>
          <a:noFill/>
        </p:spPr>
        <p:txBody>
          <a:bodyPr wrap="square" anchor="t" lIns="0" tIns="0" rIns="0" bIns="0"/>
          <a:lstStyle/>
          <a:p>
            <a:pPr algn="l">
              <a:lnSpc>
                <a:spcPct val="92000"/>
              </a:lnSpc>
              <a:spcBef>
                <a:spcPts val="0"/>
              </a:spcBef>
              <a:spcAft>
                <a:spcPts val="0"/>
              </a:spcAft>
            </a:pPr>
            <a:r>
              <a:rPr sz="2800" b="1" i="0">
                <a:solidFill>
                  <a:srgbClr val="0F1B33"/>
                </a:solidFill>
                <a:latin typeface="Trebuchet MS"/>
              </a:rPr>
              <a:t>Choose the suitable phrase</a:t>
            </a:r>
          </a:p>
        </p:txBody>
      </p:sp>
      <p:sp>
        <p:nvSpPr>
          <p:cNvPr id="13" name="Rounded Rectangular Callout 12"/>
          <p:cNvSpPr/>
          <p:nvPr/>
        </p:nvSpPr>
        <p:spPr>
          <a:xfrm>
            <a:off x="585216" y="1481328"/>
            <a:ext cx="5532120" cy="841248"/>
          </a:xfrm>
          <a:prstGeom prst="wedgeRoundRectCallout">
            <a:avLst>
              <a:gd name="adj1" fmla="val 22000"/>
              <a:gd name="adj2" fmla="val 30000"/>
              <a:gd name="adj3" fmla="val -42000"/>
            </a:avLst>
          </a:prstGeom>
          <a:solidFill>
            <a:srgbClr val="E8EFFF"/>
          </a:solidFill>
          <a:ln w="13970">
            <a:solidFill>
              <a:srgbClr val="C3D4FF"/>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475488" bIns="146304"/>
          <a:lstStyle/>
          <a:p>
            <a:pPr algn="l">
              <a:lnSpc>
                <a:spcPct val="95000"/>
              </a:lnSpc>
              <a:spcBef>
                <a:spcPts val="0"/>
              </a:spcBef>
              <a:spcAft>
                <a:spcPts val="0"/>
              </a:spcAft>
            </a:pPr>
            <a:r>
              <a:rPr sz="1600" b="0" i="0">
                <a:solidFill>
                  <a:srgbClr val="0F1B33"/>
                </a:solidFill>
                <a:latin typeface="Calibri"/>
              </a:rPr>
              <a:t>Hi Ali.  Let’s ...... in the mall.</a:t>
            </a:r>
          </a:p>
        </p:txBody>
      </p:sp>
      <p:sp>
        <p:nvSpPr>
          <p:cNvPr id="14" name="Rounded Rectangular Callout 13"/>
          <p:cNvSpPr/>
          <p:nvPr/>
        </p:nvSpPr>
        <p:spPr>
          <a:xfrm>
            <a:off x="1225296" y="2560320"/>
            <a:ext cx="5806440" cy="841248"/>
          </a:xfrm>
          <a:prstGeom prst="wedgeRoundRectCallout">
            <a:avLst>
              <a:gd name="adj1" fmla="val 22000"/>
              <a:gd name="adj2" fmla="val 30000"/>
              <a:gd name="adj3" fmla="val -42000"/>
            </a:avLst>
          </a:prstGeom>
          <a:solidFill>
            <a:srgbClr val="FFFFFF"/>
          </a:solidFill>
          <a:ln w="13970">
            <a:solidFill>
              <a:srgbClr val="DCE5F2"/>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475488" bIns="146304"/>
          <a:lstStyle/>
          <a:p>
            <a:pPr algn="l">
              <a:lnSpc>
                <a:spcPct val="95000"/>
              </a:lnSpc>
              <a:spcBef>
                <a:spcPts val="0"/>
              </a:spcBef>
              <a:spcAft>
                <a:spcPts val="0"/>
              </a:spcAft>
            </a:pPr>
            <a:r>
              <a:rPr sz="1600" b="0" i="0">
                <a:solidFill>
                  <a:srgbClr val="0F1B33"/>
                </a:solidFill>
                <a:latin typeface="Calibri"/>
              </a:rPr>
              <a:t>Hi Ahmed. OK. I’ll call Faris to meet us there.</a:t>
            </a:r>
          </a:p>
        </p:txBody>
      </p:sp>
      <p:sp>
        <p:nvSpPr>
          <p:cNvPr id="15" name="Rounded Rectangle 14"/>
          <p:cNvSpPr/>
          <p:nvPr/>
        </p:nvSpPr>
        <p:spPr>
          <a:xfrm>
            <a:off x="566928" y="4315968"/>
            <a:ext cx="2240280" cy="1627632"/>
          </a:xfrm>
          <a:prstGeom prst="roundRect">
            <a:avLst>
              <a:gd name="adj" fmla="val 11235"/>
            </a:avLst>
          </a:prstGeom>
          <a:solidFill>
            <a:srgbClr val="F4F8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6" name="Picture 15" descr="image25.jpeg"/>
          <p:cNvPicPr>
            <a:picLocks noChangeAspect="1"/>
          </p:cNvPicPr>
          <p:nvPr/>
        </p:nvPicPr>
        <p:blipFill>
          <a:blip r:embed="rId3"/>
          <a:stretch>
            <a:fillRect/>
          </a:stretch>
        </p:blipFill>
        <p:spPr>
          <a:xfrm>
            <a:off x="621792" y="4402118"/>
            <a:ext cx="2130552" cy="1455330"/>
          </a:xfrm>
          <a:prstGeom prst="rect">
            <a:avLst/>
          </a:prstGeom>
        </p:spPr>
      </p:pic>
      <p:sp>
        <p:nvSpPr>
          <p:cNvPr id="17" name="Rounded Rectangle 16"/>
          <p:cNvSpPr/>
          <p:nvPr/>
        </p:nvSpPr>
        <p:spPr>
          <a:xfrm>
            <a:off x="6446520" y="1517904"/>
            <a:ext cx="5175504" cy="877824"/>
          </a:xfrm>
          <a:prstGeom prst="roundRect">
            <a:avLst>
              <a:gd name="adj" fmla="val 18750"/>
            </a:avLst>
          </a:prstGeom>
          <a:solidFill>
            <a:srgbClr val="FFFFFF"/>
          </a:solidFill>
          <a:ln w="1270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603504" tIns="54864" rIns="777240" bIns="54864"/>
          <a:lstStyle/>
          <a:p>
            <a:pPr algn="l">
              <a:lnSpc>
                <a:spcPct val="95000"/>
              </a:lnSpc>
              <a:spcBef>
                <a:spcPts val="0"/>
              </a:spcBef>
              <a:spcAft>
                <a:spcPts val="0"/>
              </a:spcAft>
            </a:pPr>
            <a:r>
              <a:rPr sz="1900" b="0" i="0">
                <a:solidFill>
                  <a:srgbClr val="0F1B33"/>
                </a:solidFill>
                <a:latin typeface="Calibri"/>
              </a:rPr>
              <a:t>hold on</a:t>
            </a:r>
          </a:p>
        </p:txBody>
      </p:sp>
      <p:sp>
        <p:nvSpPr>
          <p:cNvPr id="18" name="TextBox 17"/>
          <p:cNvSpPr txBox="1"/>
          <p:nvPr/>
        </p:nvSpPr>
        <p:spPr>
          <a:xfrm>
            <a:off x="6656832" y="1764792"/>
            <a:ext cx="36576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5C6C86"/>
                </a:solidFill>
                <a:latin typeface="Trebuchet MS"/>
              </a:rPr>
              <a:t>A</a:t>
            </a:r>
          </a:p>
        </p:txBody>
      </p:sp>
      <p:sp>
        <p:nvSpPr>
          <p:cNvPr id="19" name="Oval 18"/>
          <p:cNvSpPr/>
          <p:nvPr/>
        </p:nvSpPr>
        <p:spPr>
          <a:xfrm>
            <a:off x="10899648" y="1773936"/>
            <a:ext cx="365760" cy="365760"/>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Connector 19"/>
          <p:cNvCxnSpPr/>
          <p:nvPr/>
        </p:nvCxnSpPr>
        <p:spPr>
          <a:xfrm>
            <a:off x="11020349" y="1894637"/>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1020349" y="1894637"/>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446520" y="2596896"/>
            <a:ext cx="5175504" cy="877824"/>
          </a:xfrm>
          <a:prstGeom prst="roundRect">
            <a:avLst>
              <a:gd name="adj" fmla="val 18750"/>
            </a:avLst>
          </a:prstGeom>
          <a:solidFill>
            <a:srgbClr val="FFFFFF"/>
          </a:solidFill>
          <a:ln w="1270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603504" tIns="54864" rIns="777240" bIns="54864"/>
          <a:lstStyle/>
          <a:p>
            <a:pPr algn="l">
              <a:lnSpc>
                <a:spcPct val="95000"/>
              </a:lnSpc>
              <a:spcBef>
                <a:spcPts val="0"/>
              </a:spcBef>
              <a:spcAft>
                <a:spcPts val="0"/>
              </a:spcAft>
            </a:pPr>
            <a:r>
              <a:rPr sz="1900" b="0" i="0">
                <a:solidFill>
                  <a:srgbClr val="0F1B33"/>
                </a:solidFill>
                <a:latin typeface="Calibri"/>
              </a:rPr>
              <a:t>Hang out</a:t>
            </a:r>
          </a:p>
        </p:txBody>
      </p:sp>
      <p:sp>
        <p:nvSpPr>
          <p:cNvPr id="23" name="TextBox 22"/>
          <p:cNvSpPr txBox="1"/>
          <p:nvPr/>
        </p:nvSpPr>
        <p:spPr>
          <a:xfrm>
            <a:off x="6656832" y="2843784"/>
            <a:ext cx="36576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5C6C86"/>
                </a:solidFill>
                <a:latin typeface="Trebuchet MS"/>
              </a:rPr>
              <a:t>B</a:t>
            </a:r>
          </a:p>
        </p:txBody>
      </p:sp>
      <p:sp>
        <p:nvSpPr>
          <p:cNvPr id="24" name="Rounded Rectangle 23"/>
          <p:cNvSpPr/>
          <p:nvPr/>
        </p:nvSpPr>
        <p:spPr>
          <a:xfrm>
            <a:off x="6382512" y="2532888"/>
            <a:ext cx="5303520" cy="1005840"/>
          </a:xfrm>
          <a:prstGeom prst="roundRect">
            <a:avLst>
              <a:gd name="adj" fmla="val 18181"/>
            </a:avLst>
          </a:prstGeom>
          <a:noFill/>
          <a:ln w="33020">
            <a:solidFill>
              <a:srgbClr val="0F6B33"/>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Oval 24"/>
          <p:cNvSpPr/>
          <p:nvPr/>
        </p:nvSpPr>
        <p:spPr>
          <a:xfrm>
            <a:off x="10899648" y="2852928"/>
            <a:ext cx="365760" cy="365760"/>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Connector 25"/>
          <p:cNvCxnSpPr/>
          <p:nvPr/>
        </p:nvCxnSpPr>
        <p:spPr>
          <a:xfrm>
            <a:off x="11002061" y="3039466"/>
            <a:ext cx="62179" cy="6583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1064240" y="2962656"/>
            <a:ext cx="106070" cy="14264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446520" y="3675888"/>
            <a:ext cx="5175504" cy="877824"/>
          </a:xfrm>
          <a:prstGeom prst="roundRect">
            <a:avLst>
              <a:gd name="adj" fmla="val 18750"/>
            </a:avLst>
          </a:prstGeom>
          <a:solidFill>
            <a:srgbClr val="FFFFFF"/>
          </a:solidFill>
          <a:ln w="1270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603504" tIns="54864" rIns="777240" bIns="54864"/>
          <a:lstStyle/>
          <a:p>
            <a:pPr algn="l">
              <a:lnSpc>
                <a:spcPct val="95000"/>
              </a:lnSpc>
              <a:spcBef>
                <a:spcPts val="0"/>
              </a:spcBef>
              <a:spcAft>
                <a:spcPts val="0"/>
              </a:spcAft>
            </a:pPr>
            <a:r>
              <a:rPr sz="1900" b="0" i="0">
                <a:solidFill>
                  <a:srgbClr val="0F1B33"/>
                </a:solidFill>
                <a:latin typeface="Calibri"/>
              </a:rPr>
              <a:t>How on earth?</a:t>
            </a:r>
          </a:p>
        </p:txBody>
      </p:sp>
      <p:sp>
        <p:nvSpPr>
          <p:cNvPr id="37" name="TextBox 36"/>
          <p:cNvSpPr txBox="1"/>
          <p:nvPr/>
        </p:nvSpPr>
        <p:spPr>
          <a:xfrm>
            <a:off x="6656832" y="3922776"/>
            <a:ext cx="36576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5C6C86"/>
                </a:solidFill>
                <a:latin typeface="Trebuchet MS"/>
              </a:rPr>
              <a:t>C</a:t>
            </a:r>
          </a:p>
        </p:txBody>
      </p:sp>
      <p:sp>
        <p:nvSpPr>
          <p:cNvPr id="38" name="Oval 37"/>
          <p:cNvSpPr/>
          <p:nvPr/>
        </p:nvSpPr>
        <p:spPr>
          <a:xfrm>
            <a:off x="10899648" y="3931920"/>
            <a:ext cx="365760" cy="365760"/>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Connector 38"/>
          <p:cNvCxnSpPr/>
          <p:nvPr/>
        </p:nvCxnSpPr>
        <p:spPr>
          <a:xfrm>
            <a:off x="11020349" y="4052621"/>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1020349" y="4052621"/>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446520" y="4754880"/>
            <a:ext cx="5175504" cy="658368"/>
          </a:xfrm>
          <a:prstGeom prst="roundRect">
            <a:avLst>
              <a:gd name="adj" fmla="val 22222"/>
            </a:avLst>
          </a:prstGeom>
          <a:solidFill>
            <a:srgbClr val="E7F6EC"/>
          </a:solidFill>
          <a:ln w="12700">
            <a:solidFill>
              <a:srgbClr val="BFE3CB"/>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46304" bIns="36576"/>
          <a:lstStyle/>
          <a:p>
            <a:pPr algn="l">
              <a:lnSpc>
                <a:spcPct val="95000"/>
              </a:lnSpc>
              <a:spcBef>
                <a:spcPts val="0"/>
              </a:spcBef>
              <a:spcAft>
                <a:spcPts val="0"/>
              </a:spcAft>
            </a:pPr>
            <a:r>
              <a:rPr sz="1200" b="1" i="0">
                <a:solidFill>
                  <a:srgbClr val="0F6B33"/>
                </a:solidFill>
                <a:latin typeface="Calibri"/>
              </a:rPr>
              <a:t>“Let’s hang out in the mall” = let’s spend time together there.</a:t>
            </a:r>
          </a:p>
        </p:txBody>
      </p:sp>
      <p:sp>
        <p:nvSpPr>
          <p:cNvPr id="48" name="Rounded Rectangle 47"/>
          <p:cNvSpPr/>
          <p:nvPr/>
        </p:nvSpPr>
        <p:spPr>
          <a:xfrm>
            <a:off x="6446520" y="5541264"/>
            <a:ext cx="2468880" cy="438912"/>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200" b="1" i="0">
                <a:solidFill>
                  <a:srgbClr val="1B3FA8"/>
                </a:solidFill>
                <a:latin typeface="Calibri"/>
              </a:rPr>
              <a:t>Show answer</a:t>
            </a:r>
          </a:p>
        </p:txBody>
      </p:sp>
      <p:sp>
        <p:nvSpPr>
          <p:cNvPr id="79" name="TextBox 78"/>
          <p:cNvSpPr txBox="1"/>
          <p:nvPr/>
        </p:nvSpPr>
        <p:spPr>
          <a:xfrm>
            <a:off x="9189720" y="5614416"/>
            <a:ext cx="237744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an option to answer.</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7"/>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par>
                          <p:cTn id="16" presetID="10" presetClass="entr"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350"/>
                                  <p:tgtEl>
                                    <p:spTgt spid="20"/>
                                  </p:tgtEl>
                                </p:cBhvr>
                              </p:animEffect>
                            </p:childTnLst>
                          </p:cTn>
                        </p:par>
                        <p:par>
                          <p:cTn id="19" presetID="10" presetClass="entr"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350"/>
                                  <p:tgtEl>
                                    <p:spTgt spid="21"/>
                                  </p:tgtEl>
                                </p:cBhvr>
                              </p:animEffect>
                            </p:childTnLst>
                          </p:cTn>
                        </p:par>
                      </p:childTnLst>
                    </p:cTn>
                  </p:par>
                </p:childTnLst>
              </p:cTn>
            </p:seq>
            <p:seq concurrent="1" nextAc="seek">
              <p:cTn id="22" restart="whenNotActive" fill="hold" evtFilter="cancelBubble" nodeType="interactiveSeq">
                <p:stCondLst>
                  <p:cond evt="onClick" delay="0">
                    <p:tgtEl>
                      <p:spTgt spid="22"/>
                    </p:tgtEl>
                  </p:cond>
                </p:stCondLst>
                <p:endSync evt="end" delay="0">
                  <p:rtn val="all"/>
                </p:endSync>
                <p:childTnLst>
                  <p:par>
                    <p:cTn id="23" fill="hold">
                      <p:stCondLst>
                        <p:cond delay="0"/>
                      </p:stCondLst>
                      <p:childTnLst>
                        <p:par>
                          <p:cTn id="24" presetID="10" presetClass="entr"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50"/>
                                  <p:tgtEl>
                                    <p:spTgt spid="24"/>
                                  </p:tgtEl>
                                </p:cBhvr>
                              </p:animEffect>
                            </p:childTnLst>
                          </p:cTn>
                        </p:par>
                        <p:par>
                          <p:cTn id="27" presetID="10" presetClass="entr"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350"/>
                                  <p:tgtEl>
                                    <p:spTgt spid="25"/>
                                  </p:tgtEl>
                                </p:cBhvr>
                              </p:animEffect>
                            </p:childTnLst>
                          </p:cTn>
                        </p:par>
                        <p:par>
                          <p:cTn id="30" presetID="10" presetClass="entr"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350"/>
                                  <p:tgtEl>
                                    <p:spTgt spid="26"/>
                                  </p:tgtEl>
                                </p:cBhvr>
                              </p:animEffect>
                            </p:childTnLst>
                          </p:cTn>
                        </p:par>
                        <p:par>
                          <p:cTn id="33" presetID="10" presetClass="entr"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350"/>
                                  <p:tgtEl>
                                    <p:spTgt spid="27"/>
                                  </p:tgtEl>
                                </p:cBhvr>
                              </p:animEffect>
                            </p:childTnLst>
                          </p:cTn>
                        </p:par>
                      </p:childTnLst>
                    </p:cTn>
                  </p:par>
                </p:childTnLst>
              </p:cTn>
            </p:seq>
            <p:seq concurrent="1" nextAc="seek">
              <p:cTn id="36" restart="whenNotActive" fill="hold" evtFilter="cancelBubble" nodeType="interactiveSeq">
                <p:stCondLst>
                  <p:cond evt="onClick" delay="0">
                    <p:tgtEl>
                      <p:spTgt spid="36"/>
                    </p:tgtEl>
                  </p:cond>
                </p:stCondLst>
                <p:endSync evt="end" delay="0">
                  <p:rtn val="all"/>
                </p:endSync>
                <p:childTnLst>
                  <p:par>
                    <p:cTn id="37" fill="hold">
                      <p:stCondLst>
                        <p:cond delay="0"/>
                      </p:stCondLst>
                      <p:childTnLst>
                        <p:par>
                          <p:cTn id="38" presetID="10" presetClass="entr"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350"/>
                                  <p:tgtEl>
                                    <p:spTgt spid="38"/>
                                  </p:tgtEl>
                                </p:cBhvr>
                              </p:animEffect>
                            </p:childTnLst>
                          </p:cTn>
                        </p:par>
                        <p:par>
                          <p:cTn id="41" presetID="10" presetClass="entr"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350"/>
                                  <p:tgtEl>
                                    <p:spTgt spid="39"/>
                                  </p:tgtEl>
                                </p:cBhvr>
                              </p:animEffect>
                            </p:childTnLst>
                          </p:cTn>
                        </p:par>
                        <p:par>
                          <p:cTn id="44" presetID="10" presetClass="entr"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350"/>
                                  <p:tgtEl>
                                    <p:spTgt spid="40"/>
                                  </p:tgtEl>
                                </p:cBhvr>
                              </p:animEffect>
                            </p:childTnLst>
                          </p:cTn>
                        </p:par>
                      </p:childTnLst>
                    </p:cTn>
                  </p:par>
                </p:childTnLst>
              </p:cTn>
            </p:seq>
            <p:seq concurrent="1" nextAc="seek">
              <p:cTn id="47" restart="whenNotActive" fill="hold" evtFilter="cancelBubble" nodeType="interactiveSeq">
                <p:stCondLst>
                  <p:cond evt="onClick" delay="0">
                    <p:tgtEl>
                      <p:spTgt spid="48"/>
                    </p:tgtEl>
                  </p:cond>
                </p:stCondLst>
                <p:endSync evt="end" delay="0">
                  <p:rtn val="all"/>
                </p:endSync>
                <p:childTnLst>
                  <p:par>
                    <p:cTn id="48" fill="hold">
                      <p:stCondLst>
                        <p:cond delay="0"/>
                      </p:stCondLst>
                      <p:childTnLst>
                        <p:par>
                          <p:cTn id="49" presetID="10" presetClass="entr"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50"/>
                                  <p:tgtEl>
                                    <p:spTgt spid="19"/>
                                  </p:tgtEl>
                                </p:cBhvr>
                              </p:animEffect>
                            </p:childTnLst>
                          </p:cTn>
                        </p:par>
                        <p:par>
                          <p:cTn id="52" presetID="10" presetClass="entr"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50"/>
                                  <p:tgtEl>
                                    <p:spTgt spid="20"/>
                                  </p:tgtEl>
                                </p:cBhvr>
                              </p:animEffect>
                            </p:childTnLst>
                          </p:cTn>
                        </p:par>
                        <p:par>
                          <p:cTn id="55" presetID="10" presetClass="entr"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350"/>
                                  <p:tgtEl>
                                    <p:spTgt spid="21"/>
                                  </p:tgtEl>
                                </p:cBhvr>
                              </p:animEffect>
                            </p:childTnLst>
                          </p:cTn>
                        </p:par>
                        <p:par>
                          <p:cTn id="58" presetID="10" presetClass="entr"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350"/>
                                  <p:tgtEl>
                                    <p:spTgt spid="24"/>
                                  </p:tgtEl>
                                </p:cBhvr>
                              </p:animEffect>
                            </p:childTnLst>
                          </p:cTn>
                        </p:par>
                        <p:par>
                          <p:cTn id="61" presetID="10" presetClass="entr"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350"/>
                                  <p:tgtEl>
                                    <p:spTgt spid="25"/>
                                  </p:tgtEl>
                                </p:cBhvr>
                              </p:animEffect>
                            </p:childTnLst>
                          </p:cTn>
                        </p:par>
                        <p:par>
                          <p:cTn id="64" presetID="10" presetClass="entr"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350"/>
                                  <p:tgtEl>
                                    <p:spTgt spid="26"/>
                                  </p:tgtEl>
                                </p:cBhvr>
                              </p:animEffect>
                            </p:childTnLst>
                          </p:cTn>
                        </p:par>
                        <p:par>
                          <p:cTn id="67" presetID="10" presetClass="entr"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350"/>
                                  <p:tgtEl>
                                    <p:spTgt spid="27"/>
                                  </p:tgtEl>
                                </p:cBhvr>
                              </p:animEffect>
                            </p:childTnLst>
                          </p:cTn>
                        </p:par>
                        <p:par>
                          <p:cTn id="70" presetID="10" presetClass="entr" fill="hold" grpId="0"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350"/>
                                  <p:tgtEl>
                                    <p:spTgt spid="38"/>
                                  </p:tgtEl>
                                </p:cBhvr>
                              </p:animEffect>
                            </p:childTnLst>
                          </p:cTn>
                        </p:par>
                        <p:par>
                          <p:cTn id="73" presetID="10" presetClass="entr"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fade">
                                <p:cBhvr>
                                  <p:cTn id="75" dur="350"/>
                                  <p:tgtEl>
                                    <p:spTgt spid="39"/>
                                  </p:tgtEl>
                                </p:cBhvr>
                              </p:animEffect>
                            </p:childTnLst>
                          </p:cTn>
                        </p:par>
                        <p:par>
                          <p:cTn id="76" presetID="10" presetClass="entr" fill="hold" grpId="0" nodeType="with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fade">
                                <p:cBhvr>
                                  <p:cTn id="78" dur="350"/>
                                  <p:tgtEl>
                                    <p:spTgt spid="40"/>
                                  </p:tgtEl>
                                </p:cBhvr>
                              </p:animEffect>
                            </p:childTnLst>
                          </p:cTn>
                        </p:par>
                      </p:childTnLst>
                    </p:cTn>
                  </p:par>
                </p:childTnLst>
              </p:cTn>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10667733"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21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PRACTICE</a:t>
            </a:r>
          </a:p>
        </p:txBody>
      </p:sp>
      <p:sp>
        <p:nvSpPr>
          <p:cNvPr id="12" name="TextBox 11"/>
          <p:cNvSpPr txBox="1"/>
          <p:nvPr/>
        </p:nvSpPr>
        <p:spPr>
          <a:xfrm>
            <a:off x="566928" y="859536"/>
            <a:ext cx="8595360" cy="1371600"/>
          </a:xfrm>
          <a:prstGeom prst="rect">
            <a:avLst/>
          </a:prstGeom>
          <a:noFill/>
        </p:spPr>
        <p:txBody>
          <a:bodyPr wrap="square" anchor="t" lIns="0" tIns="0" rIns="0" bIns="0"/>
          <a:lstStyle/>
          <a:p>
            <a:pPr algn="l">
              <a:lnSpc>
                <a:spcPct val="92000"/>
              </a:lnSpc>
              <a:spcBef>
                <a:spcPts val="0"/>
              </a:spcBef>
              <a:spcAft>
                <a:spcPts val="0"/>
              </a:spcAft>
            </a:pPr>
            <a:r>
              <a:rPr sz="2800" b="1" i="0">
                <a:solidFill>
                  <a:srgbClr val="0F1B33"/>
                </a:solidFill>
                <a:latin typeface="Trebuchet MS"/>
              </a:rPr>
              <a:t>Choose the suitable phrase</a:t>
            </a:r>
          </a:p>
        </p:txBody>
      </p:sp>
      <p:sp>
        <p:nvSpPr>
          <p:cNvPr id="13" name="Rounded Rectangular Callout 12"/>
          <p:cNvSpPr/>
          <p:nvPr/>
        </p:nvSpPr>
        <p:spPr>
          <a:xfrm>
            <a:off x="585216" y="1481328"/>
            <a:ext cx="5532120" cy="841248"/>
          </a:xfrm>
          <a:prstGeom prst="wedgeRoundRectCallout">
            <a:avLst>
              <a:gd name="adj1" fmla="val 22000"/>
              <a:gd name="adj2" fmla="val 30000"/>
              <a:gd name="adj3" fmla="val -42000"/>
            </a:avLst>
          </a:prstGeom>
          <a:solidFill>
            <a:srgbClr val="E8EFFF"/>
          </a:solidFill>
          <a:ln w="13970">
            <a:solidFill>
              <a:srgbClr val="C3D4FF"/>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475488" bIns="146304"/>
          <a:lstStyle/>
          <a:p>
            <a:pPr algn="l">
              <a:lnSpc>
                <a:spcPct val="95000"/>
              </a:lnSpc>
              <a:spcBef>
                <a:spcPts val="0"/>
              </a:spcBef>
              <a:spcAft>
                <a:spcPts val="0"/>
              </a:spcAft>
            </a:pPr>
            <a:r>
              <a:rPr sz="1600" b="0" i="0">
                <a:solidFill>
                  <a:srgbClr val="0F1B33"/>
                </a:solidFill>
                <a:latin typeface="Calibri"/>
              </a:rPr>
              <a:t>He will send you his place with google map.</a:t>
            </a:r>
          </a:p>
        </p:txBody>
      </p:sp>
      <p:sp>
        <p:nvSpPr>
          <p:cNvPr id="14" name="Rounded Rectangular Callout 13"/>
          <p:cNvSpPr/>
          <p:nvPr/>
        </p:nvSpPr>
        <p:spPr>
          <a:xfrm>
            <a:off x="1225296" y="2560320"/>
            <a:ext cx="5806440" cy="841248"/>
          </a:xfrm>
          <a:prstGeom prst="wedgeRoundRectCallout">
            <a:avLst>
              <a:gd name="adj1" fmla="val 22000"/>
              <a:gd name="adj2" fmla="val 30000"/>
              <a:gd name="adj3" fmla="val -42000"/>
            </a:avLst>
          </a:prstGeom>
          <a:solidFill>
            <a:srgbClr val="FFFFFF"/>
          </a:solidFill>
          <a:ln w="13970">
            <a:solidFill>
              <a:srgbClr val="DCE5F2"/>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475488" bIns="146304"/>
          <a:lstStyle/>
          <a:p>
            <a:pPr algn="l">
              <a:lnSpc>
                <a:spcPct val="95000"/>
              </a:lnSpc>
              <a:spcBef>
                <a:spcPts val="0"/>
              </a:spcBef>
              <a:spcAft>
                <a:spcPts val="0"/>
              </a:spcAft>
            </a:pPr>
            <a:r>
              <a:rPr sz="1600" b="0" i="0">
                <a:solidFill>
                  <a:srgbClr val="0F1B33"/>
                </a:solidFill>
                <a:latin typeface="Calibri"/>
              </a:rPr>
              <a:t>Yes, I ...............</a:t>
            </a:r>
          </a:p>
        </p:txBody>
      </p:sp>
      <p:sp>
        <p:nvSpPr>
          <p:cNvPr id="15" name="Rounded Rectangle 14"/>
          <p:cNvSpPr/>
          <p:nvPr/>
        </p:nvSpPr>
        <p:spPr>
          <a:xfrm>
            <a:off x="566928" y="4315968"/>
            <a:ext cx="2240280" cy="1627632"/>
          </a:xfrm>
          <a:prstGeom prst="roundRect">
            <a:avLst>
              <a:gd name="adj" fmla="val 11235"/>
            </a:avLst>
          </a:prstGeom>
          <a:solidFill>
            <a:srgbClr val="F4F8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6" name="Picture 15" descr="image24.jpeg"/>
          <p:cNvPicPr>
            <a:picLocks noChangeAspect="1"/>
          </p:cNvPicPr>
          <p:nvPr/>
        </p:nvPicPr>
        <p:blipFill>
          <a:blip r:embed="rId3"/>
          <a:stretch>
            <a:fillRect/>
          </a:stretch>
        </p:blipFill>
        <p:spPr>
          <a:xfrm>
            <a:off x="811567" y="4370832"/>
            <a:ext cx="1751000" cy="1517904"/>
          </a:xfrm>
          <a:prstGeom prst="rect">
            <a:avLst/>
          </a:prstGeom>
        </p:spPr>
      </p:pic>
      <p:sp>
        <p:nvSpPr>
          <p:cNvPr id="17" name="Rounded Rectangle 16"/>
          <p:cNvSpPr/>
          <p:nvPr/>
        </p:nvSpPr>
        <p:spPr>
          <a:xfrm>
            <a:off x="6446520" y="1517904"/>
            <a:ext cx="5175504" cy="877824"/>
          </a:xfrm>
          <a:prstGeom prst="roundRect">
            <a:avLst>
              <a:gd name="adj" fmla="val 18750"/>
            </a:avLst>
          </a:prstGeom>
          <a:solidFill>
            <a:srgbClr val="FFFFFF"/>
          </a:solidFill>
          <a:ln w="1270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603504" tIns="54864" rIns="777240" bIns="54864"/>
          <a:lstStyle/>
          <a:p>
            <a:pPr algn="l">
              <a:lnSpc>
                <a:spcPct val="95000"/>
              </a:lnSpc>
              <a:spcBef>
                <a:spcPts val="0"/>
              </a:spcBef>
              <a:spcAft>
                <a:spcPts val="0"/>
              </a:spcAft>
            </a:pPr>
            <a:r>
              <a:rPr sz="1900" b="0" i="0">
                <a:solidFill>
                  <a:srgbClr val="0F1B33"/>
                </a:solidFill>
                <a:latin typeface="Calibri"/>
              </a:rPr>
              <a:t>get it</a:t>
            </a:r>
          </a:p>
        </p:txBody>
      </p:sp>
      <p:sp>
        <p:nvSpPr>
          <p:cNvPr id="18" name="TextBox 17"/>
          <p:cNvSpPr txBox="1"/>
          <p:nvPr/>
        </p:nvSpPr>
        <p:spPr>
          <a:xfrm>
            <a:off x="6656832" y="1764792"/>
            <a:ext cx="36576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5C6C86"/>
                </a:solidFill>
                <a:latin typeface="Trebuchet MS"/>
              </a:rPr>
              <a:t>A</a:t>
            </a:r>
          </a:p>
        </p:txBody>
      </p:sp>
      <p:sp>
        <p:nvSpPr>
          <p:cNvPr id="19" name="Rounded Rectangle 18"/>
          <p:cNvSpPr/>
          <p:nvPr/>
        </p:nvSpPr>
        <p:spPr>
          <a:xfrm>
            <a:off x="6382512" y="1453896"/>
            <a:ext cx="5303520" cy="1005840"/>
          </a:xfrm>
          <a:prstGeom prst="roundRect">
            <a:avLst>
              <a:gd name="adj" fmla="val 18181"/>
            </a:avLst>
          </a:prstGeom>
          <a:noFill/>
          <a:ln w="33020">
            <a:solidFill>
              <a:srgbClr val="0F6B33"/>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Oval 19"/>
          <p:cNvSpPr/>
          <p:nvPr/>
        </p:nvSpPr>
        <p:spPr>
          <a:xfrm>
            <a:off x="10899648" y="1773936"/>
            <a:ext cx="365760" cy="365760"/>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Connector 20"/>
          <p:cNvCxnSpPr/>
          <p:nvPr/>
        </p:nvCxnSpPr>
        <p:spPr>
          <a:xfrm>
            <a:off x="11002061" y="1960474"/>
            <a:ext cx="62179" cy="6583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1064240" y="1883664"/>
            <a:ext cx="106070" cy="14264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446520" y="2596896"/>
            <a:ext cx="5175504" cy="877824"/>
          </a:xfrm>
          <a:prstGeom prst="roundRect">
            <a:avLst>
              <a:gd name="adj" fmla="val 18750"/>
            </a:avLst>
          </a:prstGeom>
          <a:solidFill>
            <a:srgbClr val="FFFFFF"/>
          </a:solidFill>
          <a:ln w="1270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603504" tIns="54864" rIns="777240" bIns="54864"/>
          <a:lstStyle/>
          <a:p>
            <a:pPr algn="l">
              <a:lnSpc>
                <a:spcPct val="95000"/>
              </a:lnSpc>
              <a:spcBef>
                <a:spcPts val="0"/>
              </a:spcBef>
              <a:spcAft>
                <a:spcPts val="0"/>
              </a:spcAft>
            </a:pPr>
            <a:r>
              <a:rPr sz="1900" b="0" i="0">
                <a:solidFill>
                  <a:srgbClr val="0F1B33"/>
                </a:solidFill>
                <a:latin typeface="Calibri"/>
              </a:rPr>
              <a:t>getting the long of it</a:t>
            </a:r>
          </a:p>
        </p:txBody>
      </p:sp>
      <p:sp>
        <p:nvSpPr>
          <p:cNvPr id="26" name="TextBox 25"/>
          <p:cNvSpPr txBox="1"/>
          <p:nvPr/>
        </p:nvSpPr>
        <p:spPr>
          <a:xfrm>
            <a:off x="6656832" y="2843784"/>
            <a:ext cx="36576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5C6C86"/>
                </a:solidFill>
                <a:latin typeface="Trebuchet MS"/>
              </a:rPr>
              <a:t>B</a:t>
            </a:r>
          </a:p>
        </p:txBody>
      </p:sp>
      <p:sp>
        <p:nvSpPr>
          <p:cNvPr id="27" name="Oval 26"/>
          <p:cNvSpPr/>
          <p:nvPr/>
        </p:nvSpPr>
        <p:spPr>
          <a:xfrm>
            <a:off x="10899648" y="2852928"/>
            <a:ext cx="365760" cy="365760"/>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Connector 27"/>
          <p:cNvCxnSpPr/>
          <p:nvPr/>
        </p:nvCxnSpPr>
        <p:spPr>
          <a:xfrm>
            <a:off x="11020349" y="2973629"/>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1020349" y="2973629"/>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446520" y="3675888"/>
            <a:ext cx="5175504" cy="877824"/>
          </a:xfrm>
          <a:prstGeom prst="roundRect">
            <a:avLst>
              <a:gd name="adj" fmla="val 18750"/>
            </a:avLst>
          </a:prstGeom>
          <a:solidFill>
            <a:srgbClr val="FFFFFF"/>
          </a:solidFill>
          <a:ln w="1270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603504" tIns="54864" rIns="777240" bIns="54864"/>
          <a:lstStyle/>
          <a:p>
            <a:pPr algn="l">
              <a:lnSpc>
                <a:spcPct val="95000"/>
              </a:lnSpc>
              <a:spcBef>
                <a:spcPts val="0"/>
              </a:spcBef>
              <a:spcAft>
                <a:spcPts val="0"/>
              </a:spcAft>
            </a:pPr>
            <a:r>
              <a:rPr sz="1900" b="0" i="0">
                <a:solidFill>
                  <a:srgbClr val="0F1B33"/>
                </a:solidFill>
                <a:latin typeface="Calibri"/>
              </a:rPr>
              <a:t>hold on</a:t>
            </a:r>
          </a:p>
        </p:txBody>
      </p:sp>
      <p:sp>
        <p:nvSpPr>
          <p:cNvPr id="37" name="TextBox 36"/>
          <p:cNvSpPr txBox="1"/>
          <p:nvPr/>
        </p:nvSpPr>
        <p:spPr>
          <a:xfrm>
            <a:off x="6656832" y="3922776"/>
            <a:ext cx="36576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5C6C86"/>
                </a:solidFill>
                <a:latin typeface="Trebuchet MS"/>
              </a:rPr>
              <a:t>C</a:t>
            </a:r>
          </a:p>
        </p:txBody>
      </p:sp>
      <p:sp>
        <p:nvSpPr>
          <p:cNvPr id="38" name="Oval 37"/>
          <p:cNvSpPr/>
          <p:nvPr/>
        </p:nvSpPr>
        <p:spPr>
          <a:xfrm>
            <a:off x="10899648" y="3931920"/>
            <a:ext cx="365760" cy="365760"/>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Connector 38"/>
          <p:cNvCxnSpPr/>
          <p:nvPr/>
        </p:nvCxnSpPr>
        <p:spPr>
          <a:xfrm>
            <a:off x="11020349" y="4052621"/>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1020349" y="4052621"/>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446520" y="4754880"/>
            <a:ext cx="5175504" cy="658368"/>
          </a:xfrm>
          <a:prstGeom prst="roundRect">
            <a:avLst>
              <a:gd name="adj" fmla="val 22222"/>
            </a:avLst>
          </a:prstGeom>
          <a:solidFill>
            <a:srgbClr val="E7F6EC"/>
          </a:solidFill>
          <a:ln w="12700">
            <a:solidFill>
              <a:srgbClr val="BFE3CB"/>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46304" bIns="36576"/>
          <a:lstStyle/>
          <a:p>
            <a:pPr algn="l">
              <a:lnSpc>
                <a:spcPct val="95000"/>
              </a:lnSpc>
              <a:spcBef>
                <a:spcPts val="0"/>
              </a:spcBef>
              <a:spcAft>
                <a:spcPts val="0"/>
              </a:spcAft>
            </a:pPr>
            <a:r>
              <a:rPr sz="1200" b="1" i="0">
                <a:solidFill>
                  <a:srgbClr val="0F6B33"/>
                </a:solidFill>
                <a:latin typeface="Calibri"/>
              </a:rPr>
              <a:t>“Yes, I get it” = yes, I understand.</a:t>
            </a:r>
          </a:p>
        </p:txBody>
      </p:sp>
      <p:sp>
        <p:nvSpPr>
          <p:cNvPr id="48" name="Rounded Rectangle 47"/>
          <p:cNvSpPr/>
          <p:nvPr/>
        </p:nvSpPr>
        <p:spPr>
          <a:xfrm>
            <a:off x="6446520" y="5541264"/>
            <a:ext cx="2468880" cy="438912"/>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200" b="1" i="0">
                <a:solidFill>
                  <a:srgbClr val="1B3FA8"/>
                </a:solidFill>
                <a:latin typeface="Calibri"/>
              </a:rPr>
              <a:t>Show answer</a:t>
            </a:r>
          </a:p>
        </p:txBody>
      </p:sp>
      <p:sp>
        <p:nvSpPr>
          <p:cNvPr id="79" name="TextBox 78"/>
          <p:cNvSpPr txBox="1"/>
          <p:nvPr/>
        </p:nvSpPr>
        <p:spPr>
          <a:xfrm>
            <a:off x="9189720" y="5614416"/>
            <a:ext cx="237744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an option to answer.</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7"/>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par>
                          <p:cTn id="16" presetID="10" presetClass="entr"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350"/>
                                  <p:tgtEl>
                                    <p:spTgt spid="20"/>
                                  </p:tgtEl>
                                </p:cBhvr>
                              </p:animEffect>
                            </p:childTnLst>
                          </p:cTn>
                        </p:par>
                        <p:par>
                          <p:cTn id="19" presetID="10" presetClass="entr"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350"/>
                                  <p:tgtEl>
                                    <p:spTgt spid="21"/>
                                  </p:tgtEl>
                                </p:cBhvr>
                              </p:animEffect>
                            </p:childTnLst>
                          </p:cTn>
                        </p:par>
                        <p:par>
                          <p:cTn id="22" presetID="10" presetClass="entr"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350"/>
                                  <p:tgtEl>
                                    <p:spTgt spid="22"/>
                                  </p:tgtEl>
                                </p:cBhvr>
                              </p:animEffect>
                            </p:childTnLst>
                          </p:cTn>
                        </p:par>
                      </p:childTnLst>
                    </p:cTn>
                  </p:par>
                </p:childTnLst>
              </p:cTn>
            </p:seq>
            <p:seq concurrent="1" nextAc="seek">
              <p:cTn id="25" restart="whenNotActive" fill="hold" evtFilter="cancelBubble" nodeType="interactiveSeq">
                <p:stCondLst>
                  <p:cond evt="onClick" delay="0">
                    <p:tgtEl>
                      <p:spTgt spid="25"/>
                    </p:tgtEl>
                  </p:cond>
                </p:stCondLst>
                <p:endSync evt="end" delay="0">
                  <p:rtn val="all"/>
                </p:endSync>
                <p:childTnLst>
                  <p:par>
                    <p:cTn id="26" fill="hold">
                      <p:stCondLst>
                        <p:cond delay="0"/>
                      </p:stCondLst>
                      <p:childTnLst>
                        <p:par>
                          <p:cTn id="27" presetID="10" presetClass="entr"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350"/>
                                  <p:tgtEl>
                                    <p:spTgt spid="27"/>
                                  </p:tgtEl>
                                </p:cBhvr>
                              </p:animEffect>
                            </p:childTnLst>
                          </p:cTn>
                        </p:par>
                        <p:par>
                          <p:cTn id="30" presetID="10" presetClass="entr"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350"/>
                                  <p:tgtEl>
                                    <p:spTgt spid="28"/>
                                  </p:tgtEl>
                                </p:cBhvr>
                              </p:animEffect>
                            </p:childTnLst>
                          </p:cTn>
                        </p:par>
                        <p:par>
                          <p:cTn id="33" presetID="10" presetClass="entr"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350"/>
                                  <p:tgtEl>
                                    <p:spTgt spid="29"/>
                                  </p:tgtEl>
                                </p:cBhvr>
                              </p:animEffect>
                            </p:childTnLst>
                          </p:cTn>
                        </p:par>
                      </p:childTnLst>
                    </p:cTn>
                  </p:par>
                </p:childTnLst>
              </p:cTn>
            </p:seq>
            <p:seq concurrent="1" nextAc="seek">
              <p:cTn id="36" restart="whenNotActive" fill="hold" evtFilter="cancelBubble" nodeType="interactiveSeq">
                <p:stCondLst>
                  <p:cond evt="onClick" delay="0">
                    <p:tgtEl>
                      <p:spTgt spid="36"/>
                    </p:tgtEl>
                  </p:cond>
                </p:stCondLst>
                <p:endSync evt="end" delay="0">
                  <p:rtn val="all"/>
                </p:endSync>
                <p:childTnLst>
                  <p:par>
                    <p:cTn id="37" fill="hold">
                      <p:stCondLst>
                        <p:cond delay="0"/>
                      </p:stCondLst>
                      <p:childTnLst>
                        <p:par>
                          <p:cTn id="38" presetID="10" presetClass="entr"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350"/>
                                  <p:tgtEl>
                                    <p:spTgt spid="38"/>
                                  </p:tgtEl>
                                </p:cBhvr>
                              </p:animEffect>
                            </p:childTnLst>
                          </p:cTn>
                        </p:par>
                        <p:par>
                          <p:cTn id="41" presetID="10" presetClass="entr"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350"/>
                                  <p:tgtEl>
                                    <p:spTgt spid="39"/>
                                  </p:tgtEl>
                                </p:cBhvr>
                              </p:animEffect>
                            </p:childTnLst>
                          </p:cTn>
                        </p:par>
                        <p:par>
                          <p:cTn id="44" presetID="10" presetClass="entr"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350"/>
                                  <p:tgtEl>
                                    <p:spTgt spid="40"/>
                                  </p:tgtEl>
                                </p:cBhvr>
                              </p:animEffect>
                            </p:childTnLst>
                          </p:cTn>
                        </p:par>
                      </p:childTnLst>
                    </p:cTn>
                  </p:par>
                </p:childTnLst>
              </p:cTn>
            </p:seq>
            <p:seq concurrent="1" nextAc="seek">
              <p:cTn id="47" restart="whenNotActive" fill="hold" evtFilter="cancelBubble" nodeType="interactiveSeq">
                <p:stCondLst>
                  <p:cond evt="onClick" delay="0">
                    <p:tgtEl>
                      <p:spTgt spid="48"/>
                    </p:tgtEl>
                  </p:cond>
                </p:stCondLst>
                <p:endSync evt="end" delay="0">
                  <p:rtn val="all"/>
                </p:endSync>
                <p:childTnLst>
                  <p:par>
                    <p:cTn id="48" fill="hold">
                      <p:stCondLst>
                        <p:cond delay="0"/>
                      </p:stCondLst>
                      <p:childTnLst>
                        <p:par>
                          <p:cTn id="49" presetID="10" presetClass="entr"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50"/>
                                  <p:tgtEl>
                                    <p:spTgt spid="19"/>
                                  </p:tgtEl>
                                </p:cBhvr>
                              </p:animEffect>
                            </p:childTnLst>
                          </p:cTn>
                        </p:par>
                        <p:par>
                          <p:cTn id="52" presetID="10" presetClass="entr"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50"/>
                                  <p:tgtEl>
                                    <p:spTgt spid="20"/>
                                  </p:tgtEl>
                                </p:cBhvr>
                              </p:animEffect>
                            </p:childTnLst>
                          </p:cTn>
                        </p:par>
                        <p:par>
                          <p:cTn id="55" presetID="10" presetClass="entr"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350"/>
                                  <p:tgtEl>
                                    <p:spTgt spid="21"/>
                                  </p:tgtEl>
                                </p:cBhvr>
                              </p:animEffect>
                            </p:childTnLst>
                          </p:cTn>
                        </p:par>
                        <p:par>
                          <p:cTn id="58" presetID="10" presetClass="entr"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350"/>
                                  <p:tgtEl>
                                    <p:spTgt spid="22"/>
                                  </p:tgtEl>
                                </p:cBhvr>
                              </p:animEffect>
                            </p:childTnLst>
                          </p:cTn>
                        </p:par>
                        <p:par>
                          <p:cTn id="61" presetID="10" presetClass="entr"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350"/>
                                  <p:tgtEl>
                                    <p:spTgt spid="27"/>
                                  </p:tgtEl>
                                </p:cBhvr>
                              </p:animEffect>
                            </p:childTnLst>
                          </p:cTn>
                        </p:par>
                        <p:par>
                          <p:cTn id="64" presetID="10" presetClass="entr" fill="hold" grpId="0"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350"/>
                                  <p:tgtEl>
                                    <p:spTgt spid="28"/>
                                  </p:tgtEl>
                                </p:cBhvr>
                              </p:animEffect>
                            </p:childTnLst>
                          </p:cTn>
                        </p:par>
                        <p:par>
                          <p:cTn id="67" presetID="10" presetClass="entr" fill="hold" grpId="0"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350"/>
                                  <p:tgtEl>
                                    <p:spTgt spid="29"/>
                                  </p:tgtEl>
                                </p:cBhvr>
                              </p:animEffect>
                            </p:childTnLst>
                          </p:cTn>
                        </p:par>
                        <p:par>
                          <p:cTn id="70" presetID="10" presetClass="entr" fill="hold" grpId="0"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350"/>
                                  <p:tgtEl>
                                    <p:spTgt spid="38"/>
                                  </p:tgtEl>
                                </p:cBhvr>
                              </p:animEffect>
                            </p:childTnLst>
                          </p:cTn>
                        </p:par>
                        <p:par>
                          <p:cTn id="73" presetID="10" presetClass="entr"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fade">
                                <p:cBhvr>
                                  <p:cTn id="75" dur="350"/>
                                  <p:tgtEl>
                                    <p:spTgt spid="39"/>
                                  </p:tgtEl>
                                </p:cBhvr>
                              </p:animEffect>
                            </p:childTnLst>
                          </p:cTn>
                        </p:par>
                        <p:par>
                          <p:cTn id="76" presetID="10" presetClass="entr" fill="hold" grpId="0" nodeType="with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fade">
                                <p:cBhvr>
                                  <p:cTn id="78" dur="350"/>
                                  <p:tgtEl>
                                    <p:spTgt spid="40"/>
                                  </p:tgtEl>
                                </p:cBhvr>
                              </p:animEffect>
                            </p:childTnLst>
                          </p:cTn>
                        </p:par>
                      </p:childTnLst>
                    </p:cTn>
                  </p:par>
                </p:childTnLst>
              </p:cTn>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11175721"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22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PRACTICE</a:t>
            </a:r>
          </a:p>
        </p:txBody>
      </p:sp>
      <p:sp>
        <p:nvSpPr>
          <p:cNvPr id="12" name="TextBox 11"/>
          <p:cNvSpPr txBox="1"/>
          <p:nvPr/>
        </p:nvSpPr>
        <p:spPr>
          <a:xfrm>
            <a:off x="566928" y="859536"/>
            <a:ext cx="8595360" cy="1371600"/>
          </a:xfrm>
          <a:prstGeom prst="rect">
            <a:avLst/>
          </a:prstGeom>
          <a:noFill/>
        </p:spPr>
        <p:txBody>
          <a:bodyPr wrap="square" anchor="t" lIns="0" tIns="0" rIns="0" bIns="0"/>
          <a:lstStyle/>
          <a:p>
            <a:pPr algn="l">
              <a:lnSpc>
                <a:spcPct val="92000"/>
              </a:lnSpc>
              <a:spcBef>
                <a:spcPts val="0"/>
              </a:spcBef>
              <a:spcAft>
                <a:spcPts val="0"/>
              </a:spcAft>
            </a:pPr>
            <a:r>
              <a:rPr sz="2800" b="1" i="0">
                <a:solidFill>
                  <a:srgbClr val="0F1B33"/>
                </a:solidFill>
                <a:latin typeface="Trebuchet MS"/>
              </a:rPr>
              <a:t>Choose the suitable phrase</a:t>
            </a:r>
          </a:p>
        </p:txBody>
      </p:sp>
      <p:sp>
        <p:nvSpPr>
          <p:cNvPr id="13" name="Rounded Rectangular Callout 12"/>
          <p:cNvSpPr/>
          <p:nvPr/>
        </p:nvSpPr>
        <p:spPr>
          <a:xfrm>
            <a:off x="585216" y="1481328"/>
            <a:ext cx="5532120" cy="841248"/>
          </a:xfrm>
          <a:prstGeom prst="wedgeRoundRectCallout">
            <a:avLst>
              <a:gd name="adj1" fmla="val 22000"/>
              <a:gd name="adj2" fmla="val 30000"/>
              <a:gd name="adj3" fmla="val -42000"/>
            </a:avLst>
          </a:prstGeom>
          <a:solidFill>
            <a:srgbClr val="E8EFFF"/>
          </a:solidFill>
          <a:ln w="13970">
            <a:solidFill>
              <a:srgbClr val="C3D4FF"/>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475488" bIns="146304"/>
          <a:lstStyle/>
          <a:p>
            <a:pPr algn="l">
              <a:lnSpc>
                <a:spcPct val="95000"/>
              </a:lnSpc>
              <a:spcBef>
                <a:spcPts val="0"/>
              </a:spcBef>
              <a:spcAft>
                <a:spcPts val="0"/>
              </a:spcAft>
            </a:pPr>
            <a:r>
              <a:rPr sz="1600" b="0" i="0">
                <a:solidFill>
                  <a:srgbClr val="0F1B33"/>
                </a:solidFill>
                <a:latin typeface="Calibri"/>
              </a:rPr>
              <a:t>............. google maps to me, please?</a:t>
            </a:r>
          </a:p>
        </p:txBody>
      </p:sp>
      <p:sp>
        <p:nvSpPr>
          <p:cNvPr id="14" name="Rounded Rectangular Callout 13"/>
          <p:cNvSpPr/>
          <p:nvPr/>
        </p:nvSpPr>
        <p:spPr>
          <a:xfrm>
            <a:off x="1225296" y="2560320"/>
            <a:ext cx="5806440" cy="841248"/>
          </a:xfrm>
          <a:prstGeom prst="wedgeRoundRectCallout">
            <a:avLst>
              <a:gd name="adj1" fmla="val 22000"/>
              <a:gd name="adj2" fmla="val 30000"/>
              <a:gd name="adj3" fmla="val -42000"/>
            </a:avLst>
          </a:prstGeom>
          <a:solidFill>
            <a:srgbClr val="FFFFFF"/>
          </a:solidFill>
          <a:ln w="13970">
            <a:solidFill>
              <a:srgbClr val="DCE5F2"/>
            </a:solidFill>
          </a:ln>
          <a:effectLst>
            <a:outerShdw blurRad="203200" dist="508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74320" tIns="146304" rIns="475488" bIns="146304"/>
          <a:lstStyle/>
          <a:p>
            <a:pPr algn="l">
              <a:lnSpc>
                <a:spcPct val="95000"/>
              </a:lnSpc>
              <a:spcBef>
                <a:spcPts val="0"/>
              </a:spcBef>
              <a:spcAft>
                <a:spcPts val="0"/>
              </a:spcAft>
            </a:pPr>
            <a:r>
              <a:rPr sz="1600" b="0" i="0">
                <a:solidFill>
                  <a:srgbClr val="0F1B33"/>
                </a:solidFill>
                <a:latin typeface="Calibri"/>
              </a:rPr>
              <a:t>Sure</a:t>
            </a:r>
          </a:p>
        </p:txBody>
      </p:sp>
      <p:sp>
        <p:nvSpPr>
          <p:cNvPr id="15" name="Rounded Rectangle 14"/>
          <p:cNvSpPr/>
          <p:nvPr/>
        </p:nvSpPr>
        <p:spPr>
          <a:xfrm>
            <a:off x="566928" y="4315968"/>
            <a:ext cx="2240280" cy="1627632"/>
          </a:xfrm>
          <a:prstGeom prst="roundRect">
            <a:avLst>
              <a:gd name="adj" fmla="val 11235"/>
            </a:avLst>
          </a:prstGeom>
          <a:solidFill>
            <a:srgbClr val="F4F8FF"/>
          </a:solidFill>
          <a:ln w="11430">
            <a:solidFill>
              <a:srgbClr val="DCE5F2"/>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6" name="Picture 15" descr="image20.png"/>
          <p:cNvPicPr>
            <a:picLocks noChangeAspect="1"/>
          </p:cNvPicPr>
          <p:nvPr/>
        </p:nvPicPr>
        <p:blipFill>
          <a:blip r:embed="rId3"/>
          <a:stretch>
            <a:fillRect/>
          </a:stretch>
        </p:blipFill>
        <p:spPr>
          <a:xfrm>
            <a:off x="818198" y="4370832"/>
            <a:ext cx="1737738" cy="1517904"/>
          </a:xfrm>
          <a:prstGeom prst="rect">
            <a:avLst/>
          </a:prstGeom>
        </p:spPr>
      </p:pic>
      <p:sp>
        <p:nvSpPr>
          <p:cNvPr id="17" name="Rounded Rectangle 16"/>
          <p:cNvSpPr/>
          <p:nvPr/>
        </p:nvSpPr>
        <p:spPr>
          <a:xfrm>
            <a:off x="6446520" y="1517904"/>
            <a:ext cx="5175504" cy="877824"/>
          </a:xfrm>
          <a:prstGeom prst="roundRect">
            <a:avLst>
              <a:gd name="adj" fmla="val 18750"/>
            </a:avLst>
          </a:prstGeom>
          <a:solidFill>
            <a:srgbClr val="FFFFFF"/>
          </a:solidFill>
          <a:ln w="1270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603504" tIns="54864" rIns="777240" bIns="54864"/>
          <a:lstStyle/>
          <a:p>
            <a:pPr algn="l">
              <a:lnSpc>
                <a:spcPct val="95000"/>
              </a:lnSpc>
              <a:spcBef>
                <a:spcPts val="0"/>
              </a:spcBef>
              <a:spcAft>
                <a:spcPts val="0"/>
              </a:spcAft>
            </a:pPr>
            <a:r>
              <a:rPr sz="1900" b="0" i="0">
                <a:solidFill>
                  <a:srgbClr val="0F1B33"/>
                </a:solidFill>
                <a:latin typeface="Calibri"/>
              </a:rPr>
              <a:t>Does that make sense..</a:t>
            </a:r>
          </a:p>
        </p:txBody>
      </p:sp>
      <p:sp>
        <p:nvSpPr>
          <p:cNvPr id="18" name="TextBox 17"/>
          <p:cNvSpPr txBox="1"/>
          <p:nvPr/>
        </p:nvSpPr>
        <p:spPr>
          <a:xfrm>
            <a:off x="6656832" y="1764792"/>
            <a:ext cx="36576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5C6C86"/>
                </a:solidFill>
                <a:latin typeface="Trebuchet MS"/>
              </a:rPr>
              <a:t>A</a:t>
            </a:r>
          </a:p>
        </p:txBody>
      </p:sp>
      <p:sp>
        <p:nvSpPr>
          <p:cNvPr id="19" name="Oval 18"/>
          <p:cNvSpPr/>
          <p:nvPr/>
        </p:nvSpPr>
        <p:spPr>
          <a:xfrm>
            <a:off x="10899648" y="1773936"/>
            <a:ext cx="365760" cy="365760"/>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Connector 19"/>
          <p:cNvCxnSpPr/>
          <p:nvPr/>
        </p:nvCxnSpPr>
        <p:spPr>
          <a:xfrm>
            <a:off x="11020349" y="1894637"/>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1020349" y="1894637"/>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446520" y="2596896"/>
            <a:ext cx="5175504" cy="877824"/>
          </a:xfrm>
          <a:prstGeom prst="roundRect">
            <a:avLst>
              <a:gd name="adj" fmla="val 18750"/>
            </a:avLst>
          </a:prstGeom>
          <a:solidFill>
            <a:srgbClr val="FFFFFF"/>
          </a:solidFill>
          <a:ln w="1270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603504" tIns="54864" rIns="777240" bIns="54864"/>
          <a:lstStyle/>
          <a:p>
            <a:pPr algn="l">
              <a:lnSpc>
                <a:spcPct val="95000"/>
              </a:lnSpc>
              <a:spcBef>
                <a:spcPts val="0"/>
              </a:spcBef>
              <a:spcAft>
                <a:spcPts val="0"/>
              </a:spcAft>
            </a:pPr>
            <a:r>
              <a:rPr sz="1900" b="0" i="0">
                <a:solidFill>
                  <a:srgbClr val="0F1B33"/>
                </a:solidFill>
                <a:latin typeface="Calibri"/>
              </a:rPr>
              <a:t>How on earth ..</a:t>
            </a:r>
          </a:p>
        </p:txBody>
      </p:sp>
      <p:sp>
        <p:nvSpPr>
          <p:cNvPr id="23" name="TextBox 22"/>
          <p:cNvSpPr txBox="1"/>
          <p:nvPr/>
        </p:nvSpPr>
        <p:spPr>
          <a:xfrm>
            <a:off x="6656832" y="2843784"/>
            <a:ext cx="36576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5C6C86"/>
                </a:solidFill>
                <a:latin typeface="Trebuchet MS"/>
              </a:rPr>
              <a:t>B</a:t>
            </a:r>
          </a:p>
        </p:txBody>
      </p:sp>
      <p:sp>
        <p:nvSpPr>
          <p:cNvPr id="24" name="Oval 23"/>
          <p:cNvSpPr/>
          <p:nvPr/>
        </p:nvSpPr>
        <p:spPr>
          <a:xfrm>
            <a:off x="10899648" y="2852928"/>
            <a:ext cx="365760" cy="365760"/>
          </a:xfrm>
          <a:prstGeom prst="ellipse">
            <a:avLst/>
          </a:prstGeom>
          <a:solidFill>
            <a:srgbClr val="B4231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Connector 24"/>
          <p:cNvCxnSpPr/>
          <p:nvPr/>
        </p:nvCxnSpPr>
        <p:spPr>
          <a:xfrm>
            <a:off x="11020349" y="2973629"/>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1020349" y="2973629"/>
            <a:ext cx="124358" cy="124358"/>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446520" y="3675888"/>
            <a:ext cx="5175504" cy="877824"/>
          </a:xfrm>
          <a:prstGeom prst="roundRect">
            <a:avLst>
              <a:gd name="adj" fmla="val 18750"/>
            </a:avLst>
          </a:prstGeom>
          <a:solidFill>
            <a:srgbClr val="FFFFFF"/>
          </a:solidFill>
          <a:ln w="12700">
            <a:solidFill>
              <a:srgbClr val="DCE5F2"/>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603504" tIns="54864" rIns="777240" bIns="54864"/>
          <a:lstStyle/>
          <a:p>
            <a:pPr algn="l">
              <a:lnSpc>
                <a:spcPct val="95000"/>
              </a:lnSpc>
              <a:spcBef>
                <a:spcPts val="0"/>
              </a:spcBef>
              <a:spcAft>
                <a:spcPts val="0"/>
              </a:spcAft>
            </a:pPr>
            <a:r>
              <a:rPr sz="1900" b="0" i="0">
                <a:solidFill>
                  <a:srgbClr val="0F1B33"/>
                </a:solidFill>
                <a:latin typeface="Calibri"/>
              </a:rPr>
              <a:t>Can you explain..</a:t>
            </a:r>
          </a:p>
        </p:txBody>
      </p:sp>
      <p:sp>
        <p:nvSpPr>
          <p:cNvPr id="34" name="TextBox 33"/>
          <p:cNvSpPr txBox="1"/>
          <p:nvPr/>
        </p:nvSpPr>
        <p:spPr>
          <a:xfrm>
            <a:off x="6656832" y="3922776"/>
            <a:ext cx="365760" cy="365760"/>
          </a:xfrm>
          <a:prstGeom prst="rect">
            <a:avLst/>
          </a:prstGeom>
          <a:noFill/>
        </p:spPr>
        <p:txBody>
          <a:bodyPr wrap="square" anchor="t" lIns="0" tIns="0" rIns="0" bIns="0"/>
          <a:lstStyle/>
          <a:p>
            <a:pPr algn="l">
              <a:lnSpc>
                <a:spcPct val="95000"/>
              </a:lnSpc>
              <a:spcBef>
                <a:spcPts val="0"/>
              </a:spcBef>
              <a:spcAft>
                <a:spcPts val="0"/>
              </a:spcAft>
            </a:pPr>
            <a:r>
              <a:rPr sz="1500" b="1" i="0">
                <a:solidFill>
                  <a:srgbClr val="5C6C86"/>
                </a:solidFill>
                <a:latin typeface="Trebuchet MS"/>
              </a:rPr>
              <a:t>C</a:t>
            </a:r>
          </a:p>
        </p:txBody>
      </p:sp>
      <p:sp>
        <p:nvSpPr>
          <p:cNvPr id="35" name="Rounded Rectangle 34"/>
          <p:cNvSpPr/>
          <p:nvPr/>
        </p:nvSpPr>
        <p:spPr>
          <a:xfrm>
            <a:off x="6382512" y="3611880"/>
            <a:ext cx="5303520" cy="1005840"/>
          </a:xfrm>
          <a:prstGeom prst="roundRect">
            <a:avLst>
              <a:gd name="adj" fmla="val 18181"/>
            </a:avLst>
          </a:prstGeom>
          <a:noFill/>
          <a:ln w="33020">
            <a:solidFill>
              <a:srgbClr val="0F6B33"/>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Oval 35"/>
          <p:cNvSpPr/>
          <p:nvPr/>
        </p:nvSpPr>
        <p:spPr>
          <a:xfrm>
            <a:off x="10899648" y="3931920"/>
            <a:ext cx="365760" cy="365760"/>
          </a:xfrm>
          <a:prstGeom prst="ellipse">
            <a:avLst/>
          </a:prstGeom>
          <a:solidFill>
            <a:srgbClr val="0F6B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Connector 36"/>
          <p:cNvCxnSpPr/>
          <p:nvPr/>
        </p:nvCxnSpPr>
        <p:spPr>
          <a:xfrm>
            <a:off x="11002061" y="4118458"/>
            <a:ext cx="62179" cy="6583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1064240" y="4041648"/>
            <a:ext cx="106070" cy="142646"/>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446520" y="4754880"/>
            <a:ext cx="5175504" cy="658368"/>
          </a:xfrm>
          <a:prstGeom prst="roundRect">
            <a:avLst>
              <a:gd name="adj" fmla="val 22222"/>
            </a:avLst>
          </a:prstGeom>
          <a:solidFill>
            <a:srgbClr val="E7F6EC"/>
          </a:solidFill>
          <a:ln w="12700">
            <a:solidFill>
              <a:srgbClr val="BFE3CB"/>
            </a:solidFill>
          </a:ln>
        </p:spPr>
        <p:style>
          <a:lnRef idx="1">
            <a:schemeClr val="accent1"/>
          </a:lnRef>
          <a:fillRef idx="3">
            <a:schemeClr val="accent1"/>
          </a:fillRef>
          <a:effectRef idx="2">
            <a:schemeClr val="accent1"/>
          </a:effectRef>
          <a:fontRef idx="minor">
            <a:schemeClr val="lt1"/>
          </a:fontRef>
        </p:style>
        <p:txBody>
          <a:bodyPr rtlCol="0" anchor="ctr" wrap="square" lIns="164592" tIns="36576" rIns="146304" bIns="36576"/>
          <a:lstStyle/>
          <a:p>
            <a:pPr algn="l">
              <a:lnSpc>
                <a:spcPct val="95000"/>
              </a:lnSpc>
              <a:spcBef>
                <a:spcPts val="0"/>
              </a:spcBef>
              <a:spcAft>
                <a:spcPts val="0"/>
              </a:spcAft>
            </a:pPr>
            <a:r>
              <a:rPr sz="1200" b="1" i="0">
                <a:solidFill>
                  <a:srgbClr val="0F6B33"/>
                </a:solidFill>
                <a:latin typeface="Calibri"/>
              </a:rPr>
              <a:t>You are asking someone to explain — so: “Can you explain…”</a:t>
            </a:r>
          </a:p>
        </p:txBody>
      </p:sp>
      <p:sp>
        <p:nvSpPr>
          <p:cNvPr id="48" name="Rounded Rectangle 47"/>
          <p:cNvSpPr/>
          <p:nvPr/>
        </p:nvSpPr>
        <p:spPr>
          <a:xfrm>
            <a:off x="6446520" y="5541264"/>
            <a:ext cx="2468880" cy="438912"/>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200" b="1" i="0">
                <a:solidFill>
                  <a:srgbClr val="1B3FA8"/>
                </a:solidFill>
                <a:latin typeface="Calibri"/>
              </a:rPr>
              <a:t>Show answer</a:t>
            </a:r>
          </a:p>
        </p:txBody>
      </p:sp>
      <p:sp>
        <p:nvSpPr>
          <p:cNvPr id="79" name="TextBox 78"/>
          <p:cNvSpPr txBox="1"/>
          <p:nvPr/>
        </p:nvSpPr>
        <p:spPr>
          <a:xfrm>
            <a:off x="9189720" y="5614416"/>
            <a:ext cx="237744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an option to answer.</a:t>
            </a:r>
          </a:p>
        </p:txBody>
      </p:sp>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7"/>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par>
                          <p:cTn id="16" presetID="10" presetClass="entr"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350"/>
                                  <p:tgtEl>
                                    <p:spTgt spid="20"/>
                                  </p:tgtEl>
                                </p:cBhvr>
                              </p:animEffect>
                            </p:childTnLst>
                          </p:cTn>
                        </p:par>
                        <p:par>
                          <p:cTn id="19" presetID="10" presetClass="entr"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350"/>
                                  <p:tgtEl>
                                    <p:spTgt spid="21"/>
                                  </p:tgtEl>
                                </p:cBhvr>
                              </p:animEffect>
                            </p:childTnLst>
                          </p:cTn>
                        </p:par>
                      </p:childTnLst>
                    </p:cTn>
                  </p:par>
                </p:childTnLst>
              </p:cTn>
            </p:seq>
            <p:seq concurrent="1" nextAc="seek">
              <p:cTn id="22" restart="whenNotActive" fill="hold" evtFilter="cancelBubble" nodeType="interactiveSeq">
                <p:stCondLst>
                  <p:cond evt="onClick" delay="0">
                    <p:tgtEl>
                      <p:spTgt spid="22"/>
                    </p:tgtEl>
                  </p:cond>
                </p:stCondLst>
                <p:endSync evt="end" delay="0">
                  <p:rtn val="all"/>
                </p:endSync>
                <p:childTnLst>
                  <p:par>
                    <p:cTn id="23" fill="hold">
                      <p:stCondLst>
                        <p:cond delay="0"/>
                      </p:stCondLst>
                      <p:childTnLst>
                        <p:par>
                          <p:cTn id="24" presetID="10" presetClass="entr"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350"/>
                                  <p:tgtEl>
                                    <p:spTgt spid="24"/>
                                  </p:tgtEl>
                                </p:cBhvr>
                              </p:animEffect>
                            </p:childTnLst>
                          </p:cTn>
                        </p:par>
                        <p:par>
                          <p:cTn id="27" presetID="10" presetClass="entr"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350"/>
                                  <p:tgtEl>
                                    <p:spTgt spid="25"/>
                                  </p:tgtEl>
                                </p:cBhvr>
                              </p:animEffect>
                            </p:childTnLst>
                          </p:cTn>
                        </p:par>
                        <p:par>
                          <p:cTn id="30" presetID="10" presetClass="entr"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350"/>
                                  <p:tgtEl>
                                    <p:spTgt spid="26"/>
                                  </p:tgtEl>
                                </p:cBhvr>
                              </p:animEffect>
                            </p:childTnLst>
                          </p:cTn>
                        </p:par>
                      </p:childTnLst>
                    </p:cTn>
                  </p:par>
                </p:childTnLst>
              </p:cTn>
            </p:seq>
            <p:seq concurrent="1" nextAc="seek">
              <p:cTn id="33" restart="whenNotActive" fill="hold" evtFilter="cancelBubble" nodeType="interactiveSeq">
                <p:stCondLst>
                  <p:cond evt="onClick" delay="0">
                    <p:tgtEl>
                      <p:spTgt spid="33"/>
                    </p:tgtEl>
                  </p:cond>
                </p:stCondLst>
                <p:endSync evt="end" delay="0">
                  <p:rtn val="all"/>
                </p:endSync>
                <p:childTnLst>
                  <p:par>
                    <p:cTn id="34" fill="hold">
                      <p:stCondLst>
                        <p:cond delay="0"/>
                      </p:stCondLst>
                      <p:childTnLst>
                        <p:par>
                          <p:cTn id="35" presetID="10" presetClass="entr"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350"/>
                                  <p:tgtEl>
                                    <p:spTgt spid="35"/>
                                  </p:tgtEl>
                                </p:cBhvr>
                              </p:animEffect>
                            </p:childTnLst>
                          </p:cTn>
                        </p:par>
                        <p:par>
                          <p:cTn id="38" presetID="10" presetClass="entr"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350"/>
                                  <p:tgtEl>
                                    <p:spTgt spid="36"/>
                                  </p:tgtEl>
                                </p:cBhvr>
                              </p:animEffect>
                            </p:childTnLst>
                          </p:cTn>
                        </p:par>
                        <p:par>
                          <p:cTn id="41" presetID="10" presetClass="entr"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350"/>
                                  <p:tgtEl>
                                    <p:spTgt spid="37"/>
                                  </p:tgtEl>
                                </p:cBhvr>
                              </p:animEffect>
                            </p:childTnLst>
                          </p:cTn>
                        </p:par>
                        <p:par>
                          <p:cTn id="44" presetID="10" presetClass="entr"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350"/>
                                  <p:tgtEl>
                                    <p:spTgt spid="38"/>
                                  </p:tgtEl>
                                </p:cBhvr>
                              </p:animEffect>
                            </p:childTnLst>
                          </p:cTn>
                        </p:par>
                      </p:childTnLst>
                    </p:cTn>
                  </p:par>
                </p:childTnLst>
              </p:cTn>
            </p:seq>
            <p:seq concurrent="1" nextAc="seek">
              <p:cTn id="47" restart="whenNotActive" fill="hold" evtFilter="cancelBubble" nodeType="interactiveSeq">
                <p:stCondLst>
                  <p:cond evt="onClick" delay="0">
                    <p:tgtEl>
                      <p:spTgt spid="48"/>
                    </p:tgtEl>
                  </p:cond>
                </p:stCondLst>
                <p:endSync evt="end" delay="0">
                  <p:rtn val="all"/>
                </p:endSync>
                <p:childTnLst>
                  <p:par>
                    <p:cTn id="48" fill="hold">
                      <p:stCondLst>
                        <p:cond delay="0"/>
                      </p:stCondLst>
                      <p:childTnLst>
                        <p:par>
                          <p:cTn id="49" presetID="10" presetClass="entr"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50"/>
                                  <p:tgtEl>
                                    <p:spTgt spid="19"/>
                                  </p:tgtEl>
                                </p:cBhvr>
                              </p:animEffect>
                            </p:childTnLst>
                          </p:cTn>
                        </p:par>
                        <p:par>
                          <p:cTn id="52" presetID="10" presetClass="entr"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50"/>
                                  <p:tgtEl>
                                    <p:spTgt spid="20"/>
                                  </p:tgtEl>
                                </p:cBhvr>
                              </p:animEffect>
                            </p:childTnLst>
                          </p:cTn>
                        </p:par>
                        <p:par>
                          <p:cTn id="55" presetID="10" presetClass="entr"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350"/>
                                  <p:tgtEl>
                                    <p:spTgt spid="21"/>
                                  </p:tgtEl>
                                </p:cBhvr>
                              </p:animEffect>
                            </p:childTnLst>
                          </p:cTn>
                        </p:par>
                        <p:par>
                          <p:cTn id="58" presetID="10" presetClass="entr"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350"/>
                                  <p:tgtEl>
                                    <p:spTgt spid="24"/>
                                  </p:tgtEl>
                                </p:cBhvr>
                              </p:animEffect>
                            </p:childTnLst>
                          </p:cTn>
                        </p:par>
                        <p:par>
                          <p:cTn id="61" presetID="10" presetClass="entr"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350"/>
                                  <p:tgtEl>
                                    <p:spTgt spid="25"/>
                                  </p:tgtEl>
                                </p:cBhvr>
                              </p:animEffect>
                            </p:childTnLst>
                          </p:cTn>
                        </p:par>
                        <p:par>
                          <p:cTn id="64" presetID="10" presetClass="entr"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350"/>
                                  <p:tgtEl>
                                    <p:spTgt spid="26"/>
                                  </p:tgtEl>
                                </p:cBhvr>
                              </p:animEffect>
                            </p:childTnLst>
                          </p:cTn>
                        </p:par>
                        <p:par>
                          <p:cTn id="67" presetID="10" presetClass="entr"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350"/>
                                  <p:tgtEl>
                                    <p:spTgt spid="35"/>
                                  </p:tgtEl>
                                </p:cBhvr>
                              </p:animEffect>
                            </p:childTnLst>
                          </p:cTn>
                        </p:par>
                        <p:par>
                          <p:cTn id="70" presetID="10" presetClass="entr"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350"/>
                                  <p:tgtEl>
                                    <p:spTgt spid="36"/>
                                  </p:tgtEl>
                                </p:cBhvr>
                              </p:animEffect>
                            </p:childTnLst>
                          </p:cTn>
                        </p:par>
                        <p:par>
                          <p:cTn id="73" presetID="10" presetClass="entr" fill="hold" grpId="0"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350"/>
                                  <p:tgtEl>
                                    <p:spTgt spid="37"/>
                                  </p:tgtEl>
                                </p:cBhvr>
                              </p:animEffect>
                            </p:childTnLst>
                          </p:cTn>
                        </p:par>
                        <p:par>
                          <p:cTn id="76" presetID="10" presetClass="entr" fill="hold" grpId="0" nodeType="with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350"/>
                                  <p:tgtEl>
                                    <p:spTgt spid="38"/>
                                  </p:tgtEl>
                                </p:cBhvr>
                              </p:animEffect>
                            </p:childTnLst>
                          </p:cTn>
                        </p:par>
                      </p:childTnLst>
                    </p:cTn>
                  </p:par>
                </p:childTnLst>
              </p:cTn>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g1"/>
          <p:cNvSpPr/>
          <p:nvPr/>
        </p:nvSpPr>
        <p:spPr>
          <a:xfrm>
            <a:off x="9509760" y="-1737360"/>
            <a:ext cx="4572000" cy="45720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371600" y="4754880"/>
            <a:ext cx="3200400" cy="3200400"/>
          </a:xfrm>
          <a:prstGeom prst="ellipse">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DCE5F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11683708" cy="5029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5B6A82"/>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5B6A82"/>
                </a:solidFill>
                <a:latin typeface="Calibri"/>
              </a:rPr>
              <a:t>23 / 24</a:t>
            </a:r>
          </a:p>
        </p:txBody>
      </p:sp>
      <p:sp>
        <p:nvSpPr>
          <p:cNvPr id="9" name="Rounded Rectangle 8"/>
          <p:cNvSpPr/>
          <p:nvPr/>
        </p:nvSpPr>
        <p:spPr>
          <a:xfrm>
            <a:off x="8338479" y="118872"/>
            <a:ext cx="3432592" cy="438912"/>
          </a:xfrm>
          <a:prstGeom prst="roundRect">
            <a:avLst>
              <a:gd name="adj" fmla="val 50000"/>
            </a:avLst>
          </a:prstGeom>
          <a:solidFill>
            <a:srgbClr val="FFFFFF">
              <a:alpha val="64000"/>
            </a:srgbClr>
          </a:solidFill>
          <a:ln w="10160">
            <a:solidFill>
              <a:srgbClr val="E4EBF6"/>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TextBox 10"/>
          <p:cNvSpPr txBox="1"/>
          <p:nvPr/>
        </p:nvSpPr>
        <p:spPr>
          <a:xfrm>
            <a:off x="566928" y="365760"/>
            <a:ext cx="5486400" cy="256032"/>
          </a:xfrm>
          <a:prstGeom prst="rect">
            <a:avLst/>
          </a:prstGeom>
          <a:noFill/>
        </p:spPr>
        <p:txBody>
          <a:bodyPr wrap="square" anchor="t" lIns="0" tIns="0" rIns="0" bIns="0"/>
          <a:lstStyle/>
          <a:p>
            <a:pPr algn="l">
              <a:lnSpc>
                <a:spcPct val="95000"/>
              </a:lnSpc>
              <a:spcBef>
                <a:spcPts val="0"/>
              </a:spcBef>
              <a:spcAft>
                <a:spcPts val="0"/>
              </a:spcAft>
            </a:pPr>
            <a:r>
              <a:rPr sz="1200" b="1" i="0" spc="180">
                <a:solidFill>
                  <a:srgbClr val="1D4ED8"/>
                </a:solidFill>
                <a:latin typeface="Calibri"/>
              </a:rPr>
              <a:t>PUT IT IN ORDER</a:t>
            </a:r>
          </a:p>
        </p:txBody>
      </p:sp>
      <p:sp>
        <p:nvSpPr>
          <p:cNvPr id="12" name="TextBox 11"/>
          <p:cNvSpPr txBox="1"/>
          <p:nvPr/>
        </p:nvSpPr>
        <p:spPr>
          <a:xfrm>
            <a:off x="566928" y="841248"/>
            <a:ext cx="10698480" cy="1371600"/>
          </a:xfrm>
          <a:prstGeom prst="rect">
            <a:avLst/>
          </a:prstGeom>
          <a:noFill/>
        </p:spPr>
        <p:txBody>
          <a:bodyPr wrap="square" anchor="t" lIns="0" tIns="0" rIns="0" bIns="0"/>
          <a:lstStyle/>
          <a:p>
            <a:pPr algn="l">
              <a:lnSpc>
                <a:spcPct val="92000"/>
              </a:lnSpc>
              <a:spcBef>
                <a:spcPts val="0"/>
              </a:spcBef>
              <a:spcAft>
                <a:spcPts val="0"/>
              </a:spcAft>
            </a:pPr>
            <a:r>
              <a:rPr sz="2700" b="1" i="0">
                <a:solidFill>
                  <a:srgbClr val="0F1B33"/>
                </a:solidFill>
                <a:latin typeface="Trebuchet MS"/>
              </a:rPr>
              <a:t>Put the conversation in the correct order</a:t>
            </a:r>
          </a:p>
        </p:txBody>
      </p:sp>
      <p:sp>
        <p:nvSpPr>
          <p:cNvPr id="13" name="Rounded Rectangle 12"/>
          <p:cNvSpPr/>
          <p:nvPr/>
        </p:nvSpPr>
        <p:spPr>
          <a:xfrm>
            <a:off x="896112" y="1554480"/>
            <a:ext cx="4846320" cy="1133856"/>
          </a:xfrm>
          <a:prstGeom prst="roundRect">
            <a:avLst>
              <a:gd name="adj" fmla="val 14516"/>
            </a:avLst>
          </a:prstGeom>
          <a:solidFill>
            <a:srgbClr val="FFFFFF"/>
          </a:solidFill>
          <a:ln w="12700">
            <a:solidFill>
              <a:srgbClr val="DCE5F2"/>
            </a:solidFill>
          </a:ln>
          <a:effectLst>
            <a:outerShdw blurRad="2286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1737360" y="1755648"/>
            <a:ext cx="3803904" cy="768096"/>
          </a:xfrm>
          <a:prstGeom prst="rect">
            <a:avLst/>
          </a:prstGeom>
          <a:noFill/>
        </p:spPr>
        <p:txBody>
          <a:bodyPr wrap="square" anchor="t" lIns="0" tIns="0" rIns="0" bIns="0"/>
          <a:lstStyle/>
          <a:p>
            <a:pPr algn="l">
              <a:lnSpc>
                <a:spcPct val="98000"/>
              </a:lnSpc>
              <a:spcBef>
                <a:spcPts val="0"/>
              </a:spcBef>
              <a:spcAft>
                <a:spcPts val="0"/>
              </a:spcAft>
            </a:pPr>
            <a:r>
              <a:rPr sz="1700" b="0" i="0">
                <a:solidFill>
                  <a:srgbClr val="0F1B33"/>
                </a:solidFill>
                <a:latin typeface="Calibri"/>
              </a:rPr>
              <a:t>How do you add a picture to Photoshop?</a:t>
            </a:r>
          </a:p>
        </p:txBody>
      </p:sp>
      <p:sp>
        <p:nvSpPr>
          <p:cNvPr id="15" name="Rounded Rectangle 14"/>
          <p:cNvSpPr/>
          <p:nvPr/>
        </p:nvSpPr>
        <p:spPr>
          <a:xfrm>
            <a:off x="1078992" y="1737360"/>
            <a:ext cx="475488" cy="475488"/>
          </a:xfrm>
          <a:prstGeom prst="roundRect">
            <a:avLst>
              <a:gd name="adj" fmla="val 50000"/>
            </a:avLst>
          </a:prstGeom>
          <a:solidFill>
            <a:srgbClr val="F4F8FF"/>
          </a:solidFill>
          <a:ln w="15240">
            <a:solidFill>
              <a:srgbClr val="CFDAEB"/>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Oval 15"/>
          <p:cNvSpPr/>
          <p:nvPr/>
        </p:nvSpPr>
        <p:spPr>
          <a:xfrm>
            <a:off x="1078992" y="1737360"/>
            <a:ext cx="475488" cy="475488"/>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spcBef>
                <a:spcPts val="0"/>
              </a:spcBef>
              <a:spcAft>
                <a:spcPts val="0"/>
              </a:spcAft>
            </a:pPr>
            <a:r>
              <a:rPr sz="1500" b="1" i="0">
                <a:solidFill>
                  <a:srgbClr val="FFFFFF"/>
                </a:solidFill>
                <a:latin typeface="Calibri"/>
              </a:rPr>
              <a:t>1</a:t>
            </a:r>
          </a:p>
        </p:txBody>
      </p:sp>
      <p:sp>
        <p:nvSpPr>
          <p:cNvPr id="17" name="Rounded Rectangle 16"/>
          <p:cNvSpPr/>
          <p:nvPr/>
        </p:nvSpPr>
        <p:spPr>
          <a:xfrm>
            <a:off x="6309360" y="1554480"/>
            <a:ext cx="4846320" cy="1133856"/>
          </a:xfrm>
          <a:prstGeom prst="roundRect">
            <a:avLst>
              <a:gd name="adj" fmla="val 14516"/>
            </a:avLst>
          </a:prstGeom>
          <a:solidFill>
            <a:srgbClr val="FFFFFF"/>
          </a:solidFill>
          <a:ln w="12700">
            <a:solidFill>
              <a:srgbClr val="DCE5F2"/>
            </a:solidFill>
          </a:ln>
          <a:effectLst>
            <a:outerShdw blurRad="2286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7150608" y="1755648"/>
            <a:ext cx="3803904" cy="768096"/>
          </a:xfrm>
          <a:prstGeom prst="rect">
            <a:avLst/>
          </a:prstGeom>
          <a:noFill/>
        </p:spPr>
        <p:txBody>
          <a:bodyPr wrap="square" anchor="t" lIns="0" tIns="0" rIns="0" bIns="0"/>
          <a:lstStyle/>
          <a:p>
            <a:pPr algn="l">
              <a:lnSpc>
                <a:spcPct val="98000"/>
              </a:lnSpc>
              <a:spcBef>
                <a:spcPts val="0"/>
              </a:spcBef>
              <a:spcAft>
                <a:spcPts val="0"/>
              </a:spcAft>
            </a:pPr>
            <a:r>
              <a:rPr sz="1700" b="0" i="0">
                <a:solidFill>
                  <a:srgbClr val="0F1B33"/>
                </a:solidFill>
                <a:latin typeface="Calibri"/>
              </a:rPr>
              <a:t>Just drag &amp; drop from your files first</a:t>
            </a:r>
          </a:p>
        </p:txBody>
      </p:sp>
      <p:sp>
        <p:nvSpPr>
          <p:cNvPr id="19" name="Rounded Rectangle 18"/>
          <p:cNvSpPr/>
          <p:nvPr/>
        </p:nvSpPr>
        <p:spPr>
          <a:xfrm>
            <a:off x="6492240" y="1737360"/>
            <a:ext cx="475488" cy="475488"/>
          </a:xfrm>
          <a:prstGeom prst="roundRect">
            <a:avLst>
              <a:gd name="adj" fmla="val 50000"/>
            </a:avLst>
          </a:prstGeom>
          <a:solidFill>
            <a:srgbClr val="F4F8FF"/>
          </a:solidFill>
          <a:ln w="15240">
            <a:solidFill>
              <a:srgbClr val="CFDAEB"/>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Oval 19"/>
          <p:cNvSpPr/>
          <p:nvPr/>
        </p:nvSpPr>
        <p:spPr>
          <a:xfrm>
            <a:off x="6492240" y="1737360"/>
            <a:ext cx="475488" cy="475488"/>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spcBef>
                <a:spcPts val="0"/>
              </a:spcBef>
              <a:spcAft>
                <a:spcPts val="0"/>
              </a:spcAft>
            </a:pPr>
            <a:r>
              <a:rPr sz="1500" b="1" i="0">
                <a:solidFill>
                  <a:srgbClr val="FFFFFF"/>
                </a:solidFill>
                <a:latin typeface="Calibri"/>
              </a:rPr>
              <a:t>2</a:t>
            </a:r>
          </a:p>
        </p:txBody>
      </p:sp>
      <p:sp>
        <p:nvSpPr>
          <p:cNvPr id="21" name="Rounded Rectangle 20"/>
          <p:cNvSpPr/>
          <p:nvPr/>
        </p:nvSpPr>
        <p:spPr>
          <a:xfrm>
            <a:off x="896112" y="3017520"/>
            <a:ext cx="4846320" cy="1133856"/>
          </a:xfrm>
          <a:prstGeom prst="roundRect">
            <a:avLst>
              <a:gd name="adj" fmla="val 14516"/>
            </a:avLst>
          </a:prstGeom>
          <a:solidFill>
            <a:srgbClr val="FFFFFF"/>
          </a:solidFill>
          <a:ln w="12700">
            <a:solidFill>
              <a:srgbClr val="DCE5F2"/>
            </a:solidFill>
          </a:ln>
          <a:effectLst>
            <a:outerShdw blurRad="2286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TextBox 21"/>
          <p:cNvSpPr txBox="1"/>
          <p:nvPr/>
        </p:nvSpPr>
        <p:spPr>
          <a:xfrm>
            <a:off x="1737360" y="3218688"/>
            <a:ext cx="3803904" cy="768096"/>
          </a:xfrm>
          <a:prstGeom prst="rect">
            <a:avLst/>
          </a:prstGeom>
          <a:noFill/>
        </p:spPr>
        <p:txBody>
          <a:bodyPr wrap="square" anchor="t" lIns="0" tIns="0" rIns="0" bIns="0"/>
          <a:lstStyle/>
          <a:p>
            <a:pPr algn="l">
              <a:lnSpc>
                <a:spcPct val="98000"/>
              </a:lnSpc>
              <a:spcBef>
                <a:spcPts val="0"/>
              </a:spcBef>
              <a:spcAft>
                <a:spcPts val="0"/>
              </a:spcAft>
            </a:pPr>
            <a:r>
              <a:rPr sz="1700" b="0" i="0">
                <a:solidFill>
                  <a:srgbClr val="0F1B33"/>
                </a:solidFill>
                <a:latin typeface="Calibri"/>
              </a:rPr>
              <a:t>Great</a:t>
            </a:r>
          </a:p>
        </p:txBody>
      </p:sp>
      <p:sp>
        <p:nvSpPr>
          <p:cNvPr id="23" name="Rounded Rectangle 22"/>
          <p:cNvSpPr/>
          <p:nvPr/>
        </p:nvSpPr>
        <p:spPr>
          <a:xfrm>
            <a:off x="1078992" y="3200400"/>
            <a:ext cx="475488" cy="475488"/>
          </a:xfrm>
          <a:prstGeom prst="roundRect">
            <a:avLst>
              <a:gd name="adj" fmla="val 50000"/>
            </a:avLst>
          </a:prstGeom>
          <a:solidFill>
            <a:srgbClr val="F4F8FF"/>
          </a:solidFill>
          <a:ln w="15240">
            <a:solidFill>
              <a:srgbClr val="CFDAEB"/>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Oval 23"/>
          <p:cNvSpPr/>
          <p:nvPr/>
        </p:nvSpPr>
        <p:spPr>
          <a:xfrm>
            <a:off x="1078992" y="3200400"/>
            <a:ext cx="475488" cy="475488"/>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spcBef>
                <a:spcPts val="0"/>
              </a:spcBef>
              <a:spcAft>
                <a:spcPts val="0"/>
              </a:spcAft>
            </a:pPr>
            <a:r>
              <a:rPr sz="1500" b="1" i="0">
                <a:solidFill>
                  <a:srgbClr val="FFFFFF"/>
                </a:solidFill>
                <a:latin typeface="Calibri"/>
              </a:rPr>
              <a:t>3</a:t>
            </a:r>
          </a:p>
        </p:txBody>
      </p:sp>
      <p:sp>
        <p:nvSpPr>
          <p:cNvPr id="26" name="Rounded Rectangle 25"/>
          <p:cNvSpPr/>
          <p:nvPr/>
        </p:nvSpPr>
        <p:spPr>
          <a:xfrm>
            <a:off x="6309360" y="3017520"/>
            <a:ext cx="4846320" cy="1133856"/>
          </a:xfrm>
          <a:prstGeom prst="roundRect">
            <a:avLst>
              <a:gd name="adj" fmla="val 14516"/>
            </a:avLst>
          </a:prstGeom>
          <a:solidFill>
            <a:srgbClr val="FFFFFF"/>
          </a:solidFill>
          <a:ln w="12700">
            <a:solidFill>
              <a:srgbClr val="DCE5F2"/>
            </a:solidFill>
          </a:ln>
          <a:effectLst>
            <a:outerShdw blurRad="228600" dist="50800" dir="5400000" rotWithShape="0">
              <a:srgbClr val="0F1B33">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TextBox 26"/>
          <p:cNvSpPr txBox="1"/>
          <p:nvPr/>
        </p:nvSpPr>
        <p:spPr>
          <a:xfrm>
            <a:off x="7150608" y="3218688"/>
            <a:ext cx="3803904" cy="768096"/>
          </a:xfrm>
          <a:prstGeom prst="rect">
            <a:avLst/>
          </a:prstGeom>
          <a:noFill/>
        </p:spPr>
        <p:txBody>
          <a:bodyPr wrap="square" anchor="t" lIns="0" tIns="0" rIns="0" bIns="0"/>
          <a:lstStyle/>
          <a:p>
            <a:pPr algn="l">
              <a:lnSpc>
                <a:spcPct val="98000"/>
              </a:lnSpc>
              <a:spcBef>
                <a:spcPts val="0"/>
              </a:spcBef>
              <a:spcAft>
                <a:spcPts val="0"/>
              </a:spcAft>
            </a:pPr>
            <a:r>
              <a:rPr sz="1700" b="0" i="0">
                <a:solidFill>
                  <a:srgbClr val="0F1B33"/>
                </a:solidFill>
                <a:latin typeface="Calibri"/>
              </a:rPr>
              <a:t>Ahaa, I get it now</a:t>
            </a:r>
          </a:p>
        </p:txBody>
      </p:sp>
      <p:sp>
        <p:nvSpPr>
          <p:cNvPr id="28" name="Rounded Rectangle 27"/>
          <p:cNvSpPr/>
          <p:nvPr/>
        </p:nvSpPr>
        <p:spPr>
          <a:xfrm>
            <a:off x="6492240" y="3200400"/>
            <a:ext cx="475488" cy="475488"/>
          </a:xfrm>
          <a:prstGeom prst="roundRect">
            <a:avLst>
              <a:gd name="adj" fmla="val 50000"/>
            </a:avLst>
          </a:prstGeom>
          <a:solidFill>
            <a:srgbClr val="F4F8FF"/>
          </a:solidFill>
          <a:ln w="15240">
            <a:solidFill>
              <a:srgbClr val="CFDAEB"/>
            </a:solid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Oval 28"/>
          <p:cNvSpPr/>
          <p:nvPr/>
        </p:nvSpPr>
        <p:spPr>
          <a:xfrm>
            <a:off x="6492240" y="3200400"/>
            <a:ext cx="475488" cy="475488"/>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lnSpc>
                <a:spcPct val="95000"/>
              </a:lnSpc>
              <a:spcBef>
                <a:spcPts val="0"/>
              </a:spcBef>
              <a:spcAft>
                <a:spcPts val="0"/>
              </a:spcAft>
            </a:pPr>
            <a:r>
              <a:rPr sz="1500" b="1" i="0">
                <a:solidFill>
                  <a:srgbClr val="FFFFFF"/>
                </a:solidFill>
                <a:latin typeface="Calibri"/>
              </a:rPr>
              <a:t>4</a:t>
            </a:r>
          </a:p>
        </p:txBody>
      </p:sp>
      <p:sp>
        <p:nvSpPr>
          <p:cNvPr id="31" name="Rounded Rectangle 30"/>
          <p:cNvSpPr/>
          <p:nvPr/>
        </p:nvSpPr>
        <p:spPr>
          <a:xfrm>
            <a:off x="896112" y="4572000"/>
            <a:ext cx="2743200" cy="457200"/>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200" b="1" i="0">
                <a:solidFill>
                  <a:srgbClr val="1B3FA8"/>
                </a:solidFill>
                <a:latin typeface="Calibri"/>
              </a:rPr>
              <a:t>Show the order</a:t>
            </a:r>
          </a:p>
        </p:txBody>
      </p:sp>
      <p:sp>
        <p:nvSpPr>
          <p:cNvPr id="45" name="TextBox 44"/>
          <p:cNvSpPr txBox="1"/>
          <p:nvPr/>
        </p:nvSpPr>
        <p:spPr>
          <a:xfrm>
            <a:off x="896112" y="5157216"/>
            <a:ext cx="7315200" cy="457200"/>
          </a:xfrm>
          <a:prstGeom prst="rect">
            <a:avLst/>
          </a:prstGeom>
          <a:noFill/>
        </p:spPr>
        <p:txBody>
          <a:bodyPr wrap="square" anchor="t" lIns="0" tIns="0" rIns="0" bIns="0"/>
          <a:lstStyle/>
          <a:p>
            <a:pPr algn="l">
              <a:lnSpc>
                <a:spcPct val="95000"/>
              </a:lnSpc>
              <a:spcBef>
                <a:spcPts val="0"/>
              </a:spcBef>
              <a:spcAft>
                <a:spcPts val="0"/>
              </a:spcAft>
            </a:pPr>
            <a:r>
              <a:rPr sz="1200" b="0" i="1">
                <a:solidFill>
                  <a:srgbClr val="5C6C86"/>
                </a:solidFill>
                <a:latin typeface="Calibri"/>
              </a:rPr>
              <a:t>Tap each message to check its place in the conversation.</a:t>
            </a:r>
          </a:p>
        </p:txBody>
      </p:sp>
      <p:pic>
        <p:nvPicPr>
          <p:cNvPr id="46" name="Picture 45" descr="image22.png"/>
          <p:cNvPicPr>
            <a:picLocks noChangeAspect="1"/>
          </p:cNvPicPr>
          <p:nvPr/>
        </p:nvPicPr>
        <p:blipFill>
          <a:blip r:embed="rId3"/>
          <a:stretch>
            <a:fillRect/>
          </a:stretch>
        </p:blipFill>
        <p:spPr>
          <a:xfrm>
            <a:off x="10099976" y="4535424"/>
            <a:ext cx="1014126" cy="1188720"/>
          </a:xfrm>
          <a:prstGeom prst="rect">
            <a:avLst/>
          </a:prstGeom>
        </p:spPr>
      </p:pic>
    </p:spTree>
  </p:cSld>
  <p:clrMapOvr>
    <a:masterClrMapping/>
  </p:clrMapOvr>
  <p:transition xmlns:p14="http://schemas.microsoft.com/office/powerpoint/2010/main" spd="med" p14:dur="900">
    <p14:morph type="byObject"/>
  </p:transition>
  <p:timing>
    <p:tnLst>
      <p:par>
        <p:cTn id="1" dur="indefinite" restart="never" nodeType="tmRoot">
          <p:childTnLst>
            <p:seq concurrent="1" nextAc="seek">
              <p:cTn id="2" dur="indefinite" nodeType="mainSeq">
                <p:childTnLst/>
                <p:prevCondLst>
                  <p:cond evt="onPrev" delay="0">
                    <p:tgtEl>
                      <p:sldTgt/>
                    </p:tgtEl>
                  </p:cond>
                </p:prevCondLst>
                <p:nextCondLst>
                  <p:cond evt="onNext" delay="0">
                    <p:tgtEl>
                      <p:sldTgt/>
                    </p:tgtEl>
                  </p:cond>
                </p:nextCondLst>
              </p:cTn>
            </p:seq>
            <p:seq concurrent="1" nextAc="seek">
              <p:cTn id="11" restart="whenNotActive" fill="hold" evtFilter="cancelBubble" nodeType="interactiveSeq">
                <p:stCondLst>
                  <p:cond evt="onClick" delay="0">
                    <p:tgtEl>
                      <p:spTgt spid="13"/>
                    </p:tgtEl>
                  </p:cond>
                </p:stCondLst>
                <p:endSync evt="end" delay="0">
                  <p:rtn val="all"/>
                </p:endSync>
                <p:childTnLst>
                  <p:par>
                    <p:cTn id="12" fill="hold">
                      <p:stCondLst>
                        <p:cond delay="0"/>
                      </p:stCondLst>
                      <p:childTnLst>
                        <p:par>
                          <p:cTn id="13" presetID="10" presetClass="entr"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childTnLst>
                    </p:cTn>
                  </p:par>
                </p:childTnLst>
              </p:cTn>
            </p:seq>
            <p:seq concurrent="1" nextAc="seek">
              <p:cTn id="16" restart="whenNotActive" fill="hold" evtFilter="cancelBubble" nodeType="interactiveSeq">
                <p:stCondLst>
                  <p:cond evt="onClick" delay="0">
                    <p:tgtEl>
                      <p:spTgt spid="17"/>
                    </p:tgtEl>
                  </p:cond>
                </p:stCondLst>
                <p:endSync evt="end" delay="0">
                  <p:rtn val="all"/>
                </p:endSync>
                <p:childTnLst>
                  <p:par>
                    <p:cTn id="17" fill="hold">
                      <p:stCondLst>
                        <p:cond delay="0"/>
                      </p:stCondLst>
                      <p:childTnLst>
                        <p:par>
                          <p:cTn id="18" presetID="10" presetClass="entr"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350"/>
                                  <p:tgtEl>
                                    <p:spTgt spid="20"/>
                                  </p:tgtEl>
                                </p:cBhvr>
                              </p:animEffect>
                            </p:childTnLst>
                          </p:cTn>
                        </p:par>
                      </p:childTnLst>
                    </p:cTn>
                  </p:par>
                </p:childTnLst>
              </p:cTn>
            </p:seq>
            <p:seq concurrent="1" nextAc="seek">
              <p:cTn id="21" restart="whenNotActive" fill="hold" evtFilter="cancelBubble" nodeType="interactiveSeq">
                <p:stCondLst>
                  <p:cond evt="onClick" delay="0">
                    <p:tgtEl>
                      <p:spTgt spid="21"/>
                    </p:tgtEl>
                  </p:cond>
                </p:stCondLst>
                <p:endSync evt="end" delay="0">
                  <p:rtn val="all"/>
                </p:endSync>
                <p:childTnLst>
                  <p:par>
                    <p:cTn id="22" fill="hold">
                      <p:stCondLst>
                        <p:cond delay="0"/>
                      </p:stCondLst>
                      <p:childTnLst>
                        <p:par>
                          <p:cTn id="23" presetID="10" presetClass="entr"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350"/>
                                  <p:tgtEl>
                                    <p:spTgt spid="24"/>
                                  </p:tgtEl>
                                </p:cBhvr>
                              </p:animEffect>
                            </p:childTnLst>
                          </p:cTn>
                        </p:par>
                      </p:childTnLst>
                    </p:cTn>
                  </p:par>
                </p:childTnLst>
              </p:cTn>
            </p:seq>
            <p:seq concurrent="1" nextAc="seek">
              <p:cTn id="26" restart="whenNotActive" fill="hold" evtFilter="cancelBubble" nodeType="interactiveSeq">
                <p:stCondLst>
                  <p:cond evt="onClick" delay="0">
                    <p:tgtEl>
                      <p:spTgt spid="26"/>
                    </p:tgtEl>
                  </p:cond>
                </p:stCondLst>
                <p:endSync evt="end" delay="0">
                  <p:rtn val="all"/>
                </p:endSync>
                <p:childTnLst>
                  <p:par>
                    <p:cTn id="27" fill="hold">
                      <p:stCondLst>
                        <p:cond delay="0"/>
                      </p:stCondLst>
                      <p:childTnLst>
                        <p:par>
                          <p:cTn id="28" presetID="10" presetClass="entr"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350"/>
                                  <p:tgtEl>
                                    <p:spTgt spid="29"/>
                                  </p:tgtEl>
                                </p:cBhvr>
                              </p:animEffect>
                            </p:childTnLst>
                          </p:cTn>
                        </p:par>
                      </p:childTnLst>
                    </p:cTn>
                  </p:par>
                </p:childTnLst>
              </p:cTn>
            </p:seq>
            <p:seq concurrent="1" nextAc="seek">
              <p:cTn id="31" restart="whenNotActive" fill="hold" evtFilter="cancelBubble" nodeType="interactiveSeq">
                <p:stCondLst>
                  <p:cond evt="onClick" delay="0">
                    <p:tgtEl>
                      <p:spTgt spid="31"/>
                    </p:tgtEl>
                  </p:cond>
                </p:stCondLst>
                <p:endSync evt="end" delay="0">
                  <p:rtn val="all"/>
                </p:endSync>
                <p:childTnLst>
                  <p:par>
                    <p:cTn id="32" fill="hold">
                      <p:stCondLst>
                        <p:cond delay="0"/>
                      </p:stCondLst>
                      <p:childTnLst>
                        <p:par>
                          <p:cTn id="33" presetID="10" presetClass="entr"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50"/>
                                  <p:tgtEl>
                                    <p:spTgt spid="16"/>
                                  </p:tgtEl>
                                </p:cBhvr>
                              </p:animEffect>
                            </p:childTnLst>
                          </p:cTn>
                        </p:par>
                        <p:par>
                          <p:cTn id="36" presetID="10" presetClass="entr"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350"/>
                                  <p:tgtEl>
                                    <p:spTgt spid="20"/>
                                  </p:tgtEl>
                                </p:cBhvr>
                              </p:animEffect>
                            </p:childTnLst>
                          </p:cTn>
                        </p:par>
                        <p:par>
                          <p:cTn id="39" presetID="10" presetClass="entr"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350"/>
                                  <p:tgtEl>
                                    <p:spTgt spid="24"/>
                                  </p:tgtEl>
                                </p:cBhvr>
                              </p:animEffect>
                            </p:childTnLst>
                          </p:cTn>
                        </p:par>
                        <p:par>
                          <p:cTn id="42" presetID="10" presetClass="entr"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350"/>
                                  <p:tgtEl>
                                    <p:spTgt spid="29"/>
                                  </p:tgtEl>
                                </p:cBhvr>
                              </p:animEffect>
                            </p:childTnLst>
                          </p:cTn>
                        </p:par>
                      </p:childTnLst>
                    </p:cTn>
                  </p:par>
                </p:childTnLst>
              </p:cTn>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sp>
        <p:nvSpPr>
          <p:cNvPr id="2" name="!!bg1"/>
          <p:cNvSpPr/>
          <p:nvPr/>
        </p:nvSpPr>
        <p:spPr>
          <a:xfrm>
            <a:off x="7680960" y="-1828800"/>
            <a:ext cx="6583680" cy="6583680"/>
          </a:xfrm>
          <a:prstGeom prst="ellipse">
            <a:avLst/>
          </a:prstGeom>
          <a:solidFill>
            <a:srgbClr val="14284A">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bg2"/>
          <p:cNvSpPr/>
          <p:nvPr/>
        </p:nvSpPr>
        <p:spPr>
          <a:xfrm>
            <a:off x="-1645920" y="4389120"/>
            <a:ext cx="4023360" cy="4023360"/>
          </a:xfrm>
          <a:prstGeom prst="ellipse">
            <a:avLst/>
          </a:prstGeom>
          <a:solidFill>
            <a:srgbClr val="14284A">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rack"/>
          <p:cNvSpPr/>
          <p:nvPr/>
        </p:nvSpPr>
        <p:spPr>
          <a:xfrm>
            <a:off x="0" y="0"/>
            <a:ext cx="12191695" cy="50292"/>
          </a:xfrm>
          <a:prstGeom prst="rect">
            <a:avLst/>
          </a:prstGeom>
          <a:solidFill>
            <a:srgbClr val="2A447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prog"/>
          <p:cNvSpPr/>
          <p:nvPr/>
        </p:nvSpPr>
        <p:spPr>
          <a:xfrm>
            <a:off x="0" y="0"/>
            <a:ext cx="12191695" cy="50292"/>
          </a:xfrm>
          <a:prstGeom prst="rect">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Rectangle 5"/>
          <p:cNvSpPr/>
          <p:nvPr/>
        </p:nvSpPr>
        <p:spPr>
          <a:xfrm>
            <a:off x="566928" y="6382512"/>
            <a:ext cx="402336" cy="25603"/>
          </a:xfrm>
          <a:prstGeom prst="rect">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1078992" y="6309360"/>
            <a:ext cx="3108960" cy="256032"/>
          </a:xfrm>
          <a:prstGeom prst="rect">
            <a:avLst/>
          </a:prstGeom>
          <a:noFill/>
        </p:spPr>
        <p:txBody>
          <a:bodyPr wrap="square" anchor="t" lIns="0" tIns="0" rIns="0" bIns="0"/>
          <a:lstStyle/>
          <a:p>
            <a:pPr algn="l">
              <a:lnSpc>
                <a:spcPct val="95000"/>
              </a:lnSpc>
              <a:spcBef>
                <a:spcPts val="0"/>
              </a:spcBef>
              <a:spcAft>
                <a:spcPts val="0"/>
              </a:spcAft>
            </a:pPr>
            <a:r>
              <a:rPr sz="1200" b="0" i="0" spc="40">
                <a:solidFill>
                  <a:srgbClr val="93A9CC"/>
                </a:solidFill>
                <a:latin typeface="Calibri"/>
              </a:rPr>
              <a:t>Connected by technology</a:t>
            </a:r>
          </a:p>
        </p:txBody>
      </p:sp>
      <p:sp>
        <p:nvSpPr>
          <p:cNvPr id="8" name="TextBox 7"/>
          <p:cNvSpPr txBox="1"/>
          <p:nvPr/>
        </p:nvSpPr>
        <p:spPr>
          <a:xfrm>
            <a:off x="11140135" y="6309360"/>
            <a:ext cx="1005840" cy="256032"/>
          </a:xfrm>
          <a:prstGeom prst="rect">
            <a:avLst/>
          </a:prstGeom>
          <a:noFill/>
        </p:spPr>
        <p:txBody>
          <a:bodyPr wrap="square" anchor="t" lIns="0" tIns="0" rIns="0" bIns="0"/>
          <a:lstStyle/>
          <a:p>
            <a:pPr algn="r">
              <a:lnSpc>
                <a:spcPct val="95000"/>
              </a:lnSpc>
              <a:spcBef>
                <a:spcPts val="0"/>
              </a:spcBef>
              <a:spcAft>
                <a:spcPts val="0"/>
              </a:spcAft>
            </a:pPr>
            <a:r>
              <a:rPr sz="1200" b="0" i="0" spc="40">
                <a:solidFill>
                  <a:srgbClr val="93A9CC"/>
                </a:solidFill>
                <a:latin typeface="Calibri"/>
              </a:rPr>
              <a:t>24 / 24</a:t>
            </a:r>
          </a:p>
        </p:txBody>
      </p:sp>
      <p:sp>
        <p:nvSpPr>
          <p:cNvPr id="9" name="Rounded Rectangle 8"/>
          <p:cNvSpPr/>
          <p:nvPr/>
        </p:nvSpPr>
        <p:spPr>
          <a:xfrm>
            <a:off x="8338479" y="118872"/>
            <a:ext cx="3432592" cy="43891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10" name="Picture 9" descr="logos_strip.png"/>
          <p:cNvPicPr>
            <a:picLocks noChangeAspect="1"/>
          </p:cNvPicPr>
          <p:nvPr/>
        </p:nvPicPr>
        <p:blipFill>
          <a:blip r:embed="rId2"/>
          <a:stretch>
            <a:fillRect/>
          </a:stretch>
        </p:blipFill>
        <p:spPr>
          <a:xfrm>
            <a:off x="8484782" y="192024"/>
            <a:ext cx="3139984" cy="274320"/>
          </a:xfrm>
          <a:prstGeom prst="rect">
            <a:avLst/>
          </a:prstGeom>
        </p:spPr>
      </p:pic>
      <p:sp>
        <p:nvSpPr>
          <p:cNvPr id="11" name="!!bubble"/>
          <p:cNvSpPr/>
          <p:nvPr/>
        </p:nvSpPr>
        <p:spPr>
          <a:xfrm>
            <a:off x="9704527" y="6181344"/>
            <a:ext cx="365760" cy="270662"/>
          </a:xfrm>
          <a:prstGeom prst="roundRect">
            <a:avLst>
              <a:gd name="adj" fmla="val 35135"/>
            </a:avLst>
          </a:prstGeom>
          <a:solidFill>
            <a:srgbClr val="1B3A6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dot1"/>
          <p:cNvSpPr/>
          <p:nvPr/>
        </p:nvSpPr>
        <p:spPr>
          <a:xfrm>
            <a:off x="9792310" y="6289609"/>
            <a:ext cx="45720" cy="45720"/>
          </a:xfrm>
          <a:prstGeom prst="ellipse">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dot2"/>
          <p:cNvSpPr/>
          <p:nvPr/>
        </p:nvSpPr>
        <p:spPr>
          <a:xfrm>
            <a:off x="9859975" y="6289609"/>
            <a:ext cx="45720" cy="45720"/>
          </a:xfrm>
          <a:prstGeom prst="ellipse">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dot3"/>
          <p:cNvSpPr/>
          <p:nvPr/>
        </p:nvSpPr>
        <p:spPr>
          <a:xfrm>
            <a:off x="9927641" y="6289609"/>
            <a:ext cx="45720" cy="45720"/>
          </a:xfrm>
          <a:prstGeom prst="ellipse">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566928" y="2011680"/>
            <a:ext cx="10058400" cy="914400"/>
          </a:xfrm>
          <a:prstGeom prst="rect">
            <a:avLst/>
          </a:prstGeom>
          <a:noFill/>
        </p:spPr>
        <p:txBody>
          <a:bodyPr wrap="square" anchor="t" lIns="0" tIns="0" rIns="0" bIns="0"/>
          <a:lstStyle/>
          <a:p>
            <a:pPr algn="l">
              <a:lnSpc>
                <a:spcPct val="95000"/>
              </a:lnSpc>
              <a:spcBef>
                <a:spcPts val="0"/>
              </a:spcBef>
              <a:spcAft>
                <a:spcPts val="0"/>
              </a:spcAft>
            </a:pPr>
            <a:r>
              <a:rPr sz="5800" b="1" i="0">
                <a:solidFill>
                  <a:srgbClr val="FFFFFF"/>
                </a:solidFill>
                <a:latin typeface="Trebuchet MS"/>
              </a:rPr>
              <a:t>Thank you!</a:t>
            </a:r>
          </a:p>
        </p:txBody>
      </p:sp>
      <p:sp>
        <p:nvSpPr>
          <p:cNvPr id="16" name="TextBox 15"/>
          <p:cNvSpPr txBox="1"/>
          <p:nvPr/>
        </p:nvSpPr>
        <p:spPr>
          <a:xfrm>
            <a:off x="566928" y="3090672"/>
            <a:ext cx="10058400" cy="640080"/>
          </a:xfrm>
          <a:prstGeom prst="rect">
            <a:avLst/>
          </a:prstGeom>
          <a:noFill/>
        </p:spPr>
        <p:txBody>
          <a:bodyPr wrap="square" anchor="t" lIns="0" tIns="0" rIns="0" bIns="0"/>
          <a:lstStyle/>
          <a:p>
            <a:pPr algn="l">
              <a:lnSpc>
                <a:spcPct val="95000"/>
              </a:lnSpc>
              <a:spcBef>
                <a:spcPts val="0"/>
              </a:spcBef>
              <a:spcAft>
                <a:spcPts val="0"/>
              </a:spcAft>
            </a:pPr>
            <a:r>
              <a:rPr sz="3000" b="0" i="0">
                <a:solidFill>
                  <a:srgbClr val="8FB0FF"/>
                </a:solidFill>
                <a:latin typeface="Calibri"/>
              </a:rPr>
              <a:t>You have a wonderful day</a:t>
            </a:r>
          </a:p>
        </p:txBody>
      </p:sp>
      <p:sp>
        <p:nvSpPr>
          <p:cNvPr id="17" name="Rectangle 16"/>
          <p:cNvSpPr/>
          <p:nvPr/>
        </p:nvSpPr>
        <p:spPr>
          <a:xfrm>
            <a:off x="566928" y="3895344"/>
            <a:ext cx="1005840" cy="64008"/>
          </a:xfrm>
          <a:prstGeom prst="rect">
            <a:avLst/>
          </a:prstGeom>
          <a:solidFill>
            <a:srgbClr val="5B8C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566928" y="4160520"/>
            <a:ext cx="8229600" cy="365760"/>
          </a:xfrm>
          <a:prstGeom prst="rect">
            <a:avLst/>
          </a:prstGeom>
          <a:noFill/>
        </p:spPr>
        <p:txBody>
          <a:bodyPr wrap="square" anchor="t" lIns="0" tIns="0" rIns="0" bIns="0"/>
          <a:lstStyle/>
          <a:p>
            <a:pPr algn="l">
              <a:lnSpc>
                <a:spcPct val="95000"/>
              </a:lnSpc>
              <a:spcBef>
                <a:spcPts val="0"/>
              </a:spcBef>
              <a:spcAft>
                <a:spcPts val="0"/>
              </a:spcAft>
            </a:pPr>
            <a:r>
              <a:rPr sz="1250" b="0" i="0">
                <a:solidFill>
                  <a:srgbClr val="A9BCD9"/>
                </a:solidFill>
                <a:latin typeface="Calibri"/>
              </a:rPr>
              <a:t>Connected by Technology · Conversation</a:t>
            </a:r>
          </a:p>
        </p:txBody>
      </p:sp>
      <p:sp>
        <p:nvSpPr>
          <p:cNvPr id="19" name="btn_back">
            <a:hlinkClick action="ppaction://hlinksldjump" r:id="rId4"/>
          </p:cNvPr>
          <p:cNvSpPr/>
          <p:nvPr/>
        </p:nvSpPr>
        <p:spPr>
          <a:xfrm>
            <a:off x="566928" y="4983480"/>
            <a:ext cx="2697480" cy="530352"/>
          </a:xfrm>
          <a:prstGeom prst="roundRect">
            <a:avLst>
              <a:gd name="adj" fmla="val 50000"/>
            </a:avLst>
          </a:prstGeom>
          <a:solidFill>
            <a:srgbClr val="FFFFFF"/>
          </a:solidFill>
          <a:ln w="15240">
            <a:solidFill>
              <a:srgbClr val="C3D4FF"/>
            </a:solidFill>
          </a:ln>
          <a:effectLst>
            <a:outerShdw blurRad="203200" dist="38100" dir="5400000" rotWithShape="0">
              <a:srgbClr val="0F1B33">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lnSpc>
                <a:spcPct val="95000"/>
              </a:lnSpc>
              <a:spcBef>
                <a:spcPts val="0"/>
              </a:spcBef>
              <a:spcAft>
                <a:spcPts val="0"/>
              </a:spcAft>
            </a:pPr>
            <a:r>
              <a:rPr sz="1400" b="1" i="0">
                <a:solidFill>
                  <a:srgbClr val="1B3FA8"/>
                </a:solidFill>
                <a:latin typeface="Calibri"/>
              </a:rPr>
              <a:t>Back to the start</a:t>
            </a:r>
          </a:p>
        </p:txBody>
      </p:sp>
      <p:sp>
        <p:nvSpPr>
          <p:cNvPr id="20" name="Rounded Rectangle 19"/>
          <p:cNvSpPr/>
          <p:nvPr/>
        </p:nvSpPr>
        <p:spPr>
          <a:xfrm>
            <a:off x="8338479" y="118872"/>
            <a:ext cx="3432592" cy="43891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21" name="Picture 20" descr="logos_strip.png"/>
          <p:cNvPicPr>
            <a:picLocks noChangeAspect="1"/>
          </p:cNvPicPr>
          <p:nvPr/>
        </p:nvPicPr>
        <p:blipFill>
          <a:blip r:embed="rId2"/>
          <a:stretch>
            <a:fillRect/>
          </a:stretch>
        </p:blipFill>
        <p:spPr>
          <a:xfrm>
            <a:off x="8484782" y="192024"/>
            <a:ext cx="3139984" cy="274320"/>
          </a:xfrm>
          <a:prstGeom prst="rect">
            <a:avLst/>
          </a:prstGeom>
        </p:spPr>
      </p:pic>
    </p:spTree>
  </p:cSld>
  <p:clrMapOvr>
    <a:masterClrMapping/>
  </p:clrMapOvr>
  <p:transition xmlns:p14="http://schemas.microsoft.com/office/powerpoint/2010/main" spd="med" p14:dur="900">
    <p14:morph type="byObjec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