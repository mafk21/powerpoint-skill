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753904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Do not read the slide; it is a visual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Promise the arc in 20 seconds: problem, solution, market proof,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pain with one story: a warehouse owner paying full tariff under empty sun. Pause after the 38%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beat. One sentence: we remove every barrier — money, risk,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tiles left-to-right, top row then bottom. Each tile = one objection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60 days and zero tenant disruption — the two operational fears.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math lives in the appendix. Here: beachhead focus beats TAM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gray: only the current-year bar carries the accent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moment. Let the number sit in silence for 3 seconds before speaking.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win on financing and operations, not panel hardware — name the alternatives respectfully.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bio answers: why can THIS person execute their part? Keep to 20 seconds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ask, the use, the milestone. Then stop talking — let them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hero-orb"/>
          <p:cNvSpPr/>
          <p:nvPr/>
        </p:nvSpPr>
        <p:spPr>
          <a:xfrm>
            <a:off x="4096640" y="6339681"/>
            <a:ext cx="8290819" cy="829081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p-hook"/>
          <p:cNvSpPr txBox="1"/>
          <p:nvPr/>
        </p:nvSpPr>
        <p:spPr>
          <a:xfrm>
            <a:off x="502920" y="2621214"/>
            <a:ext cx="874806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400" b="1">
                <a:solidFill>
                  <a:srgbClr val="F2FBFA"/>
                </a:solidFill>
                <a:latin typeface="Montserrat"/>
              </a:rPr>
              <a:t>Sunlight in,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400" b="1">
                <a:solidFill>
                  <a:srgbClr val="F2FBFA"/>
                </a:solidFill>
                <a:latin typeface="Montserrat"/>
              </a:rPr>
              <a:t>Revenue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8030"/>
            <a:ext cx="8748064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0">
                <a:solidFill>
                  <a:srgbClr val="A9CCC9"/>
                </a:solidFill>
                <a:latin typeface="Inter"/>
              </a:rPr>
              <a:t>Sahara Solar turns unused commercial rooftops in the Gulf into income-generating solar assets — with zero upfront cost to building owners.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53418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swipe →</a:t>
            </a:r>
          </a:p>
        </p:txBody>
      </p:sp>
      <p:sp>
        <p:nvSpPr>
          <p:cNvPr id="6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9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What we'll cover in 15 minutes</a:t>
            </a:r>
          </a:p>
        </p:txBody>
      </p:sp>
      <p:sp>
        <p:nvSpPr>
          <p:cNvPr id="4" name="!!p-line"/>
          <p:cNvSpPr/>
          <p:nvPr/>
        </p:nvSpPr>
        <p:spPr>
          <a:xfrm>
            <a:off x="941832" y="4724293"/>
            <a:ext cx="45720" cy="4663323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p-step-0"/>
          <p:cNvSpPr/>
          <p:nvPr/>
        </p:nvSpPr>
        <p:spPr>
          <a:xfrm>
            <a:off x="621792" y="4267093"/>
            <a:ext cx="685800" cy="6858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413397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48805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The problem: wasted rooftops, rising tariffs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88885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9" name="!!p-step-1"/>
          <p:cNvSpPr/>
          <p:nvPr/>
        </p:nvSpPr>
        <p:spPr>
          <a:xfrm>
            <a:off x="621792" y="5821534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96783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803246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Our solution: solar-as-a-service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443326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13" name="!!p-step-2"/>
          <p:cNvSpPr/>
          <p:nvPr/>
        </p:nvSpPr>
        <p:spPr>
          <a:xfrm>
            <a:off x="621792" y="7375975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7522279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7357687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Market, traction and business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7997767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17" name="!!p-step-3"/>
          <p:cNvSpPr/>
          <p:nvPr/>
        </p:nvSpPr>
        <p:spPr>
          <a:xfrm>
            <a:off x="621792" y="8930416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9076720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8912128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Team and 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9552208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/>
            </a:r>
          </a:p>
        </p:txBody>
      </p:sp>
      <p:sp>
        <p:nvSpPr>
          <p:cNvPr id="21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4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2/12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Gulf rooftops sit empty while power bills climb</a:t>
            </a:r>
          </a:p>
        </p:txBody>
      </p:sp>
      <p:sp>
        <p:nvSpPr>
          <p:cNvPr id="4" name="!!p-card-0"/>
          <p:cNvSpPr/>
          <p:nvPr/>
        </p:nvSpPr>
        <p:spPr>
          <a:xfrm>
            <a:off x="502920" y="4206134"/>
            <a:ext cx="8748064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4498742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08470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389014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92% of commercial roofs generate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919366"/>
            <a:ext cx="74221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Warehouses and malls pay full grid tariffs under 3,000+ hours of sun.</a:t>
            </a:r>
          </a:p>
        </p:txBody>
      </p:sp>
      <p:sp>
        <p:nvSpPr>
          <p:cNvPr id="9" name="!!p-card-1"/>
          <p:cNvSpPr/>
          <p:nvPr/>
        </p:nvSpPr>
        <p:spPr>
          <a:xfrm>
            <a:off x="502920" y="6108086"/>
            <a:ext cx="8748064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6400694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422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290966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Tariffs rose 38% in five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821318"/>
            <a:ext cx="74221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Energy is now the #2 operating cost in logistics and retail.</a:t>
            </a:r>
          </a:p>
        </p:txBody>
      </p:sp>
      <p:sp>
        <p:nvSpPr>
          <p:cNvPr id="14" name="!!p-card-2"/>
          <p:cNvSpPr/>
          <p:nvPr/>
        </p:nvSpPr>
        <p:spPr>
          <a:xfrm>
            <a:off x="502920" y="8010038"/>
            <a:ext cx="8748064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8302646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8412374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8192918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Capex blocks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723270"/>
            <a:ext cx="74221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Owners refuse 7-figure upfront spend and maintenance risk.</a:t>
            </a:r>
          </a:p>
        </p:txBody>
      </p:sp>
      <p:sp>
        <p:nvSpPr>
          <p:cNvPr id="19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2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3/12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hero-orb"/>
          <p:cNvSpPr/>
          <p:nvPr/>
        </p:nvSpPr>
        <p:spPr>
          <a:xfrm>
            <a:off x="4096640" y="6339681"/>
            <a:ext cx="8290819" cy="829081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p-badge"/>
          <p:cNvSpPr/>
          <p:nvPr/>
        </p:nvSpPr>
        <p:spPr>
          <a:xfrm>
            <a:off x="502920" y="2072588"/>
            <a:ext cx="1120140" cy="475488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4884"/>
            <a:ext cx="11201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04333F"/>
                </a:solidFill>
                <a:latin typeface="Montserrat"/>
              </a:rPr>
              <a:t>PART 02</a:t>
            </a:r>
          </a:p>
        </p:txBody>
      </p:sp>
      <p:sp>
        <p:nvSpPr>
          <p:cNvPr id="5" name="!!p-hook"/>
          <p:cNvSpPr txBox="1"/>
          <p:nvPr/>
        </p:nvSpPr>
        <p:spPr>
          <a:xfrm>
            <a:off x="502920" y="2621214"/>
            <a:ext cx="874806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400" b="1">
                <a:solidFill>
                  <a:srgbClr val="F2FBFA"/>
                </a:solidFill>
                <a:latin typeface="Montserrat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1646"/>
            <a:ext cx="8748064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0">
                <a:solidFill>
                  <a:srgbClr val="A9CCC9"/>
                </a:solidFill>
                <a:latin typeface="Inter"/>
              </a:rPr>
              <a:t>We finance, install and operate the panels. Owners simply buy cheaper power.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53418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swipe →</a:t>
            </a:r>
          </a:p>
        </p:txBody>
      </p:sp>
      <p:sp>
        <p:nvSpPr>
          <p:cNvPr id="8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11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4/12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Solar-as-a-service, end to end</a:t>
            </a:r>
          </a:p>
        </p:txBody>
      </p:sp>
      <p:sp>
        <p:nvSpPr>
          <p:cNvPr id="4" name="!!p-card-0"/>
          <p:cNvSpPr/>
          <p:nvPr/>
        </p:nvSpPr>
        <p:spPr>
          <a:xfrm>
            <a:off x="502920" y="4206134"/>
            <a:ext cx="8748064" cy="1424899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4498742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08470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389014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Zero capex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919366"/>
            <a:ext cx="7422184" cy="638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We fund 100% against a 15-year power agreement.</a:t>
            </a:r>
          </a:p>
        </p:txBody>
      </p:sp>
      <p:sp>
        <p:nvSpPr>
          <p:cNvPr id="9" name="!!p-card-1"/>
          <p:cNvSpPr/>
          <p:nvPr/>
        </p:nvSpPr>
        <p:spPr>
          <a:xfrm>
            <a:off x="502920" y="5905354"/>
            <a:ext cx="8748064" cy="1424899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6197962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307690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088234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25% cheaper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618586"/>
            <a:ext cx="7422184" cy="638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Per-kWh pricing at a fixed discount from day one.</a:t>
            </a:r>
          </a:p>
        </p:txBody>
      </p:sp>
      <p:sp>
        <p:nvSpPr>
          <p:cNvPr id="14" name="!!p-card-2"/>
          <p:cNvSpPr/>
          <p:nvPr/>
        </p:nvSpPr>
        <p:spPr>
          <a:xfrm>
            <a:off x="502920" y="7604573"/>
            <a:ext cx="8748064" cy="1424899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7897181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8006909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7787453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Fully operated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317805"/>
            <a:ext cx="7422184" cy="638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Monitoring, cleaning, maintenance — performance guaranteed.</a:t>
            </a:r>
          </a:p>
        </p:txBody>
      </p:sp>
      <p:sp>
        <p:nvSpPr>
          <p:cNvPr id="19" name="!!p-card-3"/>
          <p:cNvSpPr/>
          <p:nvPr/>
        </p:nvSpPr>
        <p:spPr>
          <a:xfrm>
            <a:off x="502920" y="9303792"/>
            <a:ext cx="8748064" cy="1424899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9596400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9706128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9486672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Live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10017024"/>
            <a:ext cx="7422184" cy="6385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Generation, savings and CO2 reporting for ESG.</a:t>
            </a:r>
          </a:p>
        </p:txBody>
      </p:sp>
      <p:sp>
        <p:nvSpPr>
          <p:cNvPr id="24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7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5/12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From empty roof to first kilowatt in 60 days</a:t>
            </a:r>
          </a:p>
        </p:txBody>
      </p:sp>
      <p:sp>
        <p:nvSpPr>
          <p:cNvPr id="4" name="!!p-line"/>
          <p:cNvSpPr/>
          <p:nvPr/>
        </p:nvSpPr>
        <p:spPr>
          <a:xfrm>
            <a:off x="941832" y="4724293"/>
            <a:ext cx="45720" cy="4663323"/>
          </a:xfrm>
          <a:prstGeom prst="rect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p-step-0"/>
          <p:cNvSpPr/>
          <p:nvPr/>
        </p:nvSpPr>
        <p:spPr>
          <a:xfrm>
            <a:off x="621792" y="4267093"/>
            <a:ext cx="685800" cy="68580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413397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48805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888885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Drone scan and structural check within one week of signing.</a:t>
            </a:r>
          </a:p>
        </p:txBody>
      </p:sp>
      <p:sp>
        <p:nvSpPr>
          <p:cNvPr id="9" name="!!p-step-1"/>
          <p:cNvSpPr/>
          <p:nvPr/>
        </p:nvSpPr>
        <p:spPr>
          <a:xfrm>
            <a:off x="621792" y="5821534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5967838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803246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443326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Asset is funded from our project facility — no owner capex.</a:t>
            </a:r>
          </a:p>
        </p:txBody>
      </p:sp>
      <p:sp>
        <p:nvSpPr>
          <p:cNvPr id="13" name="!!p-step-2"/>
          <p:cNvSpPr/>
          <p:nvPr/>
        </p:nvSpPr>
        <p:spPr>
          <a:xfrm>
            <a:off x="621792" y="7375975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7522279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7357687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7997767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Panels live in 3–5 weeks with zero disruption to tenants.</a:t>
            </a:r>
          </a:p>
        </p:txBody>
      </p:sp>
      <p:sp>
        <p:nvSpPr>
          <p:cNvPr id="17" name="!!p-step-3"/>
          <p:cNvSpPr/>
          <p:nvPr/>
        </p:nvSpPr>
        <p:spPr>
          <a:xfrm>
            <a:off x="621792" y="8930416"/>
            <a:ext cx="685800" cy="685800"/>
          </a:xfrm>
          <a:prstGeom prst="ellipse">
            <a:avLst/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9076720"/>
            <a:ext cx="685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14C8B4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8912128"/>
            <a:ext cx="760506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9552208"/>
            <a:ext cx="7605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Owner buys discounted power; we operate and insure the asset.</a:t>
            </a:r>
          </a:p>
        </p:txBody>
      </p:sp>
      <p:sp>
        <p:nvSpPr>
          <p:cNvPr id="21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4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6/12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72588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75508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F2FBFA"/>
                </a:solidFill>
                <a:latin typeface="Montserrat"/>
              </a:rPr>
              <a:t>A $48B regional market, a $1.2B beachhead</a:t>
            </a:r>
          </a:p>
        </p:txBody>
      </p:sp>
      <p:sp>
        <p:nvSpPr>
          <p:cNvPr id="4" name="!!p-stat"/>
          <p:cNvSpPr txBox="1"/>
          <p:nvPr/>
        </p:nvSpPr>
        <p:spPr>
          <a:xfrm>
            <a:off x="365760" y="4389010"/>
            <a:ext cx="90223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0" b="1">
                <a:solidFill>
                  <a:srgbClr val="14C8B4"/>
                </a:solidFill>
                <a:latin typeface="Montserrat"/>
              </a:rPr>
              <a:t>$1.2B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05432"/>
            <a:ext cx="84737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2FBFA"/>
                </a:solidFill>
                <a:latin typeface="Montserrat"/>
              </a:rPr>
              <a:t>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41726"/>
            <a:ext cx="810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A9CCC9"/>
                </a:solidFill>
                <a:latin typeface="Inter"/>
              </a:rPr>
              <a:t>Our 3-year target across 400 contracted roofs</a:t>
            </a:r>
          </a:p>
        </p:txBody>
      </p:sp>
      <p:sp>
        <p:nvSpPr>
          <p:cNvPr id="7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10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7/12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Revenue tripled year over year — before paid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010"/>
            <a:ext cx="7376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87944" y="438901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9CCC9"/>
                </a:solidFill>
                <a:latin typeface="Montserrat"/>
              </a:rPr>
              <a:t>18</a:t>
            </a:r>
          </a:p>
        </p:txBody>
      </p:sp>
      <p:sp>
        <p:nvSpPr>
          <p:cNvPr id="6" name="!!p-bar-0"/>
          <p:cNvSpPr/>
          <p:nvPr/>
        </p:nvSpPr>
        <p:spPr>
          <a:xfrm>
            <a:off x="502920" y="4846210"/>
            <a:ext cx="749834" cy="402336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559442"/>
            <a:ext cx="7376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7944" y="5559442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9CCC9"/>
                </a:solidFill>
                <a:latin typeface="Montserrat"/>
              </a:rPr>
              <a:t>41</a:t>
            </a:r>
          </a:p>
        </p:txBody>
      </p:sp>
      <p:sp>
        <p:nvSpPr>
          <p:cNvPr id="9" name="!!p-bar-1"/>
          <p:cNvSpPr/>
          <p:nvPr/>
        </p:nvSpPr>
        <p:spPr>
          <a:xfrm>
            <a:off x="502920" y="6016642"/>
            <a:ext cx="1707955" cy="402336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729874"/>
            <a:ext cx="7376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7944" y="6729874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9CCC9"/>
                </a:solidFill>
                <a:latin typeface="Montserrat"/>
              </a:rPr>
              <a:t>96</a:t>
            </a:r>
          </a:p>
        </p:txBody>
      </p:sp>
      <p:sp>
        <p:nvSpPr>
          <p:cNvPr id="12" name="!!p-bar-2"/>
          <p:cNvSpPr/>
          <p:nvPr/>
        </p:nvSpPr>
        <p:spPr>
          <a:xfrm>
            <a:off x="502920" y="7187074"/>
            <a:ext cx="3999115" cy="402336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7900306"/>
            <a:ext cx="7376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F2FBFA"/>
                </a:solidFill>
                <a:latin typeface="Montserrat"/>
              </a:rPr>
              <a:t>2026E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7944" y="7900306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4C8B4"/>
                </a:solidFill>
                <a:latin typeface="Montserrat"/>
              </a:rPr>
              <a:t>210</a:t>
            </a:r>
          </a:p>
        </p:txBody>
      </p:sp>
      <p:sp>
        <p:nvSpPr>
          <p:cNvPr id="15" name="!!p-bar-3"/>
          <p:cNvSpPr/>
          <p:nvPr/>
        </p:nvSpPr>
        <p:spPr>
          <a:xfrm>
            <a:off x="502920" y="8357506"/>
            <a:ext cx="8748064" cy="40233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9207898"/>
            <a:ext cx="87480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F2FBFA"/>
                </a:solidFill>
                <a:latin typeface="Inter"/>
              </a:rPr>
              <a:t>210k MRR expected by end of 2026, driven by 63 live roofs and a signed pipeline of 140 more. All growth so far is referral-based.</a:t>
            </a:r>
          </a:p>
        </p:txBody>
      </p:sp>
      <p:sp>
        <p:nvSpPr>
          <p:cNvPr id="17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0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8/12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stat"/>
          <p:cNvSpPr txBox="1"/>
          <p:nvPr/>
        </p:nvSpPr>
        <p:spPr>
          <a:xfrm>
            <a:off x="365760" y="4389010"/>
            <a:ext cx="90223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200" b="1">
                <a:solidFill>
                  <a:srgbClr val="14C8B4"/>
                </a:solidFill>
                <a:latin typeface="Montserrat"/>
              </a:rPr>
              <a:t>63 roofs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05432"/>
            <a:ext cx="847374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2FBFA"/>
                </a:solidFill>
                <a:latin typeface="Montserrat"/>
              </a:rPr>
              <a:t>Live and generating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41726"/>
            <a:ext cx="810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A9CCC9"/>
                </a:solidFill>
                <a:latin typeface="Inter"/>
              </a:rPr>
              <a:t>11.4 MW installed · 99.2% average uptime · zero owner churn</a:t>
            </a:r>
          </a:p>
        </p:txBody>
      </p:sp>
      <p:sp>
        <p:nvSpPr>
          <p:cNvPr id="5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8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9/12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We win on financing, not just panels</a:t>
            </a:r>
          </a:p>
        </p:txBody>
      </p:sp>
      <p:sp>
        <p:nvSpPr>
          <p:cNvPr id="4" name="!!p-panel-0"/>
          <p:cNvSpPr/>
          <p:nvPr/>
        </p:nvSpPr>
        <p:spPr>
          <a:xfrm>
            <a:off x="502920" y="4206134"/>
            <a:ext cx="8748064" cy="2865048"/>
          </a:xfrm>
          <a:prstGeom prst="roundRect">
            <a:avLst>
              <a:gd name="adj" fmla="val 7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462166"/>
            <a:ext cx="801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A9CCC9"/>
                </a:solidFill>
                <a:latin typeface="Montserrat"/>
              </a:rPr>
              <a:t>Buy panels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814"/>
            <a:ext cx="8016544" cy="1859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$400k+ upfront capex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Owner carries performance risk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Owner manages maintenance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A9CCC9"/>
                </a:solidFill>
                <a:latin typeface="Inter"/>
              </a:rPr>
              <a:t>✕ Full ownership</a:t>
            </a:r>
          </a:p>
        </p:txBody>
      </p:sp>
      <p:sp>
        <p:nvSpPr>
          <p:cNvPr id="7" name="!!p-panel-1"/>
          <p:cNvSpPr/>
          <p:nvPr/>
        </p:nvSpPr>
        <p:spPr>
          <a:xfrm>
            <a:off x="502920" y="7455231"/>
            <a:ext cx="8748064" cy="2865048"/>
          </a:xfrm>
          <a:prstGeom prst="roundRect">
            <a:avLst>
              <a:gd name="adj" fmla="val 7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7711263"/>
            <a:ext cx="801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04333F"/>
                </a:solidFill>
                <a:latin typeface="Montserrat"/>
              </a:rPr>
              <a:t>Sahara 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8323911"/>
            <a:ext cx="8016544" cy="1859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Zero upfront cost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Guaranteed output &amp; uptime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Operations fully included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50" b="0">
                <a:solidFill>
                  <a:srgbClr val="04333F"/>
                </a:solidFill>
                <a:latin typeface="Inter"/>
              </a:rPr>
              <a:t>✓ ESG dashboard + carbon share</a:t>
            </a:r>
          </a:p>
        </p:txBody>
      </p:sp>
      <p:sp>
        <p:nvSpPr>
          <p:cNvPr id="10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13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10/12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89712"/>
            <a:ext cx="87480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7FE7D2"/>
                </a:solidFill>
                <a:latin typeface="Montserrat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2632"/>
            <a:ext cx="87480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600" b="1">
                <a:solidFill>
                  <a:srgbClr val="F2FBFA"/>
                </a:solidFill>
                <a:latin typeface="Montserrat"/>
              </a:rPr>
              <a:t>Operators who have built this before</a:t>
            </a:r>
          </a:p>
        </p:txBody>
      </p:sp>
      <p:sp>
        <p:nvSpPr>
          <p:cNvPr id="4" name="!!p-card-0"/>
          <p:cNvSpPr/>
          <p:nvPr/>
        </p:nvSpPr>
        <p:spPr>
          <a:xfrm>
            <a:off x="502920" y="4206134"/>
            <a:ext cx="8748064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4498742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08470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389014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Layla Haddad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919366"/>
            <a:ext cx="74221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CEO — Previously VP at a regional utility; closed $300M in energy…</a:t>
            </a:r>
          </a:p>
        </p:txBody>
      </p:sp>
      <p:sp>
        <p:nvSpPr>
          <p:cNvPr id="9" name="!!p-card-1"/>
          <p:cNvSpPr/>
          <p:nvPr/>
        </p:nvSpPr>
        <p:spPr>
          <a:xfrm>
            <a:off x="502920" y="6108086"/>
            <a:ext cx="8748064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6400694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422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290966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Omar Farouk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6821318"/>
            <a:ext cx="74221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CTO — Built monitoring platforms for 1.2 GW of solar assets across three…</a:t>
            </a:r>
          </a:p>
        </p:txBody>
      </p:sp>
      <p:sp>
        <p:nvSpPr>
          <p:cNvPr id="14" name="!!p-card-2"/>
          <p:cNvSpPr/>
          <p:nvPr/>
        </p:nvSpPr>
        <p:spPr>
          <a:xfrm>
            <a:off x="502920" y="8010038"/>
            <a:ext cx="8748064" cy="1627632"/>
          </a:xfrm>
          <a:prstGeom prst="roundRect">
            <a:avLst>
              <a:gd name="adj" fmla="val 9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8302646"/>
            <a:ext cx="658368" cy="65836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8412374"/>
            <a:ext cx="658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04333F"/>
                </a:solidFill>
                <a:latin typeface="Inter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8192918"/>
            <a:ext cx="742218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F2FBFA"/>
                </a:solidFill>
                <a:latin typeface="Montserrat"/>
              </a:rPr>
              <a:t>Priya Nair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723270"/>
            <a:ext cx="742218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650" b="0">
                <a:solidFill>
                  <a:srgbClr val="A9CCC9"/>
                </a:solidFill>
                <a:latin typeface="Inter"/>
              </a:rPr>
              <a:t>CFO — Structured project-finance facilities for two listed renewable developers.</a:t>
            </a:r>
          </a:p>
        </p:txBody>
      </p:sp>
      <p:sp>
        <p:nvSpPr>
          <p:cNvPr id="19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22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11/12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-hero-orb"/>
          <p:cNvSpPr/>
          <p:nvPr/>
        </p:nvSpPr>
        <p:spPr>
          <a:xfrm>
            <a:off x="-2731093" y="6827349"/>
            <a:ext cx="7803123" cy="7803123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p-ask"/>
          <p:cNvSpPr txBox="1"/>
          <p:nvPr/>
        </p:nvSpPr>
        <p:spPr>
          <a:xfrm>
            <a:off x="502920" y="2926006"/>
            <a:ext cx="874806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100" b="1">
                <a:solidFill>
                  <a:srgbClr val="F2FBFA"/>
                </a:solidFill>
                <a:latin typeface="Montserrat"/>
              </a:rPr>
              <a:t>Raising $4M seed — 18 months of runway to 250 live roofs and Series A metrics.</a:t>
            </a:r>
          </a:p>
        </p:txBody>
      </p:sp>
      <p:sp>
        <p:nvSpPr>
          <p:cNvPr id="4" name="!!p-handle"/>
          <p:cNvSpPr/>
          <p:nvPr/>
        </p:nvSpPr>
        <p:spPr>
          <a:xfrm>
            <a:off x="502920" y="6766390"/>
            <a:ext cx="10515599" cy="621792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85262"/>
            <a:ext cx="105155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4333F"/>
                </a:solidFill>
                <a:latin typeface="Montserrat"/>
              </a:rPr>
              <a:t>Layla Haddad  ·  founders@example.com  ·  Data room available on request</a:t>
            </a:r>
          </a:p>
        </p:txBody>
      </p:sp>
      <p:sp>
        <p:nvSpPr>
          <p:cNvPr id="6" name="!!p-orb"/>
          <p:cNvSpPr/>
          <p:nvPr/>
        </p:nvSpPr>
        <p:spPr>
          <a:xfrm>
            <a:off x="8702344" y="11231575"/>
            <a:ext cx="1554480" cy="1554480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!!p-orb-hole"/>
          <p:cNvSpPr/>
          <p:nvPr/>
        </p:nvSpPr>
        <p:spPr>
          <a:xfrm>
            <a:off x="8912656" y="11441887"/>
            <a:ext cx="1133856" cy="1133856"/>
          </a:xfrm>
          <a:prstGeom prst="ellipse">
            <a:avLst/>
          </a:prstGeom>
          <a:solidFill>
            <a:srgbClr val="04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!!brand"/>
          <p:cNvSpPr txBox="1"/>
          <p:nvPr/>
        </p:nvSpPr>
        <p:spPr>
          <a:xfrm>
            <a:off x="502920" y="566928"/>
            <a:ext cx="585234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SAHARA SOLAR</a:t>
            </a:r>
          </a:p>
        </p:txBody>
      </p:sp>
      <p:sp>
        <p:nvSpPr>
          <p:cNvPr id="9" name="!!p-dot-0"/>
          <p:cNvSpPr/>
          <p:nvPr/>
        </p:nvSpPr>
        <p:spPr>
          <a:xfrm>
            <a:off x="301157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p-dot-1"/>
          <p:cNvSpPr/>
          <p:nvPr/>
        </p:nvSpPr>
        <p:spPr>
          <a:xfrm>
            <a:off x="332247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!!p-dot-2"/>
          <p:cNvSpPr/>
          <p:nvPr/>
        </p:nvSpPr>
        <p:spPr>
          <a:xfrm>
            <a:off x="363336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!!p-dot-3"/>
          <p:cNvSpPr/>
          <p:nvPr/>
        </p:nvSpPr>
        <p:spPr>
          <a:xfrm>
            <a:off x="394426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!!p-dot-4"/>
          <p:cNvSpPr/>
          <p:nvPr/>
        </p:nvSpPr>
        <p:spPr>
          <a:xfrm>
            <a:off x="425516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!!p-dot-5"/>
          <p:cNvSpPr/>
          <p:nvPr/>
        </p:nvSpPr>
        <p:spPr>
          <a:xfrm>
            <a:off x="456605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p-dot-6"/>
          <p:cNvSpPr/>
          <p:nvPr/>
        </p:nvSpPr>
        <p:spPr>
          <a:xfrm>
            <a:off x="4876952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!!p-dot-7"/>
          <p:cNvSpPr/>
          <p:nvPr/>
        </p:nvSpPr>
        <p:spPr>
          <a:xfrm>
            <a:off x="5187848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!!p-dot-8"/>
          <p:cNvSpPr/>
          <p:nvPr/>
        </p:nvSpPr>
        <p:spPr>
          <a:xfrm>
            <a:off x="5498744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!!p-dot-9"/>
          <p:cNvSpPr/>
          <p:nvPr/>
        </p:nvSpPr>
        <p:spPr>
          <a:xfrm>
            <a:off x="5809640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!!p-dot-10"/>
          <p:cNvSpPr/>
          <p:nvPr/>
        </p:nvSpPr>
        <p:spPr>
          <a:xfrm>
            <a:off x="6120536" y="11414455"/>
            <a:ext cx="155448" cy="155448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p-dot-11"/>
          <p:cNvSpPr/>
          <p:nvPr/>
        </p:nvSpPr>
        <p:spPr>
          <a:xfrm>
            <a:off x="6431432" y="11414455"/>
            <a:ext cx="155448" cy="15544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!!pageno"/>
          <p:cNvSpPr txBox="1"/>
          <p:nvPr/>
        </p:nvSpPr>
        <p:spPr>
          <a:xfrm>
            <a:off x="8199424" y="5669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9CCC9"/>
                </a:solidFill>
                <a:latin typeface="Montserrat"/>
              </a:rPr>
              <a:t>12/12</a:t>
            </a:r>
          </a:p>
        </p:txBody>
      </p:sp>
    </p:spTree>
  </p:cSld>
  <p:clrMapOvr>
    <a:masterClrMapping/>
  </p:clrMapOvr>
  <p:transition xmlns:p14="http://schemas.microsoft.com/office/powerpoint/2010/main" spd="med" p14:dur="700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Sahara Solar — Investor Pitch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