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6858000" cy="1219169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one-liner. Do not read the slide; it is a visual anchor.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Promise the arc in 20 seconds: problem, solution, market proof, 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Land the pain with one story: a warehouse owner paying full tariff under empty sun. Pause after the 38% figure.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beat. One sentence: we remove every barrier — money, risk,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six tiles left-to-right, top row then bottom. Each tile = one objection removed.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60 days and zero tenant disruption — the two operational fears.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Bottom-up math lives in the appendix. Here: beachhead focus beats TAM theater.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Strategic gray: only the current-year bar carries the accent color.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 moment. Let the number sit in silence for 3 seconds before speaking.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win on financing and operations, not panel hardware — name the alternatives respectfully.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bio answers: why can THIS person execute their part? Keep to 20 seconds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ask, the use, the milestone. Then stop talking — let them respond.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3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-hero-orb"/>
          <p:cNvSpPr/>
          <p:nvPr/>
        </p:nvSpPr>
        <p:spPr>
          <a:xfrm>
            <a:off x="2880360" y="6339681"/>
            <a:ext cx="5829300" cy="5829300"/>
          </a:xfrm>
          <a:prstGeom prst="ellipse">
            <a:avLst/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!!p-hook"/>
          <p:cNvSpPr txBox="1"/>
          <p:nvPr/>
        </p:nvSpPr>
        <p:spPr>
          <a:xfrm>
            <a:off x="502920" y="2621214"/>
            <a:ext cx="585216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5600" b="1">
                <a:solidFill>
                  <a:srgbClr val="F2FBFA"/>
                </a:solidFill>
                <a:latin typeface="Montserrat"/>
              </a:rPr>
              <a:t>Sunlight in,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5600" b="1">
                <a:solidFill>
                  <a:srgbClr val="F2FBFA"/>
                </a:solidFill>
                <a:latin typeface="Montserrat"/>
              </a:rPr>
              <a:t>Revenue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8030"/>
            <a:ext cx="5852160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900" b="0">
                <a:solidFill>
                  <a:srgbClr val="A9CCC9"/>
                </a:solidFill>
                <a:latin typeface="Inter"/>
              </a:rPr>
              <a:t>Sahara Solar turns unused commercial rooftops in the Gulf into income-generating solar assets — with zero upfront cost to building owners.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534186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1">
                <a:solidFill>
                  <a:srgbClr val="F2FBFA"/>
                </a:solidFill>
                <a:latin typeface="Montserrat"/>
              </a:rPr>
              <a:t>▶ watch</a:t>
            </a:r>
          </a:p>
        </p:txBody>
      </p:sp>
      <p:sp>
        <p:nvSpPr>
          <p:cNvPr id="6" name="!!p-orb"/>
          <p:cNvSpPr/>
          <p:nvPr/>
        </p:nvSpPr>
        <p:spPr>
          <a:xfrm>
            <a:off x="5806440" y="11231575"/>
            <a:ext cx="1554480" cy="1554480"/>
          </a:xfrm>
          <a:prstGeom prst="ellipse">
            <a:avLst/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!!p-orb-hole"/>
          <p:cNvSpPr/>
          <p:nvPr/>
        </p:nvSpPr>
        <p:spPr>
          <a:xfrm>
            <a:off x="6016752" y="11441887"/>
            <a:ext cx="1133856" cy="1133856"/>
          </a:xfrm>
          <a:prstGeom prst="ellipse">
            <a:avLst/>
          </a:prstGeom>
          <a:solidFill>
            <a:srgbClr val="04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!!brand"/>
          <p:cNvSpPr txBox="1"/>
          <p:nvPr/>
        </p:nvSpPr>
        <p:spPr>
          <a:xfrm>
            <a:off x="502920" y="566928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A9CCC9"/>
                </a:solidFill>
                <a:latin typeface="Montserrat"/>
              </a:rPr>
              <a:t>SAHARA SOLAR</a:t>
            </a:r>
          </a:p>
        </p:txBody>
      </p:sp>
      <p:sp>
        <p:nvSpPr>
          <p:cNvPr id="9" name="!!p-track"/>
          <p:cNvSpPr/>
          <p:nvPr/>
        </p:nvSpPr>
        <p:spPr>
          <a:xfrm>
            <a:off x="502920" y="347472"/>
            <a:ext cx="5852160" cy="41148"/>
          </a:xfrm>
          <a:prstGeom prst="rect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!!p-progress"/>
          <p:cNvSpPr/>
          <p:nvPr/>
        </p:nvSpPr>
        <p:spPr>
          <a:xfrm>
            <a:off x="502920" y="347472"/>
            <a:ext cx="487680" cy="41148"/>
          </a:xfrm>
          <a:prstGeom prst="rect">
            <a:avLst/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!!pageno"/>
          <p:cNvSpPr txBox="1"/>
          <p:nvPr/>
        </p:nvSpPr>
        <p:spPr>
          <a:xfrm>
            <a:off x="5303520" y="566928"/>
            <a:ext cx="1051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A9CCC9"/>
                </a:solidFill>
                <a:latin typeface="Montserrat"/>
              </a:rPr>
              <a:t>1/12</a:t>
            </a:r>
          </a:p>
        </p:txBody>
      </p:sp>
    </p:spTree>
  </p:cSld>
  <p:clrMapOvr>
    <a:masterClrMapping/>
  </p:clrMapOvr>
  <p:transition spd="med" advClick="1" advTm="646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3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89712"/>
            <a:ext cx="5852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7FE7D2"/>
                </a:solidFill>
                <a:latin typeface="Montserrat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392632"/>
            <a:ext cx="58521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600" b="1">
                <a:solidFill>
                  <a:srgbClr val="F2FBFA"/>
                </a:solidFill>
                <a:latin typeface="Montserrat"/>
              </a:rPr>
              <a:t>What we'll cover in 15 minutes</a:t>
            </a:r>
          </a:p>
        </p:txBody>
      </p:sp>
      <p:sp>
        <p:nvSpPr>
          <p:cNvPr id="4" name="!!p-line"/>
          <p:cNvSpPr/>
          <p:nvPr/>
        </p:nvSpPr>
        <p:spPr>
          <a:xfrm>
            <a:off x="941832" y="4724293"/>
            <a:ext cx="45720" cy="4663323"/>
          </a:xfrm>
          <a:prstGeom prst="rect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!!p-step-0"/>
          <p:cNvSpPr/>
          <p:nvPr/>
        </p:nvSpPr>
        <p:spPr>
          <a:xfrm>
            <a:off x="621792" y="4267093"/>
            <a:ext cx="685800" cy="685800"/>
          </a:xfrm>
          <a:prstGeom prst="ellipse">
            <a:avLst/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4413397"/>
            <a:ext cx="685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000" b="1">
                <a:solidFill>
                  <a:srgbClr val="04333F"/>
                </a:solidFill>
                <a:latin typeface="Montserrat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4248805"/>
            <a:ext cx="47091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900" b="1">
                <a:solidFill>
                  <a:srgbClr val="F2FBFA"/>
                </a:solidFill>
                <a:latin typeface="Montserrat"/>
              </a:rPr>
              <a:t>The problem: wasted rooftops, rising tariffs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4888885"/>
            <a:ext cx="4709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550" b="0">
                <a:solidFill>
                  <a:srgbClr val="A9CCC9"/>
                </a:solidFill>
                <a:latin typeface="Inter"/>
              </a:rPr>
              <a:t/>
            </a:r>
          </a:p>
        </p:txBody>
      </p:sp>
      <p:sp>
        <p:nvSpPr>
          <p:cNvPr id="9" name="!!p-step-1"/>
          <p:cNvSpPr/>
          <p:nvPr/>
        </p:nvSpPr>
        <p:spPr>
          <a:xfrm>
            <a:off x="621792" y="5821534"/>
            <a:ext cx="685800" cy="685800"/>
          </a:xfrm>
          <a:prstGeom prst="ellipse">
            <a:avLst/>
          </a:prstGeom>
          <a:solidFill>
            <a:srgbClr val="0B4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5967838"/>
            <a:ext cx="685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000" b="1">
                <a:solidFill>
                  <a:srgbClr val="14C8B4"/>
                </a:solidFill>
                <a:latin typeface="Montserrat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5803246"/>
            <a:ext cx="47091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900" b="1">
                <a:solidFill>
                  <a:srgbClr val="F2FBFA"/>
                </a:solidFill>
                <a:latin typeface="Montserrat"/>
              </a:rPr>
              <a:t>Our solution: solar-as-a-service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6443326"/>
            <a:ext cx="4709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550" b="0">
                <a:solidFill>
                  <a:srgbClr val="A9CCC9"/>
                </a:solidFill>
                <a:latin typeface="Inter"/>
              </a:rPr>
              <a:t/>
            </a:r>
          </a:p>
        </p:txBody>
      </p:sp>
      <p:sp>
        <p:nvSpPr>
          <p:cNvPr id="13" name="!!p-step-2"/>
          <p:cNvSpPr/>
          <p:nvPr/>
        </p:nvSpPr>
        <p:spPr>
          <a:xfrm>
            <a:off x="621792" y="7375975"/>
            <a:ext cx="685800" cy="685800"/>
          </a:xfrm>
          <a:prstGeom prst="ellipse">
            <a:avLst/>
          </a:prstGeom>
          <a:solidFill>
            <a:srgbClr val="0B4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7522279"/>
            <a:ext cx="685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000" b="1">
                <a:solidFill>
                  <a:srgbClr val="14C8B4"/>
                </a:solidFill>
                <a:latin typeface="Montserrat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7357687"/>
            <a:ext cx="47091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900" b="1">
                <a:solidFill>
                  <a:srgbClr val="F2FBFA"/>
                </a:solidFill>
                <a:latin typeface="Montserrat"/>
              </a:rPr>
              <a:t>Market, traction and business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7997767"/>
            <a:ext cx="4709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550" b="0">
                <a:solidFill>
                  <a:srgbClr val="A9CCC9"/>
                </a:solidFill>
                <a:latin typeface="Inter"/>
              </a:rPr>
              <a:t/>
            </a:r>
          </a:p>
        </p:txBody>
      </p:sp>
      <p:sp>
        <p:nvSpPr>
          <p:cNvPr id="17" name="!!p-step-3"/>
          <p:cNvSpPr/>
          <p:nvPr/>
        </p:nvSpPr>
        <p:spPr>
          <a:xfrm>
            <a:off x="621792" y="8930416"/>
            <a:ext cx="685800" cy="685800"/>
          </a:xfrm>
          <a:prstGeom prst="ellipse">
            <a:avLst/>
          </a:prstGeom>
          <a:solidFill>
            <a:srgbClr val="0B4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9076720"/>
            <a:ext cx="685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000" b="1">
                <a:solidFill>
                  <a:srgbClr val="14C8B4"/>
                </a:solidFill>
                <a:latin typeface="Montserrat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8912128"/>
            <a:ext cx="47091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900" b="1">
                <a:solidFill>
                  <a:srgbClr val="F2FBFA"/>
                </a:solidFill>
                <a:latin typeface="Montserrat"/>
              </a:rPr>
              <a:t>Team and the ask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9552208"/>
            <a:ext cx="4709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550" b="0">
                <a:solidFill>
                  <a:srgbClr val="A9CCC9"/>
                </a:solidFill>
                <a:latin typeface="Inter"/>
              </a:rPr>
              <a:t/>
            </a:r>
          </a:p>
        </p:txBody>
      </p:sp>
      <p:sp>
        <p:nvSpPr>
          <p:cNvPr id="21" name="!!p-orb"/>
          <p:cNvSpPr/>
          <p:nvPr/>
        </p:nvSpPr>
        <p:spPr>
          <a:xfrm>
            <a:off x="5806440" y="11231575"/>
            <a:ext cx="1554480" cy="1554480"/>
          </a:xfrm>
          <a:prstGeom prst="ellipse">
            <a:avLst/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!!p-orb-hole"/>
          <p:cNvSpPr/>
          <p:nvPr/>
        </p:nvSpPr>
        <p:spPr>
          <a:xfrm>
            <a:off x="6016752" y="11441887"/>
            <a:ext cx="1133856" cy="1133856"/>
          </a:xfrm>
          <a:prstGeom prst="ellipse">
            <a:avLst/>
          </a:prstGeom>
          <a:solidFill>
            <a:srgbClr val="04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!!brand"/>
          <p:cNvSpPr txBox="1"/>
          <p:nvPr/>
        </p:nvSpPr>
        <p:spPr>
          <a:xfrm>
            <a:off x="502920" y="566928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A9CCC9"/>
                </a:solidFill>
                <a:latin typeface="Montserrat"/>
              </a:rPr>
              <a:t>SAHARA SOLAR</a:t>
            </a:r>
          </a:p>
        </p:txBody>
      </p:sp>
      <p:sp>
        <p:nvSpPr>
          <p:cNvPr id="24" name="!!p-track"/>
          <p:cNvSpPr/>
          <p:nvPr/>
        </p:nvSpPr>
        <p:spPr>
          <a:xfrm>
            <a:off x="502920" y="347472"/>
            <a:ext cx="5852160" cy="41148"/>
          </a:xfrm>
          <a:prstGeom prst="rect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!!p-progress"/>
          <p:cNvSpPr/>
          <p:nvPr/>
        </p:nvSpPr>
        <p:spPr>
          <a:xfrm>
            <a:off x="502920" y="347472"/>
            <a:ext cx="975360" cy="41148"/>
          </a:xfrm>
          <a:prstGeom prst="rect">
            <a:avLst/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!!pageno"/>
          <p:cNvSpPr txBox="1"/>
          <p:nvPr/>
        </p:nvSpPr>
        <p:spPr>
          <a:xfrm>
            <a:off x="5303520" y="566928"/>
            <a:ext cx="1051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A9CCC9"/>
                </a:solidFill>
                <a:latin typeface="Montserrat"/>
              </a:rPr>
              <a:t>2/12</a:t>
            </a:r>
          </a:p>
        </p:txBody>
      </p:sp>
    </p:spTree>
  </p:cSld>
  <p:clrMapOvr>
    <a:masterClrMapping/>
  </p:clrMapOvr>
  <p:transition xmlns:p14="http://schemas.microsoft.com/office/powerpoint/2010/main" spd="med" p14:dur="700" advClick="1" advTm="6000">
    <p14:morph type="byObject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3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89712"/>
            <a:ext cx="5852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7FE7D2"/>
                </a:solidFill>
                <a:latin typeface="Montserrat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392632"/>
            <a:ext cx="58521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600" b="1">
                <a:solidFill>
                  <a:srgbClr val="F2FBFA"/>
                </a:solidFill>
                <a:latin typeface="Montserrat"/>
              </a:rPr>
              <a:t>Gulf rooftops sit empty while power bills climb</a:t>
            </a:r>
          </a:p>
        </p:txBody>
      </p:sp>
      <p:sp>
        <p:nvSpPr>
          <p:cNvPr id="4" name="!!p-card-0"/>
          <p:cNvSpPr/>
          <p:nvPr/>
        </p:nvSpPr>
        <p:spPr>
          <a:xfrm>
            <a:off x="502920" y="3840383"/>
            <a:ext cx="5852160" cy="1627632"/>
          </a:xfrm>
          <a:prstGeom prst="roundRect">
            <a:avLst>
              <a:gd name="adj" fmla="val 9000"/>
            </a:avLst>
          </a:prstGeom>
          <a:solidFill>
            <a:srgbClr val="0B4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4132991"/>
            <a:ext cx="658368" cy="658368"/>
          </a:xfrm>
          <a:prstGeom prst="ellipse">
            <a:avLst/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242719"/>
            <a:ext cx="6583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04333F"/>
                </a:solidFill>
                <a:latin typeface="Inter"/>
              </a:rPr>
              <a:t>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4023263"/>
            <a:ext cx="4526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900" b="1">
                <a:solidFill>
                  <a:srgbClr val="F2FBFA"/>
                </a:solidFill>
                <a:latin typeface="Montserrat"/>
              </a:rPr>
              <a:t>92% of commercial roofs generate nothing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4553615"/>
            <a:ext cx="45262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550" b="0">
                <a:solidFill>
                  <a:srgbClr val="A9CCC9"/>
                </a:solidFill>
                <a:latin typeface="Inter"/>
              </a:rPr>
              <a:t>Warehouses and malls pay full grid tariffs under 3,000+ hours of sun.</a:t>
            </a:r>
          </a:p>
        </p:txBody>
      </p:sp>
      <p:sp>
        <p:nvSpPr>
          <p:cNvPr id="9" name="!!p-card-1"/>
          <p:cNvSpPr/>
          <p:nvPr/>
        </p:nvSpPr>
        <p:spPr>
          <a:xfrm>
            <a:off x="502920" y="5742335"/>
            <a:ext cx="5852160" cy="1627632"/>
          </a:xfrm>
          <a:prstGeom prst="roundRect">
            <a:avLst>
              <a:gd name="adj" fmla="val 9000"/>
            </a:avLst>
          </a:prstGeom>
          <a:solidFill>
            <a:srgbClr val="0B4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7240" y="6034943"/>
            <a:ext cx="658368" cy="658368"/>
          </a:xfrm>
          <a:prstGeom prst="ellipse">
            <a:avLst/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144671"/>
            <a:ext cx="6583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04333F"/>
                </a:solidFill>
                <a:latin typeface="Inter"/>
              </a:rPr>
              <a:t>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5925215"/>
            <a:ext cx="4526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900" b="1">
                <a:solidFill>
                  <a:srgbClr val="F2FBFA"/>
                </a:solidFill>
                <a:latin typeface="Montserrat"/>
              </a:rPr>
              <a:t>Tariffs rose 38% in five years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6455567"/>
            <a:ext cx="45262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550" b="0">
                <a:solidFill>
                  <a:srgbClr val="A9CCC9"/>
                </a:solidFill>
                <a:latin typeface="Inter"/>
              </a:rPr>
              <a:t>Energy is now the #2 operating cost in logistics and retail.</a:t>
            </a:r>
          </a:p>
        </p:txBody>
      </p:sp>
      <p:sp>
        <p:nvSpPr>
          <p:cNvPr id="14" name="!!p-card-2"/>
          <p:cNvSpPr/>
          <p:nvPr/>
        </p:nvSpPr>
        <p:spPr>
          <a:xfrm>
            <a:off x="502920" y="7644287"/>
            <a:ext cx="5852160" cy="1627632"/>
          </a:xfrm>
          <a:prstGeom prst="roundRect">
            <a:avLst>
              <a:gd name="adj" fmla="val 9000"/>
            </a:avLst>
          </a:prstGeom>
          <a:solidFill>
            <a:srgbClr val="0B4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77240" y="7936895"/>
            <a:ext cx="658368" cy="658368"/>
          </a:xfrm>
          <a:prstGeom prst="ellipse">
            <a:avLst/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8046623"/>
            <a:ext cx="6583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04333F"/>
                </a:solidFill>
                <a:latin typeface="Inter"/>
              </a:rPr>
              <a:t>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7827167"/>
            <a:ext cx="4526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900" b="1">
                <a:solidFill>
                  <a:srgbClr val="F2FBFA"/>
                </a:solidFill>
                <a:latin typeface="Montserrat"/>
              </a:rPr>
              <a:t>Capex blocks adoption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8357519"/>
            <a:ext cx="45262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550" b="0">
                <a:solidFill>
                  <a:srgbClr val="A9CCC9"/>
                </a:solidFill>
                <a:latin typeface="Inter"/>
              </a:rPr>
              <a:t>Owners refuse 7-figure upfront spend and maintenance risk.</a:t>
            </a:r>
          </a:p>
        </p:txBody>
      </p:sp>
      <p:sp>
        <p:nvSpPr>
          <p:cNvPr id="19" name="!!p-orb"/>
          <p:cNvSpPr/>
          <p:nvPr/>
        </p:nvSpPr>
        <p:spPr>
          <a:xfrm>
            <a:off x="5806440" y="11231575"/>
            <a:ext cx="1554480" cy="1554480"/>
          </a:xfrm>
          <a:prstGeom prst="ellipse">
            <a:avLst/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!!p-orb-hole"/>
          <p:cNvSpPr/>
          <p:nvPr/>
        </p:nvSpPr>
        <p:spPr>
          <a:xfrm>
            <a:off x="6016752" y="11441887"/>
            <a:ext cx="1133856" cy="1133856"/>
          </a:xfrm>
          <a:prstGeom prst="ellipse">
            <a:avLst/>
          </a:prstGeom>
          <a:solidFill>
            <a:srgbClr val="04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!!brand"/>
          <p:cNvSpPr txBox="1"/>
          <p:nvPr/>
        </p:nvSpPr>
        <p:spPr>
          <a:xfrm>
            <a:off x="502920" y="566928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A9CCC9"/>
                </a:solidFill>
                <a:latin typeface="Montserrat"/>
              </a:rPr>
              <a:t>SAHARA SOLAR</a:t>
            </a:r>
          </a:p>
        </p:txBody>
      </p:sp>
      <p:sp>
        <p:nvSpPr>
          <p:cNvPr id="22" name="!!p-track"/>
          <p:cNvSpPr/>
          <p:nvPr/>
        </p:nvSpPr>
        <p:spPr>
          <a:xfrm>
            <a:off x="502920" y="347472"/>
            <a:ext cx="5852160" cy="41148"/>
          </a:xfrm>
          <a:prstGeom prst="rect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!!p-progress"/>
          <p:cNvSpPr/>
          <p:nvPr/>
        </p:nvSpPr>
        <p:spPr>
          <a:xfrm>
            <a:off x="502920" y="347472"/>
            <a:ext cx="1463040" cy="41148"/>
          </a:xfrm>
          <a:prstGeom prst="rect">
            <a:avLst/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!!pageno"/>
          <p:cNvSpPr txBox="1"/>
          <p:nvPr/>
        </p:nvSpPr>
        <p:spPr>
          <a:xfrm>
            <a:off x="5303520" y="566928"/>
            <a:ext cx="1051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A9CCC9"/>
                </a:solidFill>
                <a:latin typeface="Montserrat"/>
              </a:rPr>
              <a:t>3/12</a:t>
            </a:r>
          </a:p>
        </p:txBody>
      </p:sp>
    </p:spTree>
  </p:cSld>
  <p:clrMapOvr>
    <a:masterClrMapping/>
  </p:clrMapOvr>
  <p:transition xmlns:p14="http://schemas.microsoft.com/office/powerpoint/2010/main" spd="med" p14:dur="700" advClick="1" advTm="9230">
    <p14:morph type="byObject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3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-hero-orb"/>
          <p:cNvSpPr/>
          <p:nvPr/>
        </p:nvSpPr>
        <p:spPr>
          <a:xfrm>
            <a:off x="2880360" y="6339681"/>
            <a:ext cx="5829300" cy="5829300"/>
          </a:xfrm>
          <a:prstGeom prst="ellipse">
            <a:avLst/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!!p-badge"/>
          <p:cNvSpPr/>
          <p:nvPr/>
        </p:nvSpPr>
        <p:spPr>
          <a:xfrm>
            <a:off x="502920" y="2072588"/>
            <a:ext cx="1120140" cy="475488"/>
          </a:xfrm>
          <a:prstGeom prst="roundRect">
            <a:avLst>
              <a:gd name="adj" fmla="val 50000"/>
            </a:avLst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54884"/>
            <a:ext cx="11201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04333F"/>
                </a:solidFill>
                <a:latin typeface="Montserrat"/>
              </a:rPr>
              <a:t>PART 02</a:t>
            </a:r>
          </a:p>
        </p:txBody>
      </p:sp>
      <p:sp>
        <p:nvSpPr>
          <p:cNvPr id="5" name="!!p-hook"/>
          <p:cNvSpPr txBox="1"/>
          <p:nvPr/>
        </p:nvSpPr>
        <p:spPr>
          <a:xfrm>
            <a:off x="502920" y="2621214"/>
            <a:ext cx="585216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5600" b="1">
                <a:solidFill>
                  <a:srgbClr val="F2FBFA"/>
                </a:solidFill>
                <a:latin typeface="Montserrat"/>
              </a:rPr>
              <a:t>The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791646"/>
            <a:ext cx="5852160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900" b="0">
                <a:solidFill>
                  <a:srgbClr val="A9CCC9"/>
                </a:solidFill>
                <a:latin typeface="Inter"/>
              </a:rPr>
              <a:t>We finance, install and operate the panels. Owners simply buy cheaper power.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534186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1">
                <a:solidFill>
                  <a:srgbClr val="F2FBFA"/>
                </a:solidFill>
                <a:latin typeface="Montserrat"/>
              </a:rPr>
              <a:t>▶ watch</a:t>
            </a:r>
          </a:p>
        </p:txBody>
      </p:sp>
      <p:sp>
        <p:nvSpPr>
          <p:cNvPr id="8" name="!!p-orb"/>
          <p:cNvSpPr/>
          <p:nvPr/>
        </p:nvSpPr>
        <p:spPr>
          <a:xfrm>
            <a:off x="5806440" y="11231575"/>
            <a:ext cx="1554480" cy="1554480"/>
          </a:xfrm>
          <a:prstGeom prst="ellipse">
            <a:avLst/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!!p-orb-hole"/>
          <p:cNvSpPr/>
          <p:nvPr/>
        </p:nvSpPr>
        <p:spPr>
          <a:xfrm>
            <a:off x="6016752" y="11441887"/>
            <a:ext cx="1133856" cy="1133856"/>
          </a:xfrm>
          <a:prstGeom prst="ellipse">
            <a:avLst/>
          </a:prstGeom>
          <a:solidFill>
            <a:srgbClr val="04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!!brand"/>
          <p:cNvSpPr txBox="1"/>
          <p:nvPr/>
        </p:nvSpPr>
        <p:spPr>
          <a:xfrm>
            <a:off x="502920" y="566928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A9CCC9"/>
                </a:solidFill>
                <a:latin typeface="Montserrat"/>
              </a:rPr>
              <a:t>SAHARA SOLAR</a:t>
            </a:r>
          </a:p>
        </p:txBody>
      </p:sp>
      <p:sp>
        <p:nvSpPr>
          <p:cNvPr id="11" name="!!p-track"/>
          <p:cNvSpPr/>
          <p:nvPr/>
        </p:nvSpPr>
        <p:spPr>
          <a:xfrm>
            <a:off x="502920" y="347472"/>
            <a:ext cx="5852160" cy="41148"/>
          </a:xfrm>
          <a:prstGeom prst="rect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!!p-progress"/>
          <p:cNvSpPr/>
          <p:nvPr/>
        </p:nvSpPr>
        <p:spPr>
          <a:xfrm>
            <a:off x="502920" y="347472"/>
            <a:ext cx="1950720" cy="41148"/>
          </a:xfrm>
          <a:prstGeom prst="rect">
            <a:avLst/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!!pageno"/>
          <p:cNvSpPr txBox="1"/>
          <p:nvPr/>
        </p:nvSpPr>
        <p:spPr>
          <a:xfrm>
            <a:off x="5303520" y="566928"/>
            <a:ext cx="1051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A9CCC9"/>
                </a:solidFill>
                <a:latin typeface="Montserrat"/>
              </a:rPr>
              <a:t>4/12</a:t>
            </a:r>
          </a:p>
        </p:txBody>
      </p:sp>
    </p:spTree>
  </p:cSld>
  <p:clrMapOvr>
    <a:masterClrMapping/>
  </p:clrMapOvr>
  <p:transition xmlns:p14="http://schemas.microsoft.com/office/powerpoint/2010/main" spd="med" p14:dur="700" advClick="1" advTm="6000">
    <p14:morph type="byObject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3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89712"/>
            <a:ext cx="5852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7FE7D2"/>
                </a:solidFill>
                <a:latin typeface="Montserrat"/>
              </a:rP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392632"/>
            <a:ext cx="58521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600" b="1">
                <a:solidFill>
                  <a:srgbClr val="F2FBFA"/>
                </a:solidFill>
                <a:latin typeface="Montserrat"/>
              </a:rPr>
              <a:t>Solar-as-a-service, end to end</a:t>
            </a:r>
          </a:p>
        </p:txBody>
      </p:sp>
      <p:sp>
        <p:nvSpPr>
          <p:cNvPr id="4" name="!!p-card-0"/>
          <p:cNvSpPr/>
          <p:nvPr/>
        </p:nvSpPr>
        <p:spPr>
          <a:xfrm>
            <a:off x="502920" y="3840383"/>
            <a:ext cx="5852160" cy="1455378"/>
          </a:xfrm>
          <a:prstGeom prst="roundRect">
            <a:avLst>
              <a:gd name="adj" fmla="val 9000"/>
            </a:avLst>
          </a:prstGeom>
          <a:solidFill>
            <a:srgbClr val="0B4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4132991"/>
            <a:ext cx="658368" cy="658368"/>
          </a:xfrm>
          <a:prstGeom prst="ellipse">
            <a:avLst/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242719"/>
            <a:ext cx="6583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04333F"/>
                </a:solidFill>
                <a:latin typeface="Inter"/>
              </a:rPr>
              <a:t>$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4023263"/>
            <a:ext cx="4526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900" b="1">
                <a:solidFill>
                  <a:srgbClr val="F2FBFA"/>
                </a:solidFill>
                <a:latin typeface="Montserrat"/>
              </a:rPr>
              <a:t>Zero capex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4553615"/>
            <a:ext cx="4526280" cy="6689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550" b="0">
                <a:solidFill>
                  <a:srgbClr val="A9CCC9"/>
                </a:solidFill>
                <a:latin typeface="Inter"/>
              </a:rPr>
              <a:t>We fund 100% against a 15-year power agreement.</a:t>
            </a:r>
          </a:p>
        </p:txBody>
      </p:sp>
      <p:sp>
        <p:nvSpPr>
          <p:cNvPr id="9" name="!!p-card-1"/>
          <p:cNvSpPr/>
          <p:nvPr/>
        </p:nvSpPr>
        <p:spPr>
          <a:xfrm>
            <a:off x="502920" y="5570082"/>
            <a:ext cx="5852160" cy="1455378"/>
          </a:xfrm>
          <a:prstGeom prst="roundRect">
            <a:avLst>
              <a:gd name="adj" fmla="val 9000"/>
            </a:avLst>
          </a:prstGeom>
          <a:solidFill>
            <a:srgbClr val="0B4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7240" y="5862690"/>
            <a:ext cx="658368" cy="658368"/>
          </a:xfrm>
          <a:prstGeom prst="ellipse">
            <a:avLst/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972418"/>
            <a:ext cx="6583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04333F"/>
                </a:solidFill>
                <a:latin typeface="Inter"/>
              </a:rPr>
              <a:t>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5752962"/>
            <a:ext cx="4526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900" b="1">
                <a:solidFill>
                  <a:srgbClr val="F2FBFA"/>
                </a:solidFill>
                <a:latin typeface="Montserrat"/>
              </a:rPr>
              <a:t>25% cheaper power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6283314"/>
            <a:ext cx="4526280" cy="6689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550" b="0">
                <a:solidFill>
                  <a:srgbClr val="A9CCC9"/>
                </a:solidFill>
                <a:latin typeface="Inter"/>
              </a:rPr>
              <a:t>Per-kWh pricing at a fixed discount from day one.</a:t>
            </a:r>
          </a:p>
        </p:txBody>
      </p:sp>
      <p:sp>
        <p:nvSpPr>
          <p:cNvPr id="14" name="!!p-card-2"/>
          <p:cNvSpPr/>
          <p:nvPr/>
        </p:nvSpPr>
        <p:spPr>
          <a:xfrm>
            <a:off x="502920" y="7299780"/>
            <a:ext cx="5852160" cy="1455378"/>
          </a:xfrm>
          <a:prstGeom prst="roundRect">
            <a:avLst>
              <a:gd name="adj" fmla="val 9000"/>
            </a:avLst>
          </a:prstGeom>
          <a:solidFill>
            <a:srgbClr val="0B4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77240" y="7592388"/>
            <a:ext cx="658368" cy="658368"/>
          </a:xfrm>
          <a:prstGeom prst="ellipse">
            <a:avLst/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7702116"/>
            <a:ext cx="6583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04333F"/>
                </a:solidFill>
                <a:latin typeface="Inter"/>
              </a:rPr>
              <a:t>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7482660"/>
            <a:ext cx="4526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900" b="1">
                <a:solidFill>
                  <a:srgbClr val="F2FBFA"/>
                </a:solidFill>
                <a:latin typeface="Montserrat"/>
              </a:rPr>
              <a:t>Fully operated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8013012"/>
            <a:ext cx="4526280" cy="6689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550" b="0">
                <a:solidFill>
                  <a:srgbClr val="A9CCC9"/>
                </a:solidFill>
                <a:latin typeface="Inter"/>
              </a:rPr>
              <a:t>Monitoring, cleaning, maintenance — performance guaranteed.</a:t>
            </a:r>
          </a:p>
        </p:txBody>
      </p:sp>
      <p:sp>
        <p:nvSpPr>
          <p:cNvPr id="19" name="!!p-card-3"/>
          <p:cNvSpPr/>
          <p:nvPr/>
        </p:nvSpPr>
        <p:spPr>
          <a:xfrm>
            <a:off x="502920" y="9029479"/>
            <a:ext cx="5852160" cy="1455378"/>
          </a:xfrm>
          <a:prstGeom prst="roundRect">
            <a:avLst>
              <a:gd name="adj" fmla="val 9000"/>
            </a:avLst>
          </a:prstGeom>
          <a:solidFill>
            <a:srgbClr val="0B4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7240" y="9322087"/>
            <a:ext cx="658368" cy="658368"/>
          </a:xfrm>
          <a:prstGeom prst="ellipse">
            <a:avLst/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9431815"/>
            <a:ext cx="6583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04333F"/>
                </a:solidFill>
                <a:latin typeface="Inter"/>
              </a:rPr>
              <a:t>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9212359"/>
            <a:ext cx="4526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900" b="1">
                <a:solidFill>
                  <a:srgbClr val="F2FBFA"/>
                </a:solidFill>
                <a:latin typeface="Montserrat"/>
              </a:rPr>
              <a:t>Live dashboard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9742711"/>
            <a:ext cx="4526280" cy="6689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550" b="0">
                <a:solidFill>
                  <a:srgbClr val="A9CCC9"/>
                </a:solidFill>
                <a:latin typeface="Inter"/>
              </a:rPr>
              <a:t>Generation, savings and CO2 reporting for ESG.</a:t>
            </a:r>
          </a:p>
        </p:txBody>
      </p:sp>
      <p:sp>
        <p:nvSpPr>
          <p:cNvPr id="24" name="!!p-orb"/>
          <p:cNvSpPr/>
          <p:nvPr/>
        </p:nvSpPr>
        <p:spPr>
          <a:xfrm>
            <a:off x="5806440" y="11231575"/>
            <a:ext cx="1554480" cy="1554480"/>
          </a:xfrm>
          <a:prstGeom prst="ellipse">
            <a:avLst/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!!p-orb-hole"/>
          <p:cNvSpPr/>
          <p:nvPr/>
        </p:nvSpPr>
        <p:spPr>
          <a:xfrm>
            <a:off x="6016752" y="11441887"/>
            <a:ext cx="1133856" cy="1133856"/>
          </a:xfrm>
          <a:prstGeom prst="ellipse">
            <a:avLst/>
          </a:prstGeom>
          <a:solidFill>
            <a:srgbClr val="04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!!brand"/>
          <p:cNvSpPr txBox="1"/>
          <p:nvPr/>
        </p:nvSpPr>
        <p:spPr>
          <a:xfrm>
            <a:off x="502920" y="566928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A9CCC9"/>
                </a:solidFill>
                <a:latin typeface="Montserrat"/>
              </a:rPr>
              <a:t>SAHARA SOLAR</a:t>
            </a:r>
          </a:p>
        </p:txBody>
      </p:sp>
      <p:sp>
        <p:nvSpPr>
          <p:cNvPr id="27" name="!!p-track"/>
          <p:cNvSpPr/>
          <p:nvPr/>
        </p:nvSpPr>
        <p:spPr>
          <a:xfrm>
            <a:off x="502920" y="347472"/>
            <a:ext cx="5852160" cy="41148"/>
          </a:xfrm>
          <a:prstGeom prst="rect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!!p-progress"/>
          <p:cNvSpPr/>
          <p:nvPr/>
        </p:nvSpPr>
        <p:spPr>
          <a:xfrm>
            <a:off x="502920" y="347472"/>
            <a:ext cx="2438400" cy="41148"/>
          </a:xfrm>
          <a:prstGeom prst="rect">
            <a:avLst/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!!pageno"/>
          <p:cNvSpPr txBox="1"/>
          <p:nvPr/>
        </p:nvSpPr>
        <p:spPr>
          <a:xfrm>
            <a:off x="5303520" y="566928"/>
            <a:ext cx="1051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A9CCC9"/>
                </a:solidFill>
                <a:latin typeface="Montserrat"/>
              </a:rPr>
              <a:t>5/12</a:t>
            </a:r>
          </a:p>
        </p:txBody>
      </p:sp>
    </p:spTree>
  </p:cSld>
  <p:clrMapOvr>
    <a:masterClrMapping/>
  </p:clrMapOvr>
  <p:transition xmlns:p14="http://schemas.microsoft.com/office/powerpoint/2010/main" spd="med" p14:dur="700" advClick="1" advTm="6923">
    <p14:morph type="byObject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3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89712"/>
            <a:ext cx="5852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7FE7D2"/>
                </a:solidFill>
                <a:latin typeface="Montserrat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392632"/>
            <a:ext cx="58521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600" b="1">
                <a:solidFill>
                  <a:srgbClr val="F2FBFA"/>
                </a:solidFill>
                <a:latin typeface="Montserrat"/>
              </a:rPr>
              <a:t>From empty roof to first kilowatt in 60 days</a:t>
            </a:r>
          </a:p>
        </p:txBody>
      </p:sp>
      <p:sp>
        <p:nvSpPr>
          <p:cNvPr id="4" name="!!p-line"/>
          <p:cNvSpPr/>
          <p:nvPr/>
        </p:nvSpPr>
        <p:spPr>
          <a:xfrm>
            <a:off x="941832" y="4724293"/>
            <a:ext cx="45720" cy="4663323"/>
          </a:xfrm>
          <a:prstGeom prst="rect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!!p-step-0"/>
          <p:cNvSpPr/>
          <p:nvPr/>
        </p:nvSpPr>
        <p:spPr>
          <a:xfrm>
            <a:off x="621792" y="4267093"/>
            <a:ext cx="685800" cy="685800"/>
          </a:xfrm>
          <a:prstGeom prst="ellipse">
            <a:avLst/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4413397"/>
            <a:ext cx="685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000" b="1">
                <a:solidFill>
                  <a:srgbClr val="04333F"/>
                </a:solidFill>
                <a:latin typeface="Montserrat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4248805"/>
            <a:ext cx="47091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900" b="1">
                <a:solidFill>
                  <a:srgbClr val="F2FBFA"/>
                </a:solidFill>
                <a:latin typeface="Montserrat"/>
              </a:rPr>
              <a:t>Survey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4888885"/>
            <a:ext cx="4709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550" b="0">
                <a:solidFill>
                  <a:srgbClr val="A9CCC9"/>
                </a:solidFill>
                <a:latin typeface="Inter"/>
              </a:rPr>
              <a:t>Drone scan and structural check within one week of signing.</a:t>
            </a:r>
          </a:p>
        </p:txBody>
      </p:sp>
      <p:sp>
        <p:nvSpPr>
          <p:cNvPr id="9" name="!!p-step-1"/>
          <p:cNvSpPr/>
          <p:nvPr/>
        </p:nvSpPr>
        <p:spPr>
          <a:xfrm>
            <a:off x="621792" y="5821534"/>
            <a:ext cx="685800" cy="685800"/>
          </a:xfrm>
          <a:prstGeom prst="ellipse">
            <a:avLst/>
          </a:prstGeom>
          <a:solidFill>
            <a:srgbClr val="0B4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5967838"/>
            <a:ext cx="685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000" b="1">
                <a:solidFill>
                  <a:srgbClr val="14C8B4"/>
                </a:solidFill>
                <a:latin typeface="Montserrat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5803246"/>
            <a:ext cx="47091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900" b="1">
                <a:solidFill>
                  <a:srgbClr val="F2FBFA"/>
                </a:solidFill>
                <a:latin typeface="Montserrat"/>
              </a:rPr>
              <a:t>Finance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6443326"/>
            <a:ext cx="4709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550" b="0">
                <a:solidFill>
                  <a:srgbClr val="A9CCC9"/>
                </a:solidFill>
                <a:latin typeface="Inter"/>
              </a:rPr>
              <a:t>Asset is funded from our project facility — no owner capex.</a:t>
            </a:r>
          </a:p>
        </p:txBody>
      </p:sp>
      <p:sp>
        <p:nvSpPr>
          <p:cNvPr id="13" name="!!p-step-2"/>
          <p:cNvSpPr/>
          <p:nvPr/>
        </p:nvSpPr>
        <p:spPr>
          <a:xfrm>
            <a:off x="621792" y="7375975"/>
            <a:ext cx="685800" cy="685800"/>
          </a:xfrm>
          <a:prstGeom prst="ellipse">
            <a:avLst/>
          </a:prstGeom>
          <a:solidFill>
            <a:srgbClr val="0B4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7522279"/>
            <a:ext cx="685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000" b="1">
                <a:solidFill>
                  <a:srgbClr val="14C8B4"/>
                </a:solidFill>
                <a:latin typeface="Montserrat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7357687"/>
            <a:ext cx="47091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900" b="1">
                <a:solidFill>
                  <a:srgbClr val="F2FBFA"/>
                </a:solidFill>
                <a:latin typeface="Montserrat"/>
              </a:rPr>
              <a:t>Install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7997767"/>
            <a:ext cx="4709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550" b="0">
                <a:solidFill>
                  <a:srgbClr val="A9CCC9"/>
                </a:solidFill>
                <a:latin typeface="Inter"/>
              </a:rPr>
              <a:t>Panels live in 3–5 weeks with zero disruption to tenants.</a:t>
            </a:r>
          </a:p>
        </p:txBody>
      </p:sp>
      <p:sp>
        <p:nvSpPr>
          <p:cNvPr id="17" name="!!p-step-3"/>
          <p:cNvSpPr/>
          <p:nvPr/>
        </p:nvSpPr>
        <p:spPr>
          <a:xfrm>
            <a:off x="621792" y="8930416"/>
            <a:ext cx="685800" cy="685800"/>
          </a:xfrm>
          <a:prstGeom prst="ellipse">
            <a:avLst/>
          </a:prstGeom>
          <a:solidFill>
            <a:srgbClr val="0B4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9076720"/>
            <a:ext cx="685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000" b="1">
                <a:solidFill>
                  <a:srgbClr val="14C8B4"/>
                </a:solidFill>
                <a:latin typeface="Montserrat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8912128"/>
            <a:ext cx="47091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900" b="1">
                <a:solidFill>
                  <a:srgbClr val="F2FBFA"/>
                </a:solidFill>
                <a:latin typeface="Montserrat"/>
              </a:rPr>
              <a:t>Earn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9552208"/>
            <a:ext cx="4709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550" b="0">
                <a:solidFill>
                  <a:srgbClr val="A9CCC9"/>
                </a:solidFill>
                <a:latin typeface="Inter"/>
              </a:rPr>
              <a:t>Owner buys discounted power; we operate and insure the asset.</a:t>
            </a:r>
          </a:p>
        </p:txBody>
      </p:sp>
      <p:sp>
        <p:nvSpPr>
          <p:cNvPr id="21" name="!!p-orb"/>
          <p:cNvSpPr/>
          <p:nvPr/>
        </p:nvSpPr>
        <p:spPr>
          <a:xfrm>
            <a:off x="5806440" y="11231575"/>
            <a:ext cx="1554480" cy="1554480"/>
          </a:xfrm>
          <a:prstGeom prst="ellipse">
            <a:avLst/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!!p-orb-hole"/>
          <p:cNvSpPr/>
          <p:nvPr/>
        </p:nvSpPr>
        <p:spPr>
          <a:xfrm>
            <a:off x="6016752" y="11441887"/>
            <a:ext cx="1133856" cy="1133856"/>
          </a:xfrm>
          <a:prstGeom prst="ellipse">
            <a:avLst/>
          </a:prstGeom>
          <a:solidFill>
            <a:srgbClr val="04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!!brand"/>
          <p:cNvSpPr txBox="1"/>
          <p:nvPr/>
        </p:nvSpPr>
        <p:spPr>
          <a:xfrm>
            <a:off x="502920" y="566928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A9CCC9"/>
                </a:solidFill>
                <a:latin typeface="Montserrat"/>
              </a:rPr>
              <a:t>SAHARA SOLAR</a:t>
            </a:r>
          </a:p>
        </p:txBody>
      </p:sp>
      <p:sp>
        <p:nvSpPr>
          <p:cNvPr id="24" name="!!p-track"/>
          <p:cNvSpPr/>
          <p:nvPr/>
        </p:nvSpPr>
        <p:spPr>
          <a:xfrm>
            <a:off x="502920" y="347472"/>
            <a:ext cx="5852160" cy="41148"/>
          </a:xfrm>
          <a:prstGeom prst="rect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!!p-progress"/>
          <p:cNvSpPr/>
          <p:nvPr/>
        </p:nvSpPr>
        <p:spPr>
          <a:xfrm>
            <a:off x="502920" y="347472"/>
            <a:ext cx="2926080" cy="41148"/>
          </a:xfrm>
          <a:prstGeom prst="rect">
            <a:avLst/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!!pageno"/>
          <p:cNvSpPr txBox="1"/>
          <p:nvPr/>
        </p:nvSpPr>
        <p:spPr>
          <a:xfrm>
            <a:off x="5303520" y="566928"/>
            <a:ext cx="1051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A9CCC9"/>
                </a:solidFill>
                <a:latin typeface="Montserrat"/>
              </a:rPr>
              <a:t>6/12</a:t>
            </a:r>
          </a:p>
        </p:txBody>
      </p:sp>
    </p:spTree>
  </p:cSld>
  <p:clrMapOvr>
    <a:masterClrMapping/>
  </p:clrMapOvr>
  <p:transition xmlns:p14="http://schemas.microsoft.com/office/powerpoint/2010/main" spd="med" p14:dur="700" advClick="1" advTm="6000">
    <p14:morph type="byObject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3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72588"/>
            <a:ext cx="5852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7FE7D2"/>
                </a:solidFill>
                <a:latin typeface="Montserrat"/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575508"/>
            <a:ext cx="58521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000" b="1">
                <a:solidFill>
                  <a:srgbClr val="F2FBFA"/>
                </a:solidFill>
                <a:latin typeface="Montserrat"/>
              </a:rPr>
              <a:t>A $48B regional market, a $1.2B beachhead</a:t>
            </a:r>
          </a:p>
        </p:txBody>
      </p:sp>
      <p:sp>
        <p:nvSpPr>
          <p:cNvPr id="4" name="!!p-stat"/>
          <p:cNvSpPr txBox="1"/>
          <p:nvPr/>
        </p:nvSpPr>
        <p:spPr>
          <a:xfrm>
            <a:off x="365760" y="4389010"/>
            <a:ext cx="61264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2000" b="1">
                <a:solidFill>
                  <a:srgbClr val="14C8B4"/>
                </a:solidFill>
                <a:latin typeface="Montserrat"/>
              </a:rPr>
              <a:t>$1.2B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05432"/>
            <a:ext cx="5577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F2FBFA"/>
                </a:solidFill>
                <a:latin typeface="Montserrat"/>
              </a:rPr>
              <a:t>SOM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741726"/>
            <a:ext cx="5212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400"/>
              </a:spcAft>
            </a:pPr>
            <a:r>
              <a:rPr sz="1800" b="0">
                <a:solidFill>
                  <a:srgbClr val="A9CCC9"/>
                </a:solidFill>
                <a:latin typeface="Inter"/>
              </a:rPr>
              <a:t>Our 3-year target across 400 contracted roofs</a:t>
            </a:r>
          </a:p>
        </p:txBody>
      </p:sp>
      <p:sp>
        <p:nvSpPr>
          <p:cNvPr id="7" name="!!p-orb"/>
          <p:cNvSpPr/>
          <p:nvPr/>
        </p:nvSpPr>
        <p:spPr>
          <a:xfrm>
            <a:off x="5806440" y="11231575"/>
            <a:ext cx="1554480" cy="1554480"/>
          </a:xfrm>
          <a:prstGeom prst="ellipse">
            <a:avLst/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!!p-orb-hole"/>
          <p:cNvSpPr/>
          <p:nvPr/>
        </p:nvSpPr>
        <p:spPr>
          <a:xfrm>
            <a:off x="6016752" y="11441887"/>
            <a:ext cx="1133856" cy="1133856"/>
          </a:xfrm>
          <a:prstGeom prst="ellipse">
            <a:avLst/>
          </a:prstGeom>
          <a:solidFill>
            <a:srgbClr val="04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!!brand"/>
          <p:cNvSpPr txBox="1"/>
          <p:nvPr/>
        </p:nvSpPr>
        <p:spPr>
          <a:xfrm>
            <a:off x="502920" y="566928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A9CCC9"/>
                </a:solidFill>
                <a:latin typeface="Montserrat"/>
              </a:rPr>
              <a:t>SAHARA SOLAR</a:t>
            </a:r>
          </a:p>
        </p:txBody>
      </p:sp>
      <p:sp>
        <p:nvSpPr>
          <p:cNvPr id="10" name="!!p-track"/>
          <p:cNvSpPr/>
          <p:nvPr/>
        </p:nvSpPr>
        <p:spPr>
          <a:xfrm>
            <a:off x="502920" y="347472"/>
            <a:ext cx="5852160" cy="41148"/>
          </a:xfrm>
          <a:prstGeom prst="rect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!!p-progress"/>
          <p:cNvSpPr/>
          <p:nvPr/>
        </p:nvSpPr>
        <p:spPr>
          <a:xfrm>
            <a:off x="502920" y="347472"/>
            <a:ext cx="3413760" cy="41148"/>
          </a:xfrm>
          <a:prstGeom prst="rect">
            <a:avLst/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!!pageno"/>
          <p:cNvSpPr txBox="1"/>
          <p:nvPr/>
        </p:nvSpPr>
        <p:spPr>
          <a:xfrm>
            <a:off x="5303520" y="566928"/>
            <a:ext cx="1051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A9CCC9"/>
                </a:solidFill>
                <a:latin typeface="Montserrat"/>
              </a:rPr>
              <a:t>7/12</a:t>
            </a:r>
          </a:p>
        </p:txBody>
      </p:sp>
    </p:spTree>
  </p:cSld>
  <p:clrMapOvr>
    <a:masterClrMapping/>
  </p:clrMapOvr>
  <p:transition xmlns:p14="http://schemas.microsoft.com/office/powerpoint/2010/main" spd="med" p14:dur="700" advClick="1" advTm="6000">
    <p14:morph type="byObject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3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89712"/>
            <a:ext cx="5852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7FE7D2"/>
                </a:solidFill>
                <a:latin typeface="Montserrat"/>
              </a:rPr>
              <a:t>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392632"/>
            <a:ext cx="58521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600" b="1">
                <a:solidFill>
                  <a:srgbClr val="F2FBFA"/>
                </a:solidFill>
                <a:latin typeface="Montserrat"/>
              </a:rPr>
              <a:t>Revenue tripled year over year — before paid marketing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010"/>
            <a:ext cx="4480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1">
                <a:solidFill>
                  <a:srgbClr val="F2FBFA"/>
                </a:solidFill>
                <a:latin typeface="Montserrat"/>
              </a:rPr>
              <a:t>2023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92040" y="4389010"/>
            <a:ext cx="1463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900" b="1">
                <a:solidFill>
                  <a:srgbClr val="A9CCC9"/>
                </a:solidFill>
                <a:latin typeface="Montserrat"/>
              </a:rPr>
              <a:t>18</a:t>
            </a:r>
          </a:p>
        </p:txBody>
      </p:sp>
      <p:sp>
        <p:nvSpPr>
          <p:cNvPr id="6" name="!!p-bar-0"/>
          <p:cNvSpPr/>
          <p:nvPr/>
        </p:nvSpPr>
        <p:spPr>
          <a:xfrm>
            <a:off x="502920" y="4846210"/>
            <a:ext cx="501613" cy="402336"/>
          </a:xfrm>
          <a:prstGeom prst="roundRect">
            <a:avLst>
              <a:gd name="adj" fmla="val 50000"/>
            </a:avLst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5559442"/>
            <a:ext cx="4480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1">
                <a:solidFill>
                  <a:srgbClr val="F2FBFA"/>
                </a:solidFill>
                <a:latin typeface="Montserrat"/>
              </a:rPr>
              <a:t>2024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92040" y="5559442"/>
            <a:ext cx="1463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900" b="1">
                <a:solidFill>
                  <a:srgbClr val="A9CCC9"/>
                </a:solidFill>
                <a:latin typeface="Montserrat"/>
              </a:rPr>
              <a:t>41</a:t>
            </a:r>
          </a:p>
        </p:txBody>
      </p:sp>
      <p:sp>
        <p:nvSpPr>
          <p:cNvPr id="9" name="!!p-bar-1"/>
          <p:cNvSpPr/>
          <p:nvPr/>
        </p:nvSpPr>
        <p:spPr>
          <a:xfrm>
            <a:off x="502920" y="6016642"/>
            <a:ext cx="1142564" cy="402336"/>
          </a:xfrm>
          <a:prstGeom prst="roundRect">
            <a:avLst>
              <a:gd name="adj" fmla="val 50000"/>
            </a:avLst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729874"/>
            <a:ext cx="4480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1">
                <a:solidFill>
                  <a:srgbClr val="F2FBFA"/>
                </a:solidFill>
                <a:latin typeface="Montserrat"/>
              </a:rPr>
              <a:t>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6729874"/>
            <a:ext cx="1463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900" b="1">
                <a:solidFill>
                  <a:srgbClr val="A9CCC9"/>
                </a:solidFill>
                <a:latin typeface="Montserrat"/>
              </a:rPr>
              <a:t>96</a:t>
            </a:r>
          </a:p>
        </p:txBody>
      </p:sp>
      <p:sp>
        <p:nvSpPr>
          <p:cNvPr id="12" name="!!p-bar-2"/>
          <p:cNvSpPr/>
          <p:nvPr/>
        </p:nvSpPr>
        <p:spPr>
          <a:xfrm>
            <a:off x="502920" y="7187074"/>
            <a:ext cx="2675273" cy="402336"/>
          </a:xfrm>
          <a:prstGeom prst="roundRect">
            <a:avLst>
              <a:gd name="adj" fmla="val 50000"/>
            </a:avLst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7900306"/>
            <a:ext cx="4480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1">
                <a:solidFill>
                  <a:srgbClr val="F2FBFA"/>
                </a:solidFill>
                <a:latin typeface="Montserrat"/>
              </a:rPr>
              <a:t>2026E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7900306"/>
            <a:ext cx="1463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900" b="1">
                <a:solidFill>
                  <a:srgbClr val="14C8B4"/>
                </a:solidFill>
                <a:latin typeface="Montserrat"/>
              </a:rPr>
              <a:t>210</a:t>
            </a:r>
          </a:p>
        </p:txBody>
      </p:sp>
      <p:sp>
        <p:nvSpPr>
          <p:cNvPr id="15" name="!!p-bar-3"/>
          <p:cNvSpPr/>
          <p:nvPr/>
        </p:nvSpPr>
        <p:spPr>
          <a:xfrm>
            <a:off x="502920" y="8357506"/>
            <a:ext cx="5852160" cy="402336"/>
          </a:xfrm>
          <a:prstGeom prst="roundRect">
            <a:avLst>
              <a:gd name="adj" fmla="val 50000"/>
            </a:avLst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9207898"/>
            <a:ext cx="5852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800" b="0">
                <a:solidFill>
                  <a:srgbClr val="F2FBFA"/>
                </a:solidFill>
                <a:latin typeface="Inter"/>
              </a:rPr>
              <a:t>210k MRR expected by end of 2026, driven by 63 live roofs and a signed pipeline of 140 more. All growth so far is referral-based.</a:t>
            </a:r>
          </a:p>
        </p:txBody>
      </p:sp>
      <p:sp>
        <p:nvSpPr>
          <p:cNvPr id="17" name="!!p-orb"/>
          <p:cNvSpPr/>
          <p:nvPr/>
        </p:nvSpPr>
        <p:spPr>
          <a:xfrm>
            <a:off x="5806440" y="11231575"/>
            <a:ext cx="1554480" cy="1554480"/>
          </a:xfrm>
          <a:prstGeom prst="ellipse">
            <a:avLst/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!!p-orb-hole"/>
          <p:cNvSpPr/>
          <p:nvPr/>
        </p:nvSpPr>
        <p:spPr>
          <a:xfrm>
            <a:off x="6016752" y="11441887"/>
            <a:ext cx="1133856" cy="1133856"/>
          </a:xfrm>
          <a:prstGeom prst="ellipse">
            <a:avLst/>
          </a:prstGeom>
          <a:solidFill>
            <a:srgbClr val="04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!!brand"/>
          <p:cNvSpPr txBox="1"/>
          <p:nvPr/>
        </p:nvSpPr>
        <p:spPr>
          <a:xfrm>
            <a:off x="502920" y="566928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A9CCC9"/>
                </a:solidFill>
                <a:latin typeface="Montserrat"/>
              </a:rPr>
              <a:t>SAHARA SOLAR</a:t>
            </a:r>
          </a:p>
        </p:txBody>
      </p:sp>
      <p:sp>
        <p:nvSpPr>
          <p:cNvPr id="20" name="!!p-track"/>
          <p:cNvSpPr/>
          <p:nvPr/>
        </p:nvSpPr>
        <p:spPr>
          <a:xfrm>
            <a:off x="502920" y="347472"/>
            <a:ext cx="5852160" cy="41148"/>
          </a:xfrm>
          <a:prstGeom prst="rect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!!p-progress"/>
          <p:cNvSpPr/>
          <p:nvPr/>
        </p:nvSpPr>
        <p:spPr>
          <a:xfrm>
            <a:off x="502920" y="347472"/>
            <a:ext cx="3901440" cy="41148"/>
          </a:xfrm>
          <a:prstGeom prst="rect">
            <a:avLst/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!!pageno"/>
          <p:cNvSpPr txBox="1"/>
          <p:nvPr/>
        </p:nvSpPr>
        <p:spPr>
          <a:xfrm>
            <a:off x="5303520" y="566928"/>
            <a:ext cx="1051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A9CCC9"/>
                </a:solidFill>
                <a:latin typeface="Montserrat"/>
              </a:rPr>
              <a:t>8/12</a:t>
            </a:r>
          </a:p>
        </p:txBody>
      </p:sp>
    </p:spTree>
  </p:cSld>
  <p:clrMapOvr>
    <a:masterClrMapping/>
  </p:clrMapOvr>
  <p:transition xmlns:p14="http://schemas.microsoft.com/office/powerpoint/2010/main" spd="med" p14:dur="700" advClick="1" advTm="6000">
    <p14:morph type="byObject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3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-stat"/>
          <p:cNvSpPr txBox="1"/>
          <p:nvPr/>
        </p:nvSpPr>
        <p:spPr>
          <a:xfrm>
            <a:off x="365760" y="4389010"/>
            <a:ext cx="61264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9200" b="1">
                <a:solidFill>
                  <a:srgbClr val="14C8B4"/>
                </a:solidFill>
                <a:latin typeface="Montserrat"/>
              </a:rPr>
              <a:t>63 roofs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05432"/>
            <a:ext cx="5577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F2FBFA"/>
                </a:solidFill>
                <a:latin typeface="Montserrat"/>
              </a:rPr>
              <a:t>Live and generating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41726"/>
            <a:ext cx="5212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400"/>
              </a:spcAft>
            </a:pPr>
            <a:r>
              <a:rPr sz="1800" b="0">
                <a:solidFill>
                  <a:srgbClr val="A9CCC9"/>
                </a:solidFill>
                <a:latin typeface="Inter"/>
              </a:rPr>
              <a:t>11.4 MW installed · 99.2% average uptime · zero owner churn</a:t>
            </a:r>
          </a:p>
        </p:txBody>
      </p:sp>
      <p:sp>
        <p:nvSpPr>
          <p:cNvPr id="5" name="!!p-orb"/>
          <p:cNvSpPr/>
          <p:nvPr/>
        </p:nvSpPr>
        <p:spPr>
          <a:xfrm>
            <a:off x="5806440" y="11231575"/>
            <a:ext cx="1554480" cy="1554480"/>
          </a:xfrm>
          <a:prstGeom prst="ellipse">
            <a:avLst/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!!p-orb-hole"/>
          <p:cNvSpPr/>
          <p:nvPr/>
        </p:nvSpPr>
        <p:spPr>
          <a:xfrm>
            <a:off x="6016752" y="11441887"/>
            <a:ext cx="1133856" cy="1133856"/>
          </a:xfrm>
          <a:prstGeom prst="ellipse">
            <a:avLst/>
          </a:prstGeom>
          <a:solidFill>
            <a:srgbClr val="04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!!brand"/>
          <p:cNvSpPr txBox="1"/>
          <p:nvPr/>
        </p:nvSpPr>
        <p:spPr>
          <a:xfrm>
            <a:off x="502920" y="566928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A9CCC9"/>
                </a:solidFill>
                <a:latin typeface="Montserrat"/>
              </a:rPr>
              <a:t>SAHARA SOLAR</a:t>
            </a:r>
          </a:p>
        </p:txBody>
      </p:sp>
      <p:sp>
        <p:nvSpPr>
          <p:cNvPr id="8" name="!!p-track"/>
          <p:cNvSpPr/>
          <p:nvPr/>
        </p:nvSpPr>
        <p:spPr>
          <a:xfrm>
            <a:off x="502920" y="347472"/>
            <a:ext cx="5852160" cy="41148"/>
          </a:xfrm>
          <a:prstGeom prst="rect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!!p-progress"/>
          <p:cNvSpPr/>
          <p:nvPr/>
        </p:nvSpPr>
        <p:spPr>
          <a:xfrm>
            <a:off x="502920" y="347472"/>
            <a:ext cx="4389120" cy="41148"/>
          </a:xfrm>
          <a:prstGeom prst="rect">
            <a:avLst/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!!pageno"/>
          <p:cNvSpPr txBox="1"/>
          <p:nvPr/>
        </p:nvSpPr>
        <p:spPr>
          <a:xfrm>
            <a:off x="5303520" y="566928"/>
            <a:ext cx="1051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A9CCC9"/>
                </a:solidFill>
                <a:latin typeface="Montserrat"/>
              </a:rPr>
              <a:t>9/12</a:t>
            </a:r>
          </a:p>
        </p:txBody>
      </p:sp>
    </p:spTree>
  </p:cSld>
  <p:clrMapOvr>
    <a:masterClrMapping/>
  </p:clrMapOvr>
  <p:transition xmlns:p14="http://schemas.microsoft.com/office/powerpoint/2010/main" spd="med" p14:dur="700" advClick="1" advTm="6000">
    <p14:morph type="byObject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3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89712"/>
            <a:ext cx="5852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7FE7D2"/>
                </a:solidFill>
                <a:latin typeface="Montserrat"/>
              </a:rPr>
              <a:t>COMPETITION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392632"/>
            <a:ext cx="58521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600" b="1">
                <a:solidFill>
                  <a:srgbClr val="F2FBFA"/>
                </a:solidFill>
                <a:latin typeface="Montserrat"/>
              </a:rPr>
              <a:t>We win on financing, not just panels</a:t>
            </a:r>
          </a:p>
        </p:txBody>
      </p:sp>
      <p:sp>
        <p:nvSpPr>
          <p:cNvPr id="4" name="!!p-panel-0"/>
          <p:cNvSpPr/>
          <p:nvPr/>
        </p:nvSpPr>
        <p:spPr>
          <a:xfrm>
            <a:off x="502920" y="4206134"/>
            <a:ext cx="5852160" cy="2865048"/>
          </a:xfrm>
          <a:prstGeom prst="roundRect">
            <a:avLst>
              <a:gd name="adj" fmla="val 7000"/>
            </a:avLst>
          </a:prstGeom>
          <a:solidFill>
            <a:srgbClr val="0B4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462166"/>
            <a:ext cx="5120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1">
                <a:solidFill>
                  <a:srgbClr val="A9CCC9"/>
                </a:solidFill>
                <a:latin typeface="Montserrat"/>
              </a:rPr>
              <a:t>Buy panels yourself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074814"/>
            <a:ext cx="5120640" cy="1859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50" b="0">
                <a:solidFill>
                  <a:srgbClr val="A9CCC9"/>
                </a:solidFill>
                <a:latin typeface="Inter"/>
              </a:rPr>
              <a:t>✕ $400k+ upfront capex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50" b="0">
                <a:solidFill>
                  <a:srgbClr val="A9CCC9"/>
                </a:solidFill>
                <a:latin typeface="Inter"/>
              </a:rPr>
              <a:t>✕ Owner carries performance risk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50" b="0">
                <a:solidFill>
                  <a:srgbClr val="A9CCC9"/>
                </a:solidFill>
                <a:latin typeface="Inter"/>
              </a:rPr>
              <a:t>✕ Owner manages maintenance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50" b="0">
                <a:solidFill>
                  <a:srgbClr val="A9CCC9"/>
                </a:solidFill>
                <a:latin typeface="Inter"/>
              </a:rPr>
              <a:t>✕ Full ownership</a:t>
            </a:r>
          </a:p>
        </p:txBody>
      </p:sp>
      <p:sp>
        <p:nvSpPr>
          <p:cNvPr id="7" name="!!p-panel-1"/>
          <p:cNvSpPr/>
          <p:nvPr/>
        </p:nvSpPr>
        <p:spPr>
          <a:xfrm>
            <a:off x="502920" y="7455231"/>
            <a:ext cx="5852160" cy="2865048"/>
          </a:xfrm>
          <a:prstGeom prst="roundRect">
            <a:avLst>
              <a:gd name="adj" fmla="val 7000"/>
            </a:avLst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7711263"/>
            <a:ext cx="5120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1">
                <a:solidFill>
                  <a:srgbClr val="04333F"/>
                </a:solidFill>
                <a:latin typeface="Montserrat"/>
              </a:rPr>
              <a:t>Sahara Solar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8323911"/>
            <a:ext cx="5120640" cy="1859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50" b="0">
                <a:solidFill>
                  <a:srgbClr val="04333F"/>
                </a:solidFill>
                <a:latin typeface="Inter"/>
              </a:rPr>
              <a:t>✓ Zero upfront cost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50" b="0">
                <a:solidFill>
                  <a:srgbClr val="04333F"/>
                </a:solidFill>
                <a:latin typeface="Inter"/>
              </a:rPr>
              <a:t>✓ Guaranteed output &amp; uptime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50" b="0">
                <a:solidFill>
                  <a:srgbClr val="04333F"/>
                </a:solidFill>
                <a:latin typeface="Inter"/>
              </a:rPr>
              <a:t>✓ Operations fully included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50" b="0">
                <a:solidFill>
                  <a:srgbClr val="04333F"/>
                </a:solidFill>
                <a:latin typeface="Inter"/>
              </a:rPr>
              <a:t>✓ ESG dashboard + carbon share</a:t>
            </a:r>
          </a:p>
        </p:txBody>
      </p:sp>
      <p:sp>
        <p:nvSpPr>
          <p:cNvPr id="10" name="!!p-orb"/>
          <p:cNvSpPr/>
          <p:nvPr/>
        </p:nvSpPr>
        <p:spPr>
          <a:xfrm>
            <a:off x="5806440" y="11231575"/>
            <a:ext cx="1554480" cy="1554480"/>
          </a:xfrm>
          <a:prstGeom prst="ellipse">
            <a:avLst/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!!p-orb-hole"/>
          <p:cNvSpPr/>
          <p:nvPr/>
        </p:nvSpPr>
        <p:spPr>
          <a:xfrm>
            <a:off x="6016752" y="11441887"/>
            <a:ext cx="1133856" cy="1133856"/>
          </a:xfrm>
          <a:prstGeom prst="ellipse">
            <a:avLst/>
          </a:prstGeom>
          <a:solidFill>
            <a:srgbClr val="04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!!brand"/>
          <p:cNvSpPr txBox="1"/>
          <p:nvPr/>
        </p:nvSpPr>
        <p:spPr>
          <a:xfrm>
            <a:off x="502920" y="566928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A9CCC9"/>
                </a:solidFill>
                <a:latin typeface="Montserrat"/>
              </a:rPr>
              <a:t>SAHARA SOLAR</a:t>
            </a:r>
          </a:p>
        </p:txBody>
      </p:sp>
      <p:sp>
        <p:nvSpPr>
          <p:cNvPr id="13" name="!!p-track"/>
          <p:cNvSpPr/>
          <p:nvPr/>
        </p:nvSpPr>
        <p:spPr>
          <a:xfrm>
            <a:off x="502920" y="347472"/>
            <a:ext cx="5852160" cy="41148"/>
          </a:xfrm>
          <a:prstGeom prst="rect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!!p-progress"/>
          <p:cNvSpPr/>
          <p:nvPr/>
        </p:nvSpPr>
        <p:spPr>
          <a:xfrm>
            <a:off x="502920" y="347472"/>
            <a:ext cx="4876800" cy="41148"/>
          </a:xfrm>
          <a:prstGeom prst="rect">
            <a:avLst/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!!pageno"/>
          <p:cNvSpPr txBox="1"/>
          <p:nvPr/>
        </p:nvSpPr>
        <p:spPr>
          <a:xfrm>
            <a:off x="5303520" y="566928"/>
            <a:ext cx="1051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A9CCC9"/>
                </a:solidFill>
                <a:latin typeface="Montserrat"/>
              </a:rPr>
              <a:t>10/12</a:t>
            </a:r>
          </a:p>
        </p:txBody>
      </p:sp>
    </p:spTree>
  </p:cSld>
  <p:clrMapOvr>
    <a:masterClrMapping/>
  </p:clrMapOvr>
  <p:transition xmlns:p14="http://schemas.microsoft.com/office/powerpoint/2010/main" spd="med" p14:dur="700" advClick="1" advTm="6461">
    <p14:morph type="byObject"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3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89712"/>
            <a:ext cx="5852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7FE7D2"/>
                </a:solidFill>
                <a:latin typeface="Montserrat"/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392632"/>
            <a:ext cx="58521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600" b="1">
                <a:solidFill>
                  <a:srgbClr val="F2FBFA"/>
                </a:solidFill>
                <a:latin typeface="Montserrat"/>
              </a:rPr>
              <a:t>Operators who have built this before</a:t>
            </a:r>
          </a:p>
        </p:txBody>
      </p:sp>
      <p:sp>
        <p:nvSpPr>
          <p:cNvPr id="4" name="!!p-card-0"/>
          <p:cNvSpPr/>
          <p:nvPr/>
        </p:nvSpPr>
        <p:spPr>
          <a:xfrm>
            <a:off x="502920" y="3840383"/>
            <a:ext cx="5852160" cy="1627632"/>
          </a:xfrm>
          <a:prstGeom prst="roundRect">
            <a:avLst>
              <a:gd name="adj" fmla="val 9000"/>
            </a:avLst>
          </a:prstGeom>
          <a:solidFill>
            <a:srgbClr val="0B4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4132991"/>
            <a:ext cx="658368" cy="658368"/>
          </a:xfrm>
          <a:prstGeom prst="ellipse">
            <a:avLst/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242719"/>
            <a:ext cx="6583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04333F"/>
                </a:solidFill>
                <a:latin typeface="Inter"/>
              </a:rPr>
              <a:t>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4023263"/>
            <a:ext cx="4526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900" b="1">
                <a:solidFill>
                  <a:srgbClr val="F2FBFA"/>
                </a:solidFill>
                <a:latin typeface="Montserrat"/>
              </a:rPr>
              <a:t>Layla Haddad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4553615"/>
            <a:ext cx="45262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550" b="0">
                <a:solidFill>
                  <a:srgbClr val="A9CCC9"/>
                </a:solidFill>
                <a:latin typeface="Inter"/>
              </a:rPr>
              <a:t>CEO — Previously VP at a regional utility; closed $300M in energy…</a:t>
            </a:r>
          </a:p>
        </p:txBody>
      </p:sp>
      <p:sp>
        <p:nvSpPr>
          <p:cNvPr id="9" name="!!p-card-1"/>
          <p:cNvSpPr/>
          <p:nvPr/>
        </p:nvSpPr>
        <p:spPr>
          <a:xfrm>
            <a:off x="502920" y="5742335"/>
            <a:ext cx="5852160" cy="1627632"/>
          </a:xfrm>
          <a:prstGeom prst="roundRect">
            <a:avLst>
              <a:gd name="adj" fmla="val 9000"/>
            </a:avLst>
          </a:prstGeom>
          <a:solidFill>
            <a:srgbClr val="0B4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7240" y="6034943"/>
            <a:ext cx="658368" cy="658368"/>
          </a:xfrm>
          <a:prstGeom prst="ellipse">
            <a:avLst/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144671"/>
            <a:ext cx="6583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04333F"/>
                </a:solidFill>
                <a:latin typeface="Inter"/>
              </a:rPr>
              <a:t>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5925215"/>
            <a:ext cx="4526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900" b="1">
                <a:solidFill>
                  <a:srgbClr val="F2FBFA"/>
                </a:solidFill>
                <a:latin typeface="Montserrat"/>
              </a:rPr>
              <a:t>Omar Farouk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6455567"/>
            <a:ext cx="45262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550" b="0">
                <a:solidFill>
                  <a:srgbClr val="A9CCC9"/>
                </a:solidFill>
                <a:latin typeface="Inter"/>
              </a:rPr>
              <a:t>CTO — Built monitoring platforms for 1.2 GW of solar assets across three…</a:t>
            </a:r>
          </a:p>
        </p:txBody>
      </p:sp>
      <p:sp>
        <p:nvSpPr>
          <p:cNvPr id="14" name="!!p-card-2"/>
          <p:cNvSpPr/>
          <p:nvPr/>
        </p:nvSpPr>
        <p:spPr>
          <a:xfrm>
            <a:off x="502920" y="7644287"/>
            <a:ext cx="5852160" cy="1627632"/>
          </a:xfrm>
          <a:prstGeom prst="roundRect">
            <a:avLst>
              <a:gd name="adj" fmla="val 9000"/>
            </a:avLst>
          </a:prstGeom>
          <a:solidFill>
            <a:srgbClr val="0B4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77240" y="7936895"/>
            <a:ext cx="658368" cy="658368"/>
          </a:xfrm>
          <a:prstGeom prst="ellipse">
            <a:avLst/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8046623"/>
            <a:ext cx="6583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04333F"/>
                </a:solidFill>
                <a:latin typeface="Inter"/>
              </a:rPr>
              <a:t>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7827167"/>
            <a:ext cx="4526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900" b="1">
                <a:solidFill>
                  <a:srgbClr val="F2FBFA"/>
                </a:solidFill>
                <a:latin typeface="Montserrat"/>
              </a:rPr>
              <a:t>Priya Nair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8357519"/>
            <a:ext cx="45262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550" b="0">
                <a:solidFill>
                  <a:srgbClr val="A9CCC9"/>
                </a:solidFill>
                <a:latin typeface="Inter"/>
              </a:rPr>
              <a:t>CFO — Structured project-finance facilities for two listed renewable developers.</a:t>
            </a:r>
          </a:p>
        </p:txBody>
      </p:sp>
      <p:sp>
        <p:nvSpPr>
          <p:cNvPr id="19" name="!!p-orb"/>
          <p:cNvSpPr/>
          <p:nvPr/>
        </p:nvSpPr>
        <p:spPr>
          <a:xfrm>
            <a:off x="5806440" y="11231575"/>
            <a:ext cx="1554480" cy="1554480"/>
          </a:xfrm>
          <a:prstGeom prst="ellipse">
            <a:avLst/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!!p-orb-hole"/>
          <p:cNvSpPr/>
          <p:nvPr/>
        </p:nvSpPr>
        <p:spPr>
          <a:xfrm>
            <a:off x="6016752" y="11441887"/>
            <a:ext cx="1133856" cy="1133856"/>
          </a:xfrm>
          <a:prstGeom prst="ellipse">
            <a:avLst/>
          </a:prstGeom>
          <a:solidFill>
            <a:srgbClr val="04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!!brand"/>
          <p:cNvSpPr txBox="1"/>
          <p:nvPr/>
        </p:nvSpPr>
        <p:spPr>
          <a:xfrm>
            <a:off x="502920" y="566928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A9CCC9"/>
                </a:solidFill>
                <a:latin typeface="Montserrat"/>
              </a:rPr>
              <a:t>SAHARA SOLAR</a:t>
            </a:r>
          </a:p>
        </p:txBody>
      </p:sp>
      <p:sp>
        <p:nvSpPr>
          <p:cNvPr id="22" name="!!p-track"/>
          <p:cNvSpPr/>
          <p:nvPr/>
        </p:nvSpPr>
        <p:spPr>
          <a:xfrm>
            <a:off x="502920" y="347472"/>
            <a:ext cx="5852160" cy="41148"/>
          </a:xfrm>
          <a:prstGeom prst="rect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!!p-progress"/>
          <p:cNvSpPr/>
          <p:nvPr/>
        </p:nvSpPr>
        <p:spPr>
          <a:xfrm>
            <a:off x="502920" y="347472"/>
            <a:ext cx="5364480" cy="41148"/>
          </a:xfrm>
          <a:prstGeom prst="rect">
            <a:avLst/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!!pageno"/>
          <p:cNvSpPr txBox="1"/>
          <p:nvPr/>
        </p:nvSpPr>
        <p:spPr>
          <a:xfrm>
            <a:off x="5303520" y="566928"/>
            <a:ext cx="1051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A9CCC9"/>
                </a:solidFill>
                <a:latin typeface="Montserrat"/>
              </a:rPr>
              <a:t>11/12</a:t>
            </a:r>
          </a:p>
        </p:txBody>
      </p:sp>
    </p:spTree>
  </p:cSld>
  <p:clrMapOvr>
    <a:masterClrMapping/>
  </p:clrMapOvr>
  <p:transition xmlns:p14="http://schemas.microsoft.com/office/powerpoint/2010/main" spd="med" p14:dur="700" advClick="1" advTm="6923">
    <p14:morph type="byObject"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3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-hero-orb"/>
          <p:cNvSpPr/>
          <p:nvPr/>
        </p:nvSpPr>
        <p:spPr>
          <a:xfrm>
            <a:off x="-1920240" y="6827349"/>
            <a:ext cx="5486400" cy="5486400"/>
          </a:xfrm>
          <a:prstGeom prst="ellipse">
            <a:avLst/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!!p-ask"/>
          <p:cNvSpPr txBox="1"/>
          <p:nvPr/>
        </p:nvSpPr>
        <p:spPr>
          <a:xfrm>
            <a:off x="502920" y="2926006"/>
            <a:ext cx="585216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100" b="1">
                <a:solidFill>
                  <a:srgbClr val="F2FBFA"/>
                </a:solidFill>
                <a:latin typeface="Montserrat"/>
              </a:rPr>
              <a:t>Raising $4M seed — 18 months of runway to 250 live roofs and Series A metrics.</a:t>
            </a:r>
          </a:p>
        </p:txBody>
      </p:sp>
      <p:sp>
        <p:nvSpPr>
          <p:cNvPr id="4" name="!!p-handle"/>
          <p:cNvSpPr/>
          <p:nvPr/>
        </p:nvSpPr>
        <p:spPr>
          <a:xfrm>
            <a:off x="502920" y="6766390"/>
            <a:ext cx="10515599" cy="621792"/>
          </a:xfrm>
          <a:prstGeom prst="roundRect">
            <a:avLst>
              <a:gd name="adj" fmla="val 50000"/>
            </a:avLst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885262"/>
            <a:ext cx="1051559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900" b="1">
                <a:solidFill>
                  <a:srgbClr val="04333F"/>
                </a:solidFill>
                <a:latin typeface="Montserrat"/>
              </a:rPr>
              <a:t>Layla Haddad  ·  founders@example.com  ·  Data room available on request</a:t>
            </a:r>
          </a:p>
        </p:txBody>
      </p:sp>
      <p:sp>
        <p:nvSpPr>
          <p:cNvPr id="6" name="!!p-orb"/>
          <p:cNvSpPr/>
          <p:nvPr/>
        </p:nvSpPr>
        <p:spPr>
          <a:xfrm>
            <a:off x="5806440" y="11231575"/>
            <a:ext cx="1554480" cy="1554480"/>
          </a:xfrm>
          <a:prstGeom prst="ellipse">
            <a:avLst/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!!p-orb-hole"/>
          <p:cNvSpPr/>
          <p:nvPr/>
        </p:nvSpPr>
        <p:spPr>
          <a:xfrm>
            <a:off x="6016752" y="11441887"/>
            <a:ext cx="1133856" cy="1133856"/>
          </a:xfrm>
          <a:prstGeom prst="ellipse">
            <a:avLst/>
          </a:prstGeom>
          <a:solidFill>
            <a:srgbClr val="04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!!brand"/>
          <p:cNvSpPr txBox="1"/>
          <p:nvPr/>
        </p:nvSpPr>
        <p:spPr>
          <a:xfrm>
            <a:off x="502920" y="566928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A9CCC9"/>
                </a:solidFill>
                <a:latin typeface="Montserrat"/>
              </a:rPr>
              <a:t>SAHARA SOLAR</a:t>
            </a:r>
          </a:p>
        </p:txBody>
      </p:sp>
      <p:sp>
        <p:nvSpPr>
          <p:cNvPr id="9" name="!!p-track"/>
          <p:cNvSpPr/>
          <p:nvPr/>
        </p:nvSpPr>
        <p:spPr>
          <a:xfrm>
            <a:off x="502920" y="347472"/>
            <a:ext cx="5852160" cy="41148"/>
          </a:xfrm>
          <a:prstGeom prst="rect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!!p-progress"/>
          <p:cNvSpPr/>
          <p:nvPr/>
        </p:nvSpPr>
        <p:spPr>
          <a:xfrm>
            <a:off x="502920" y="347472"/>
            <a:ext cx="5852160" cy="41148"/>
          </a:xfrm>
          <a:prstGeom prst="rect">
            <a:avLst/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!!pageno"/>
          <p:cNvSpPr txBox="1"/>
          <p:nvPr/>
        </p:nvSpPr>
        <p:spPr>
          <a:xfrm>
            <a:off x="5303520" y="566928"/>
            <a:ext cx="1051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A9CCC9"/>
                </a:solidFill>
                <a:latin typeface="Montserrat"/>
              </a:rPr>
              <a:t>12/12</a:t>
            </a:r>
          </a:p>
        </p:txBody>
      </p:sp>
    </p:spTree>
  </p:cSld>
  <p:clrMapOvr>
    <a:masterClrMapping/>
  </p:clrMapOvr>
  <p:transition xmlns:p14="http://schemas.microsoft.com/office/powerpoint/2010/main" spd="med" p14:dur="700" advClick="1" advTm="6461">
    <p14:morph type="byObject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Sahara Solar — Investor Pitch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