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افتح بعبارة واحدة: ماذا نفعل ولمن. لا تقرأ الشريحة.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خارطة طريق سريعة في ٢٠ ثانية.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اجعل الألم ملموسا بقصة متجر واحد من مكة.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أربعة أرقام فقط — كل رقم يرد على اعتراض.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لاحظ اتجاه الأسهم لليسار — اتجاه القراءة العربية.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المقارنة متوازية بندا ببند — الفارق واضح دون شرح طويل.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اذكر الرقم والهدف والمدة — ثم توقف وانتظر الرد.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-2164385" y="-2011680"/>
            <a:ext cx="5852160" cy="5852160"/>
          </a:xfrm>
          <a:prstGeom prst="ellipse">
            <a:avLst/>
          </a:prstGeom>
          <a:noFill/>
          <a:ln w="127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" name="!!hero-orb"/>
          <p:cNvSpPr/>
          <p:nvPr/>
        </p:nvSpPr>
        <p:spPr>
          <a:xfrm>
            <a:off x="-876909" y="-724204"/>
            <a:ext cx="3277209" cy="3277209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" name="!!accent-bar"/>
          <p:cNvSpPr/>
          <p:nvPr/>
        </p:nvSpPr>
        <p:spPr>
          <a:xfrm>
            <a:off x="10801807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5" name="!!brand"/>
          <p:cNvSpPr txBox="1"/>
          <p:nvPr/>
        </p:nvSpPr>
        <p:spPr>
          <a:xfrm>
            <a:off x="6092647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CDBE"/>
                </a:solidFill>
                <a:latin typeface="Tajawal"/>
              </a:rPr>
              <a:t>منصة وصل</a:t>
            </a:r>
          </a:p>
        </p:txBody>
      </p:sp>
      <p:sp>
        <p:nvSpPr>
          <p:cNvPr id="6" name="!!pageno"/>
          <p:cNvSpPr txBox="1"/>
          <p:nvPr/>
        </p:nvSpPr>
        <p:spPr>
          <a:xfrm>
            <a:off x="5788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CDBE"/>
                </a:solidFill>
                <a:latin typeface="Tajawal"/>
              </a:rPr>
              <a:t>01</a:t>
            </a:r>
          </a:p>
        </p:txBody>
      </p:sp>
      <p:sp>
        <p:nvSpPr>
          <p:cNvPr id="7" name="!!hero-title"/>
          <p:cNvSpPr txBox="1"/>
          <p:nvPr/>
        </p:nvSpPr>
        <p:spPr>
          <a:xfrm>
            <a:off x="3715207" y="1417320"/>
            <a:ext cx="7863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4800" b="1">
                <a:solidFill>
                  <a:srgbClr val="ECFCF5"/>
                </a:solidFill>
                <a:latin typeface="Cairo"/>
              </a:rPr>
              <a:t>وصل: لوجستيات
المدن الذكية</a:t>
            </a:r>
          </a:p>
        </p:txBody>
      </p:sp>
      <p:sp>
        <p:nvSpPr>
          <p:cNvPr id="8" name="!!hero-sub"/>
          <p:cNvSpPr txBox="1"/>
          <p:nvPr/>
        </p:nvSpPr>
        <p:spPr>
          <a:xfrm>
            <a:off x="4629607" y="3246120"/>
            <a:ext cx="6949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400"/>
              </a:spcAft>
            </a:pPr>
            <a:r>
              <a:rPr sz="2000" b="0">
                <a:solidFill>
                  <a:srgbClr val="A7CDBE"/>
                </a:solidFill>
                <a:latin typeface="Tajawal"/>
              </a:rPr>
              <a:t>منصة سعودية تربط المتاجر المحلية بشركات التوصيل في شبكة واحدة — توصيل خلال ٣٠ دقيقة داخل المدن.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9607" y="470916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6EE7B7"/>
                </a:solidFill>
                <a:latin typeface="Cairo"/>
              </a:rPr>
              <a:t>جولة استثمارية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-1067105" y="5394960"/>
            <a:ext cx="2377440" cy="2377440"/>
          </a:xfrm>
          <a:prstGeom prst="ellipse">
            <a:avLst/>
          </a:prstGeom>
          <a:noFill/>
          <a:ln w="127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" name="!!hero-orb"/>
          <p:cNvSpPr/>
          <p:nvPr/>
        </p:nvSpPr>
        <p:spPr>
          <a:xfrm>
            <a:off x="-544067" y="5917996"/>
            <a:ext cx="1331366" cy="133136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" name="!!accent-bar"/>
          <p:cNvSpPr/>
          <p:nvPr/>
        </p:nvSpPr>
        <p:spPr>
          <a:xfrm>
            <a:off x="10801807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5" name="!!kicker"/>
          <p:cNvSpPr txBox="1"/>
          <p:nvPr/>
        </p:nvSpPr>
        <p:spPr>
          <a:xfrm>
            <a:off x="3806647" y="4754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6EE7B7"/>
                </a:solidFill>
                <a:latin typeface="Cairo"/>
              </a:rPr>
              <a:t>المحاور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6092647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CDBE"/>
                </a:solidFill>
                <a:latin typeface="Tajawal"/>
              </a:rPr>
              <a:t>منصة وصل</a:t>
            </a:r>
          </a:p>
        </p:txBody>
      </p:sp>
      <p:sp>
        <p:nvSpPr>
          <p:cNvPr id="7" name="!!pageno"/>
          <p:cNvSpPr txBox="1"/>
          <p:nvPr/>
        </p:nvSpPr>
        <p:spPr>
          <a:xfrm>
            <a:off x="5788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CDBE"/>
                </a:solidFill>
                <a:latin typeface="Tajawal"/>
              </a:rPr>
              <a:t>02</a:t>
            </a:r>
          </a:p>
        </p:txBody>
      </p:sp>
      <p:sp>
        <p:nvSpPr>
          <p:cNvPr id="8" name="!!headline"/>
          <p:cNvSpPr txBox="1"/>
          <p:nvPr/>
        </p:nvSpPr>
        <p:spPr>
          <a:xfrm>
            <a:off x="1154887" y="841248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ECFCF5"/>
                </a:solidFill>
                <a:latin typeface="Cairo"/>
              </a:rPr>
              <a:t>ماذا سنغطي اليوم؟</a:t>
            </a:r>
          </a:p>
        </p:txBody>
      </p:sp>
      <p:sp>
        <p:nvSpPr>
          <p:cNvPr id="9" name="!!nav-dot-0"/>
          <p:cNvSpPr/>
          <p:nvPr/>
        </p:nvSpPr>
        <p:spPr>
          <a:xfrm>
            <a:off x="11103559" y="1883664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0" name="TextBox 9"/>
          <p:cNvSpPr txBox="1"/>
          <p:nvPr/>
        </p:nvSpPr>
        <p:spPr>
          <a:xfrm>
            <a:off x="11103559" y="19476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6231A"/>
                </a:solidFill>
                <a:latin typeface="Cair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9015" y="1828800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ECFCF5"/>
                </a:solidFill>
                <a:latin typeface="Cairo"/>
              </a:rPr>
              <a:t>المشكلة: توصيل بطيء ومكلف</a:t>
            </a:r>
          </a:p>
        </p:txBody>
      </p:sp>
      <p:sp>
        <p:nvSpPr>
          <p:cNvPr id="12" name="!!nav-dot-1"/>
          <p:cNvSpPr/>
          <p:nvPr/>
        </p:nvSpPr>
        <p:spPr>
          <a:xfrm>
            <a:off x="11103559" y="2596896"/>
            <a:ext cx="475488" cy="475488"/>
          </a:xfrm>
          <a:prstGeom prst="ellipse">
            <a:avLst/>
          </a:prstGeom>
          <a:solidFill>
            <a:srgbClr val="0B3527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3" name="TextBox 12"/>
          <p:cNvSpPr txBox="1"/>
          <p:nvPr/>
        </p:nvSpPr>
        <p:spPr>
          <a:xfrm>
            <a:off x="11103559" y="2660904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ECFCF5"/>
                </a:solidFill>
                <a:latin typeface="Cair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9015" y="2542032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A7CDBE"/>
                </a:solidFill>
                <a:latin typeface="Cairo"/>
              </a:rPr>
              <a:t>الحل: شبكة وصل الموحدة</a:t>
            </a:r>
          </a:p>
        </p:txBody>
      </p:sp>
      <p:sp>
        <p:nvSpPr>
          <p:cNvPr id="15" name="!!nav-dot-2"/>
          <p:cNvSpPr/>
          <p:nvPr/>
        </p:nvSpPr>
        <p:spPr>
          <a:xfrm>
            <a:off x="11103559" y="3310128"/>
            <a:ext cx="475488" cy="475488"/>
          </a:xfrm>
          <a:prstGeom prst="ellipse">
            <a:avLst/>
          </a:prstGeom>
          <a:solidFill>
            <a:srgbClr val="0B3527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6" name="TextBox 15"/>
          <p:cNvSpPr txBox="1"/>
          <p:nvPr/>
        </p:nvSpPr>
        <p:spPr>
          <a:xfrm>
            <a:off x="11103559" y="3374136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ECFCF5"/>
                </a:solidFill>
                <a:latin typeface="Cair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9015" y="3255264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A7CDBE"/>
                </a:solidFill>
                <a:latin typeface="Cairo"/>
              </a:rPr>
              <a:t>السوق ونموذج العمل</a:t>
            </a:r>
          </a:p>
        </p:txBody>
      </p:sp>
      <p:sp>
        <p:nvSpPr>
          <p:cNvPr id="18" name="!!nav-dot-3"/>
          <p:cNvSpPr/>
          <p:nvPr/>
        </p:nvSpPr>
        <p:spPr>
          <a:xfrm>
            <a:off x="11103559" y="4023360"/>
            <a:ext cx="475488" cy="475488"/>
          </a:xfrm>
          <a:prstGeom prst="ellipse">
            <a:avLst/>
          </a:prstGeom>
          <a:solidFill>
            <a:srgbClr val="0B3527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9" name="TextBox 18"/>
          <p:cNvSpPr txBox="1"/>
          <p:nvPr/>
        </p:nvSpPr>
        <p:spPr>
          <a:xfrm>
            <a:off x="11103559" y="4087368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ECFCF5"/>
                </a:solidFill>
                <a:latin typeface="Cair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9015" y="3968496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A7CDBE"/>
                </a:solidFill>
                <a:latin typeface="Cairo"/>
              </a:rPr>
              <a:t>الأرقام والطلب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14:morph type="byObjec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10454335" y="5120640"/>
            <a:ext cx="2560320" cy="2560320"/>
          </a:xfrm>
          <a:prstGeom prst="ellipse">
            <a:avLst/>
          </a:prstGeom>
          <a:noFill/>
          <a:ln w="127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" name="!!hero-orb"/>
          <p:cNvSpPr/>
          <p:nvPr/>
        </p:nvSpPr>
        <p:spPr>
          <a:xfrm>
            <a:off x="11017605" y="5683910"/>
            <a:ext cx="1433779" cy="1433779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" name="!!accent-bar"/>
          <p:cNvSpPr/>
          <p:nvPr/>
        </p:nvSpPr>
        <p:spPr>
          <a:xfrm>
            <a:off x="10801807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5" name="!!kicker"/>
          <p:cNvSpPr txBox="1"/>
          <p:nvPr/>
        </p:nvSpPr>
        <p:spPr>
          <a:xfrm>
            <a:off x="3806647" y="4754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6EE7B7"/>
                </a:solidFill>
                <a:latin typeface="Cairo"/>
              </a:rPr>
              <a:t>المشكلة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6092647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CDBE"/>
                </a:solidFill>
                <a:latin typeface="Tajawal"/>
              </a:rPr>
              <a:t>منصة وصل</a:t>
            </a:r>
          </a:p>
        </p:txBody>
      </p:sp>
      <p:sp>
        <p:nvSpPr>
          <p:cNvPr id="7" name="!!pageno"/>
          <p:cNvSpPr txBox="1"/>
          <p:nvPr/>
        </p:nvSpPr>
        <p:spPr>
          <a:xfrm>
            <a:off x="5788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CDBE"/>
                </a:solidFill>
                <a:latin typeface="Tajawal"/>
              </a:rPr>
              <a:t>03</a:t>
            </a:r>
          </a:p>
        </p:txBody>
      </p:sp>
      <p:sp>
        <p:nvSpPr>
          <p:cNvPr id="8" name="!!headline"/>
          <p:cNvSpPr txBox="1"/>
          <p:nvPr/>
        </p:nvSpPr>
        <p:spPr>
          <a:xfrm>
            <a:off x="1154887" y="841248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ECFCF5"/>
                </a:solidFill>
                <a:latin typeface="Cairo"/>
              </a:rPr>
              <a:t>المتاجر الصغيرة تخسر بسبب التوصيل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1087" y="1874519"/>
            <a:ext cx="6537960" cy="932688"/>
          </a:xfrm>
          <a:prstGeom prst="roundRect">
            <a:avLst>
              <a:gd name="adj" fmla="val 10000"/>
            </a:avLst>
          </a:prstGeom>
          <a:solidFill>
            <a:srgbClr val="0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0" name="Rounded Rectangle 9"/>
          <p:cNvSpPr/>
          <p:nvPr/>
        </p:nvSpPr>
        <p:spPr>
          <a:xfrm>
            <a:off x="11469319" y="1874519"/>
            <a:ext cx="109728" cy="93268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1" name="TextBox 10"/>
          <p:cNvSpPr txBox="1"/>
          <p:nvPr/>
        </p:nvSpPr>
        <p:spPr>
          <a:xfrm>
            <a:off x="5242255" y="1993391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ECFCF5"/>
                </a:solidFill>
                <a:latin typeface="Cairo"/>
              </a:rPr>
              <a:t>زمن توصيل يتجاوز ساعتين</a:t>
            </a:r>
          </a:p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A7CDBE"/>
                </a:solidFill>
                <a:latin typeface="Tajawal"/>
              </a:rPr>
              <a:t>العملاء يلغون الطلب عند التأخير بنسبة مرتفعة.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1087" y="2953511"/>
            <a:ext cx="6537960" cy="932688"/>
          </a:xfrm>
          <a:prstGeom prst="roundRect">
            <a:avLst>
              <a:gd name="adj" fmla="val 10000"/>
            </a:avLst>
          </a:prstGeom>
          <a:solidFill>
            <a:srgbClr val="0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3" name="Rounded Rectangle 12"/>
          <p:cNvSpPr/>
          <p:nvPr/>
        </p:nvSpPr>
        <p:spPr>
          <a:xfrm>
            <a:off x="11469319" y="2953511"/>
            <a:ext cx="109728" cy="93268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4" name="TextBox 13"/>
          <p:cNvSpPr txBox="1"/>
          <p:nvPr/>
        </p:nvSpPr>
        <p:spPr>
          <a:xfrm>
            <a:off x="5242255" y="3072383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ECFCF5"/>
                </a:solidFill>
                <a:latin typeface="Cairo"/>
              </a:rPr>
              <a:t>عمولات تصل إلى 30%</a:t>
            </a:r>
          </a:p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A7CDBE"/>
                </a:solidFill>
                <a:latin typeface="Tajawal"/>
              </a:rPr>
              <a:t>المنصات العالمية تلتهم هامش ربح المتجر المحلي.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1087" y="4032503"/>
            <a:ext cx="6537960" cy="932688"/>
          </a:xfrm>
          <a:prstGeom prst="roundRect">
            <a:avLst>
              <a:gd name="adj" fmla="val 10000"/>
            </a:avLst>
          </a:prstGeom>
          <a:solidFill>
            <a:srgbClr val="0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6" name="Rounded Rectangle 15"/>
          <p:cNvSpPr/>
          <p:nvPr/>
        </p:nvSpPr>
        <p:spPr>
          <a:xfrm>
            <a:off x="11469319" y="4032503"/>
            <a:ext cx="109728" cy="93268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7" name="TextBox 16"/>
          <p:cNvSpPr txBox="1"/>
          <p:nvPr/>
        </p:nvSpPr>
        <p:spPr>
          <a:xfrm>
            <a:off x="5242255" y="4151375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ECFCF5"/>
                </a:solidFill>
                <a:latin typeface="Cairo"/>
              </a:rPr>
              <a:t>لا رؤية لحظية للطلبات</a:t>
            </a:r>
          </a:p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A7CDBE"/>
                </a:solidFill>
                <a:latin typeface="Tajawal"/>
              </a:rPr>
              <a:t>المتجر لا يعرف أين الشحنة حتى وصولها.</a:t>
            </a:r>
          </a:p>
        </p:txBody>
      </p:sp>
      <p:sp>
        <p:nvSpPr>
          <p:cNvPr id="18" name="!!visual-panel"/>
          <p:cNvSpPr/>
          <p:nvPr/>
        </p:nvSpPr>
        <p:spPr>
          <a:xfrm>
            <a:off x="624535" y="1874519"/>
            <a:ext cx="4023360" cy="416052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9" name="TextBox 18"/>
          <p:cNvSpPr txBox="1"/>
          <p:nvPr/>
        </p:nvSpPr>
        <p:spPr>
          <a:xfrm>
            <a:off x="898855" y="233172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6000" b="1">
                <a:solidFill>
                  <a:srgbClr val="06231A"/>
                </a:solidFill>
                <a:latin typeface="Cairo"/>
              </a:rPr>
              <a:t>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" y="4206240"/>
            <a:ext cx="3474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06231A"/>
                </a:solidFill>
                <a:latin typeface="Tajawal"/>
              </a:rPr>
              <a:t>عمولة المنصات الحالية من قيمة الطلب.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14:morph type="byObjec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-1158545" y="-914400"/>
            <a:ext cx="2651760" cy="2651760"/>
          </a:xfrm>
          <a:prstGeom prst="ellipse">
            <a:avLst/>
          </a:prstGeom>
          <a:noFill/>
          <a:ln w="127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" name="!!hero-orb"/>
          <p:cNvSpPr/>
          <p:nvPr/>
        </p:nvSpPr>
        <p:spPr>
          <a:xfrm>
            <a:off x="-575157" y="-331012"/>
            <a:ext cx="1484985" cy="1484985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" name="!!accent-bar"/>
          <p:cNvSpPr/>
          <p:nvPr/>
        </p:nvSpPr>
        <p:spPr>
          <a:xfrm>
            <a:off x="10801807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5" name="!!kicker"/>
          <p:cNvSpPr txBox="1"/>
          <p:nvPr/>
        </p:nvSpPr>
        <p:spPr>
          <a:xfrm>
            <a:off x="3806647" y="4754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6EE7B7"/>
                </a:solidFill>
                <a:latin typeface="Cairo"/>
              </a:rPr>
              <a:t>أرقامنا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6092647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CDBE"/>
                </a:solidFill>
                <a:latin typeface="Tajawal"/>
              </a:rPr>
              <a:t>منصة وصل</a:t>
            </a:r>
          </a:p>
        </p:txBody>
      </p:sp>
      <p:sp>
        <p:nvSpPr>
          <p:cNvPr id="7" name="!!pageno"/>
          <p:cNvSpPr txBox="1"/>
          <p:nvPr/>
        </p:nvSpPr>
        <p:spPr>
          <a:xfrm>
            <a:off x="5788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CDBE"/>
                </a:solidFill>
                <a:latin typeface="Tajawal"/>
              </a:rPr>
              <a:t>04</a:t>
            </a:r>
          </a:p>
        </p:txBody>
      </p:sp>
      <p:sp>
        <p:nvSpPr>
          <p:cNvPr id="8" name="!!headline"/>
          <p:cNvSpPr txBox="1"/>
          <p:nvPr/>
        </p:nvSpPr>
        <p:spPr>
          <a:xfrm>
            <a:off x="1154887" y="841248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ECFCF5"/>
                </a:solidFill>
                <a:latin typeface="Cairo"/>
              </a:rPr>
              <a:t>نمو ثابت منذ الإطلاق</a:t>
            </a:r>
          </a:p>
        </p:txBody>
      </p:sp>
      <p:sp>
        <p:nvSpPr>
          <p:cNvPr id="9" name="!!stat-0"/>
          <p:cNvSpPr/>
          <p:nvPr/>
        </p:nvSpPr>
        <p:spPr>
          <a:xfrm>
            <a:off x="9075877" y="2057400"/>
            <a:ext cx="2503170" cy="3017520"/>
          </a:xfrm>
          <a:prstGeom prst="roundRect">
            <a:avLst>
              <a:gd name="adj" fmla="val 7000"/>
            </a:avLst>
          </a:prstGeom>
          <a:solidFill>
            <a:srgbClr val="0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0" name="TextBox 9"/>
          <p:cNvSpPr txBox="1"/>
          <p:nvPr/>
        </p:nvSpPr>
        <p:spPr>
          <a:xfrm>
            <a:off x="9350198" y="2377440"/>
            <a:ext cx="195452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4200" b="1">
                <a:solidFill>
                  <a:srgbClr val="10B981"/>
                </a:solidFill>
                <a:latin typeface="Cairo"/>
              </a:rPr>
              <a:t>850+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50198" y="3520440"/>
            <a:ext cx="195452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ECFCF5"/>
                </a:solidFill>
                <a:latin typeface="Cairo"/>
              </a:rPr>
              <a:t>متجر مشترك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0198" y="4160520"/>
            <a:ext cx="195452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A7CDBE"/>
                </a:solidFill>
                <a:latin typeface="Tajawal"/>
              </a:rPr>
              <a:t>في مكة وجدة والرياض</a:t>
            </a:r>
          </a:p>
        </p:txBody>
      </p:sp>
      <p:sp>
        <p:nvSpPr>
          <p:cNvPr id="13" name="!!stat-1"/>
          <p:cNvSpPr/>
          <p:nvPr/>
        </p:nvSpPr>
        <p:spPr>
          <a:xfrm>
            <a:off x="6252667" y="2057400"/>
            <a:ext cx="2503170" cy="3017520"/>
          </a:xfrm>
          <a:prstGeom prst="roundRect">
            <a:avLst>
              <a:gd name="adj" fmla="val 7000"/>
            </a:avLst>
          </a:prstGeom>
          <a:solidFill>
            <a:srgbClr val="0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4" name="TextBox 13"/>
          <p:cNvSpPr txBox="1"/>
          <p:nvPr/>
        </p:nvSpPr>
        <p:spPr>
          <a:xfrm>
            <a:off x="6526988" y="2377440"/>
            <a:ext cx="195452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4200" b="1">
                <a:solidFill>
                  <a:srgbClr val="10B981"/>
                </a:solidFill>
                <a:latin typeface="Cairo"/>
              </a:rPr>
              <a:t>28 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6988" y="3520440"/>
            <a:ext cx="195452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ECFCF5"/>
                </a:solidFill>
                <a:latin typeface="Cairo"/>
              </a:rPr>
              <a:t>متوسط التوصيل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6988" y="4160520"/>
            <a:ext cx="195452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A7CDBE"/>
                </a:solidFill>
                <a:latin typeface="Tajawal"/>
              </a:rPr>
              <a:t>من الاستلام حتى الباب</a:t>
            </a:r>
          </a:p>
        </p:txBody>
      </p:sp>
      <p:sp>
        <p:nvSpPr>
          <p:cNvPr id="17" name="!!stat-2"/>
          <p:cNvSpPr/>
          <p:nvPr/>
        </p:nvSpPr>
        <p:spPr>
          <a:xfrm>
            <a:off x="3429457" y="2057400"/>
            <a:ext cx="2503170" cy="3017520"/>
          </a:xfrm>
          <a:prstGeom prst="roundRect">
            <a:avLst>
              <a:gd name="adj" fmla="val 7000"/>
            </a:avLst>
          </a:prstGeom>
          <a:solidFill>
            <a:srgbClr val="0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8" name="TextBox 17"/>
          <p:cNvSpPr txBox="1"/>
          <p:nvPr/>
        </p:nvSpPr>
        <p:spPr>
          <a:xfrm>
            <a:off x="3703778" y="2377440"/>
            <a:ext cx="195452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4200" b="1">
                <a:solidFill>
                  <a:srgbClr val="10B981"/>
                </a:solidFill>
                <a:latin typeface="Cairo"/>
              </a:rPr>
              <a:t>12%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778" y="3520440"/>
            <a:ext cx="195452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ECFCF5"/>
                </a:solidFill>
                <a:latin typeface="Cairo"/>
              </a:rPr>
              <a:t>عمولتنا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778" y="4160520"/>
            <a:ext cx="195452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A7CDBE"/>
                </a:solidFill>
                <a:latin typeface="Tajawal"/>
              </a:rPr>
              <a:t>أقل من نصف عمولة السوق</a:t>
            </a:r>
          </a:p>
        </p:txBody>
      </p:sp>
      <p:sp>
        <p:nvSpPr>
          <p:cNvPr id="21" name="!!stat-3"/>
          <p:cNvSpPr/>
          <p:nvPr/>
        </p:nvSpPr>
        <p:spPr>
          <a:xfrm>
            <a:off x="606247" y="2057400"/>
            <a:ext cx="2503170" cy="3017520"/>
          </a:xfrm>
          <a:prstGeom prst="roundRect">
            <a:avLst>
              <a:gd name="adj" fmla="val 7000"/>
            </a:avLst>
          </a:prstGeom>
          <a:solidFill>
            <a:srgbClr val="0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2" name="TextBox 21"/>
          <p:cNvSpPr txBox="1"/>
          <p:nvPr/>
        </p:nvSpPr>
        <p:spPr>
          <a:xfrm>
            <a:off x="880568" y="2377440"/>
            <a:ext cx="195452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4200" b="1">
                <a:solidFill>
                  <a:srgbClr val="10B981"/>
                </a:solidFill>
                <a:latin typeface="Cairo"/>
              </a:rPr>
              <a:t>94%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568" y="3520440"/>
            <a:ext cx="195452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ECFCF5"/>
                </a:solidFill>
                <a:latin typeface="Cairo"/>
              </a:rPr>
              <a:t>رضا العملاء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568" y="4160520"/>
            <a:ext cx="195452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A7CDBE"/>
                </a:solidFill>
                <a:latin typeface="Tajawal"/>
              </a:rPr>
              <a:t>من 12 ألف تقييم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14:morph type="byObjec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10454335" y="-1005840"/>
            <a:ext cx="2743200" cy="2743200"/>
          </a:xfrm>
          <a:prstGeom prst="ellipse">
            <a:avLst/>
          </a:prstGeom>
          <a:noFill/>
          <a:ln w="127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" name="!!hero-orb"/>
          <p:cNvSpPr/>
          <p:nvPr/>
        </p:nvSpPr>
        <p:spPr>
          <a:xfrm>
            <a:off x="11057839" y="-402336"/>
            <a:ext cx="1536192" cy="15361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" name="!!accent-bar"/>
          <p:cNvSpPr/>
          <p:nvPr/>
        </p:nvSpPr>
        <p:spPr>
          <a:xfrm>
            <a:off x="10801807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5" name="!!kicker"/>
          <p:cNvSpPr txBox="1"/>
          <p:nvPr/>
        </p:nvSpPr>
        <p:spPr>
          <a:xfrm>
            <a:off x="3806647" y="4754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6EE7B7"/>
                </a:solidFill>
                <a:latin typeface="Cairo"/>
              </a:rPr>
              <a:t>كيف يعمل؟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6092647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CDBE"/>
                </a:solidFill>
                <a:latin typeface="Tajawal"/>
              </a:rPr>
              <a:t>منصة وصل</a:t>
            </a:r>
          </a:p>
        </p:txBody>
      </p:sp>
      <p:sp>
        <p:nvSpPr>
          <p:cNvPr id="7" name="!!pageno"/>
          <p:cNvSpPr txBox="1"/>
          <p:nvPr/>
        </p:nvSpPr>
        <p:spPr>
          <a:xfrm>
            <a:off x="5788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CDBE"/>
                </a:solidFill>
                <a:latin typeface="Tajawal"/>
              </a:rPr>
              <a:t>05</a:t>
            </a:r>
          </a:p>
        </p:txBody>
      </p:sp>
      <p:sp>
        <p:nvSpPr>
          <p:cNvPr id="8" name="!!headline"/>
          <p:cNvSpPr txBox="1"/>
          <p:nvPr/>
        </p:nvSpPr>
        <p:spPr>
          <a:xfrm>
            <a:off x="1154887" y="841248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ECFCF5"/>
                </a:solidFill>
                <a:latin typeface="Cairo"/>
              </a:rPr>
              <a:t>من الطلب إلى الباب في أربع خطوات</a:t>
            </a:r>
          </a:p>
        </p:txBody>
      </p:sp>
      <p:sp>
        <p:nvSpPr>
          <p:cNvPr id="9" name="!!spine"/>
          <p:cNvSpPr/>
          <p:nvPr/>
        </p:nvSpPr>
        <p:spPr>
          <a:xfrm>
            <a:off x="606247" y="2761488"/>
            <a:ext cx="10972800" cy="64008"/>
          </a:xfrm>
          <a:prstGeom prst="roundRect">
            <a:avLst>
              <a:gd name="adj" fmla="val 50000"/>
            </a:avLst>
          </a:prstGeom>
          <a:solidFill>
            <a:srgbClr val="4E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0" name="Chevron 9"/>
          <p:cNvSpPr/>
          <p:nvPr/>
        </p:nvSpPr>
        <p:spPr>
          <a:xfrm flipH="1">
            <a:off x="9123883" y="2057400"/>
            <a:ext cx="2455164" cy="566928"/>
          </a:xfrm>
          <a:prstGeom prst="chevron">
            <a:avLst>
              <a:gd name="adj" fmla="val 3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1" name="TextBox 10"/>
          <p:cNvSpPr txBox="1"/>
          <p:nvPr/>
        </p:nvSpPr>
        <p:spPr>
          <a:xfrm>
            <a:off x="9261043" y="2176272"/>
            <a:ext cx="21808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06231A"/>
                </a:solidFill>
                <a:latin typeface="Cairo"/>
              </a:rPr>
              <a:t>STEP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23883" y="3017520"/>
            <a:ext cx="2455164" cy="2011680"/>
          </a:xfrm>
          <a:prstGeom prst="roundRect">
            <a:avLst>
              <a:gd name="adj" fmla="val 8000"/>
            </a:avLst>
          </a:prstGeom>
          <a:solidFill>
            <a:srgbClr val="0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3" name="TextBox 12"/>
          <p:cNvSpPr txBox="1"/>
          <p:nvPr/>
        </p:nvSpPr>
        <p:spPr>
          <a:xfrm>
            <a:off x="9343339" y="3218688"/>
            <a:ext cx="20162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ECFCF5"/>
                </a:solidFill>
                <a:latin typeface="Cairo"/>
              </a:rPr>
              <a:t>الطلب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43339" y="3977639"/>
            <a:ext cx="201625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A7CDBE"/>
                </a:solidFill>
                <a:latin typeface="Tajawal"/>
              </a:rPr>
              <a:t>يصل طلب المتجر إلى شبكة وصل فورا.</a:t>
            </a:r>
          </a:p>
        </p:txBody>
      </p:sp>
      <p:sp>
        <p:nvSpPr>
          <p:cNvPr id="15" name="Chevron 14"/>
          <p:cNvSpPr/>
          <p:nvPr/>
        </p:nvSpPr>
        <p:spPr>
          <a:xfrm flipH="1">
            <a:off x="6284671" y="2057400"/>
            <a:ext cx="2455164" cy="566928"/>
          </a:xfrm>
          <a:prstGeom prst="chevron">
            <a:avLst>
              <a:gd name="adj" fmla="val 35000"/>
            </a:avLst>
          </a:prstGeom>
          <a:solidFill>
            <a:srgbClr val="0B3527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6" name="TextBox 15"/>
          <p:cNvSpPr txBox="1"/>
          <p:nvPr/>
        </p:nvSpPr>
        <p:spPr>
          <a:xfrm>
            <a:off x="6421831" y="2176272"/>
            <a:ext cx="21808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ECFCF5"/>
                </a:solidFill>
                <a:latin typeface="Cairo"/>
              </a:rPr>
              <a:t>STEP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4671" y="3017520"/>
            <a:ext cx="2455164" cy="2011680"/>
          </a:xfrm>
          <a:prstGeom prst="roundRect">
            <a:avLst>
              <a:gd name="adj" fmla="val 8000"/>
            </a:avLst>
          </a:prstGeom>
          <a:solidFill>
            <a:srgbClr val="0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8" name="TextBox 17"/>
          <p:cNvSpPr txBox="1"/>
          <p:nvPr/>
        </p:nvSpPr>
        <p:spPr>
          <a:xfrm>
            <a:off x="6504128" y="3218688"/>
            <a:ext cx="20162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ECFCF5"/>
                </a:solidFill>
                <a:latin typeface="Cairo"/>
              </a:rPr>
              <a:t>المطابقة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4128" y="3977639"/>
            <a:ext cx="201625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A7CDBE"/>
                </a:solidFill>
                <a:latin typeface="Tajawal"/>
              </a:rPr>
              <a:t>خوارزمية تختار أقرب مندوب متاح.</a:t>
            </a:r>
          </a:p>
        </p:txBody>
      </p:sp>
      <p:sp>
        <p:nvSpPr>
          <p:cNvPr id="20" name="Chevron 19"/>
          <p:cNvSpPr/>
          <p:nvPr/>
        </p:nvSpPr>
        <p:spPr>
          <a:xfrm flipH="1">
            <a:off x="3445459" y="2057400"/>
            <a:ext cx="2455164" cy="566928"/>
          </a:xfrm>
          <a:prstGeom prst="chevron">
            <a:avLst>
              <a:gd name="adj" fmla="val 35000"/>
            </a:avLst>
          </a:prstGeom>
          <a:solidFill>
            <a:srgbClr val="0B3527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1" name="TextBox 20"/>
          <p:cNvSpPr txBox="1"/>
          <p:nvPr/>
        </p:nvSpPr>
        <p:spPr>
          <a:xfrm>
            <a:off x="3582619" y="2176272"/>
            <a:ext cx="21808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ECFCF5"/>
                </a:solidFill>
                <a:latin typeface="Cairo"/>
              </a:rPr>
              <a:t>STEP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45459" y="3017520"/>
            <a:ext cx="2455164" cy="2011680"/>
          </a:xfrm>
          <a:prstGeom prst="roundRect">
            <a:avLst>
              <a:gd name="adj" fmla="val 8000"/>
            </a:avLst>
          </a:prstGeom>
          <a:solidFill>
            <a:srgbClr val="0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3" name="TextBox 22"/>
          <p:cNvSpPr txBox="1"/>
          <p:nvPr/>
        </p:nvSpPr>
        <p:spPr>
          <a:xfrm>
            <a:off x="3664915" y="3218688"/>
            <a:ext cx="20162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ECFCF5"/>
                </a:solidFill>
                <a:latin typeface="Cairo"/>
              </a:rPr>
              <a:t>التوصيل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4915" y="3977639"/>
            <a:ext cx="201625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A7CDBE"/>
                </a:solidFill>
                <a:latin typeface="Tajawal"/>
              </a:rPr>
              <a:t>تتبع لحظي للمتجر والعميل معا.</a:t>
            </a:r>
          </a:p>
        </p:txBody>
      </p:sp>
      <p:sp>
        <p:nvSpPr>
          <p:cNvPr id="25" name="Chevron 24"/>
          <p:cNvSpPr/>
          <p:nvPr/>
        </p:nvSpPr>
        <p:spPr>
          <a:xfrm flipH="1">
            <a:off x="606247" y="2057400"/>
            <a:ext cx="2455164" cy="566928"/>
          </a:xfrm>
          <a:prstGeom prst="chevron">
            <a:avLst>
              <a:gd name="adj" fmla="val 35000"/>
            </a:avLst>
          </a:prstGeom>
          <a:solidFill>
            <a:srgbClr val="0B3527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6" name="TextBox 25"/>
          <p:cNvSpPr txBox="1"/>
          <p:nvPr/>
        </p:nvSpPr>
        <p:spPr>
          <a:xfrm>
            <a:off x="743407" y="2176272"/>
            <a:ext cx="21808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ECFCF5"/>
                </a:solidFill>
                <a:latin typeface="Cairo"/>
              </a:rPr>
              <a:t>STEP 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6247" y="3017520"/>
            <a:ext cx="2455164" cy="2011680"/>
          </a:xfrm>
          <a:prstGeom prst="roundRect">
            <a:avLst>
              <a:gd name="adj" fmla="val 8000"/>
            </a:avLst>
          </a:prstGeom>
          <a:solidFill>
            <a:srgbClr val="0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8" name="TextBox 27"/>
          <p:cNvSpPr txBox="1"/>
          <p:nvPr/>
        </p:nvSpPr>
        <p:spPr>
          <a:xfrm>
            <a:off x="825703" y="3218688"/>
            <a:ext cx="20162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ECFCF5"/>
                </a:solidFill>
                <a:latin typeface="Cairo"/>
              </a:rPr>
              <a:t>التسوية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" y="3977639"/>
            <a:ext cx="201625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A7CDBE"/>
                </a:solidFill>
                <a:latin typeface="Tajawal"/>
              </a:rPr>
              <a:t>تحويل يومي لأرباح المتجر دون انتظار.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14:morph type="byObjec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-1067105" y="5394960"/>
            <a:ext cx="2377440" cy="2377440"/>
          </a:xfrm>
          <a:prstGeom prst="ellipse">
            <a:avLst/>
          </a:prstGeom>
          <a:noFill/>
          <a:ln w="127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" name="!!hero-orb"/>
          <p:cNvSpPr/>
          <p:nvPr/>
        </p:nvSpPr>
        <p:spPr>
          <a:xfrm>
            <a:off x="-544067" y="5917996"/>
            <a:ext cx="1331366" cy="133136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" name="!!accent-bar"/>
          <p:cNvSpPr/>
          <p:nvPr/>
        </p:nvSpPr>
        <p:spPr>
          <a:xfrm>
            <a:off x="10801807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5" name="!!kicker"/>
          <p:cNvSpPr txBox="1"/>
          <p:nvPr/>
        </p:nvSpPr>
        <p:spPr>
          <a:xfrm>
            <a:off x="3806647" y="4754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6EE7B7"/>
                </a:solidFill>
                <a:latin typeface="Cairo"/>
              </a:rPr>
              <a:t>المقارنة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6092647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CDBE"/>
                </a:solidFill>
                <a:latin typeface="Tajawal"/>
              </a:rPr>
              <a:t>منصة وصل</a:t>
            </a:r>
          </a:p>
        </p:txBody>
      </p:sp>
      <p:sp>
        <p:nvSpPr>
          <p:cNvPr id="7" name="!!pageno"/>
          <p:cNvSpPr txBox="1"/>
          <p:nvPr/>
        </p:nvSpPr>
        <p:spPr>
          <a:xfrm>
            <a:off x="5788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CDBE"/>
                </a:solidFill>
                <a:latin typeface="Tajawal"/>
              </a:rPr>
              <a:t>06</a:t>
            </a:r>
          </a:p>
        </p:txBody>
      </p:sp>
      <p:sp>
        <p:nvSpPr>
          <p:cNvPr id="8" name="!!headline"/>
          <p:cNvSpPr txBox="1"/>
          <p:nvPr/>
        </p:nvSpPr>
        <p:spPr>
          <a:xfrm>
            <a:off x="1154887" y="841248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ECFCF5"/>
                </a:solidFill>
                <a:latin typeface="Cairo"/>
              </a:rPr>
              <a:t>لماذا ينتقل التجار إلى وصل؟</a:t>
            </a:r>
          </a:p>
        </p:txBody>
      </p:sp>
      <p:sp>
        <p:nvSpPr>
          <p:cNvPr id="9" name="!!ba-before"/>
          <p:cNvSpPr/>
          <p:nvPr/>
        </p:nvSpPr>
        <p:spPr>
          <a:xfrm>
            <a:off x="6549847" y="1874519"/>
            <a:ext cx="5029200" cy="4114800"/>
          </a:xfrm>
          <a:prstGeom prst="roundRect">
            <a:avLst>
              <a:gd name="adj" fmla="val 6000"/>
            </a:avLst>
          </a:prstGeom>
          <a:solidFill>
            <a:srgbClr val="0B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0" name="TextBox 9"/>
          <p:cNvSpPr txBox="1"/>
          <p:nvPr/>
        </p:nvSpPr>
        <p:spPr>
          <a:xfrm>
            <a:off x="6869887" y="2121408"/>
            <a:ext cx="4389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ECFCF5"/>
                </a:solidFill>
                <a:latin typeface="Cairo"/>
              </a:rPr>
              <a:t>المنصات الحالية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4167" y="2743200"/>
            <a:ext cx="44348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ECFCF5"/>
                </a:solidFill>
                <a:latin typeface="Tajawal"/>
              </a:rPr>
              <a:t>✕ </a:t>
            </a:r>
            <a:r>
              <a:rPr sz="1400" b="0">
                <a:solidFill>
                  <a:srgbClr val="A7CDBE"/>
                </a:solidFill>
                <a:latin typeface="Tajawal"/>
              </a:rPr>
              <a:t>عمولة حتى 30%</a:t>
            </a:r>
          </a:p>
          <a:p>
            <a:pPr algn="r" rtl="1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ECFCF5"/>
                </a:solidFill>
                <a:latin typeface="Tajawal"/>
              </a:rPr>
              <a:t>✕ </a:t>
            </a:r>
            <a:r>
              <a:rPr sz="1400" b="0">
                <a:solidFill>
                  <a:srgbClr val="A7CDBE"/>
                </a:solidFill>
                <a:latin typeface="Tajawal"/>
              </a:rPr>
              <a:t>توصيل يتجاوز ساعتين</a:t>
            </a:r>
          </a:p>
          <a:p>
            <a:pPr algn="r" rtl="1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ECFCF5"/>
                </a:solidFill>
                <a:latin typeface="Tajawal"/>
              </a:rPr>
              <a:t>✕ </a:t>
            </a:r>
            <a:r>
              <a:rPr sz="1400" b="0">
                <a:solidFill>
                  <a:srgbClr val="A7CDBE"/>
                </a:solidFill>
                <a:latin typeface="Tajawal"/>
              </a:rPr>
              <a:t>تسوية أسبوعية بطيئة</a:t>
            </a:r>
          </a:p>
          <a:p>
            <a:pPr algn="r" rtl="1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ECFCF5"/>
                </a:solidFill>
                <a:latin typeface="Tajawal"/>
              </a:rPr>
              <a:t>✕ </a:t>
            </a:r>
            <a:r>
              <a:rPr sz="1400" b="0">
                <a:solidFill>
                  <a:srgbClr val="A7CDBE"/>
                </a:solidFill>
                <a:latin typeface="Tajawal"/>
              </a:rPr>
              <a:t>لا تتبع لحظي</a:t>
            </a:r>
          </a:p>
        </p:txBody>
      </p:sp>
      <p:sp>
        <p:nvSpPr>
          <p:cNvPr id="12" name="!!ba-after"/>
          <p:cNvSpPr/>
          <p:nvPr/>
        </p:nvSpPr>
        <p:spPr>
          <a:xfrm>
            <a:off x="606247" y="1874519"/>
            <a:ext cx="5029200" cy="41148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3" name="TextBox 12"/>
          <p:cNvSpPr txBox="1"/>
          <p:nvPr/>
        </p:nvSpPr>
        <p:spPr>
          <a:xfrm>
            <a:off x="926287" y="2121408"/>
            <a:ext cx="4389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06231A"/>
                </a:solidFill>
                <a:latin typeface="Cairo"/>
              </a:rPr>
              <a:t>منصة وصل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0567" y="2743200"/>
            <a:ext cx="44348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06231A"/>
                </a:solidFill>
                <a:latin typeface="Tajawal"/>
              </a:rPr>
              <a:t>✓ </a:t>
            </a:r>
            <a:r>
              <a:rPr sz="1400" b="0">
                <a:solidFill>
                  <a:srgbClr val="06231A"/>
                </a:solidFill>
                <a:latin typeface="Tajawal"/>
              </a:rPr>
              <a:t>عمولة 12% فقط</a:t>
            </a:r>
          </a:p>
          <a:p>
            <a:pPr algn="r" rtl="1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06231A"/>
                </a:solidFill>
                <a:latin typeface="Tajawal"/>
              </a:rPr>
              <a:t>✓ </a:t>
            </a:r>
            <a:r>
              <a:rPr sz="1400" b="0">
                <a:solidFill>
                  <a:srgbClr val="06231A"/>
                </a:solidFill>
                <a:latin typeface="Tajawal"/>
              </a:rPr>
              <a:t>توصيل خلال 30 دقيقة</a:t>
            </a:r>
          </a:p>
          <a:p>
            <a:pPr algn="r" rtl="1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06231A"/>
                </a:solidFill>
                <a:latin typeface="Tajawal"/>
              </a:rPr>
              <a:t>✓ </a:t>
            </a:r>
            <a:r>
              <a:rPr sz="1400" b="0">
                <a:solidFill>
                  <a:srgbClr val="06231A"/>
                </a:solidFill>
                <a:latin typeface="Tajawal"/>
              </a:rPr>
              <a:t>تسوية يومية</a:t>
            </a:r>
          </a:p>
          <a:p>
            <a:pPr algn="r" rtl="1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06231A"/>
                </a:solidFill>
                <a:latin typeface="Tajawal"/>
              </a:rPr>
              <a:t>✓ </a:t>
            </a:r>
            <a:r>
              <a:rPr sz="1400" b="0">
                <a:solidFill>
                  <a:srgbClr val="06231A"/>
                </a:solidFill>
                <a:latin typeface="Tajawal"/>
              </a:rPr>
              <a:t>تتبع لحظي كامل</a:t>
            </a:r>
          </a:p>
        </p:txBody>
      </p:sp>
      <p:sp>
        <p:nvSpPr>
          <p:cNvPr id="15" name="!!ba-arrow"/>
          <p:cNvSpPr/>
          <p:nvPr/>
        </p:nvSpPr>
        <p:spPr>
          <a:xfrm flipH="1">
            <a:off x="5809183" y="3611880"/>
            <a:ext cx="566928" cy="640080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</p:spTree>
  </p:cSld>
  <p:clrMapOvr>
    <a:masterClrMapping/>
  </p:clrMapOvr>
  <p:transition xmlns:p14="http://schemas.microsoft.com/office/powerpoint/2010/main" spd="med" p14:dur="900">
    <p14:morph type="byObjec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10454335" y="5120640"/>
            <a:ext cx="2560320" cy="2560320"/>
          </a:xfrm>
          <a:prstGeom prst="ellipse">
            <a:avLst/>
          </a:prstGeom>
          <a:noFill/>
          <a:ln w="127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" name="!!hero-orb"/>
          <p:cNvSpPr/>
          <p:nvPr/>
        </p:nvSpPr>
        <p:spPr>
          <a:xfrm>
            <a:off x="11017605" y="5683910"/>
            <a:ext cx="1433779" cy="1433779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" name="!!accent-bar"/>
          <p:cNvSpPr/>
          <p:nvPr/>
        </p:nvSpPr>
        <p:spPr>
          <a:xfrm>
            <a:off x="10801807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5" name="!!brand"/>
          <p:cNvSpPr txBox="1"/>
          <p:nvPr/>
        </p:nvSpPr>
        <p:spPr>
          <a:xfrm>
            <a:off x="6092647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CDBE"/>
                </a:solidFill>
                <a:latin typeface="Tajawal"/>
              </a:rPr>
              <a:t>منصة وصل</a:t>
            </a:r>
          </a:p>
        </p:txBody>
      </p:sp>
      <p:sp>
        <p:nvSpPr>
          <p:cNvPr id="6" name="!!pageno"/>
          <p:cNvSpPr txBox="1"/>
          <p:nvPr/>
        </p:nvSpPr>
        <p:spPr>
          <a:xfrm>
            <a:off x="5788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7CDBE"/>
                </a:solidFill>
                <a:latin typeface="Tajawal"/>
              </a:rPr>
              <a:t>07</a:t>
            </a:r>
          </a:p>
        </p:txBody>
      </p:sp>
      <p:sp>
        <p:nvSpPr>
          <p:cNvPr id="7" name="!!closing-title"/>
          <p:cNvSpPr txBox="1"/>
          <p:nvPr/>
        </p:nvSpPr>
        <p:spPr>
          <a:xfrm>
            <a:off x="1063447" y="18288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5400" b="1">
                <a:solidFill>
                  <a:srgbClr val="ECFCF5"/>
                </a:solidFill>
                <a:latin typeface="Cairo"/>
              </a:rPr>
              <a:t>نبني شبكة توصيل المدن السعودية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77847" y="32918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6EE7B7"/>
                </a:solidFill>
                <a:latin typeface="Cairo"/>
              </a:rPr>
              <a:t>نجمع 6 ملايين ريال للتوسع في 5 مدن جديدة خلال 18 شهرا.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5047" y="452628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400"/>
              </a:spcAft>
            </a:pPr>
            <a:r>
              <a:rPr sz="1600" b="0">
                <a:solidFill>
                  <a:srgbClr val="A7CDBE"/>
                </a:solidFill>
                <a:latin typeface="Tajawal"/>
              </a:rPr>
              <a:t>فريق وصل  ·  founders@wasl.example  ·  غرفة البيانات جاهزة عند الطلب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14:morph type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منصة وصل — عرض استثماري</dc:title>
  <dc:subject/>
  <dc:creator>Generator example (Arabic RTL)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