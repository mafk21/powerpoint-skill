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 MRR)</c:v>
                </c:pt>
              </c:strCache>
            </c:strRef>
          </c:tx>
          <c:dPt>
            <c:idx val="0"/>
            <c:spPr>
              <a:solidFill>
                <a:srgbClr val="5E7A80"/>
              </a:solidFill>
            </c:spPr>
          </c:dPt>
          <c:dPt>
            <c:idx val="1"/>
            <c:spPr>
              <a:solidFill>
                <a:srgbClr val="5E7A80"/>
              </a:solidFill>
            </c:spPr>
          </c:dPt>
          <c:dPt>
            <c:idx val="2"/>
            <c:spPr>
              <a:solidFill>
                <a:srgbClr val="5E7A80"/>
              </a:solidFill>
            </c:spPr>
          </c:dPt>
          <c:dPt>
            <c:idx val="3"/>
            <c:spPr>
              <a:solidFill>
                <a:srgbClr val="14C8B4"/>
              </a:solidFill>
            </c:spPr>
          </c:dPt>
          <c:dLbls>
            <c:txPr>
              <a:bodyPr/>
              <a:lstStyle/>
              <a:p>
                <a:pPr>
                  <a:defRPr sz="1300" b="1">
                    <a:solidFill>
                      <a:srgbClr val="F2FBFA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41</c:v>
                </c:pt>
                <c:pt idx="2">
                  <c:v>96</c:v>
                </c:pt>
                <c:pt idx="3">
                  <c:v>210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F2FBF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A9CCC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one-liner. Do not read the slide; it is a visual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Promise the arc in 20 seconds: problem, solution, market proof,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pain with one story: a warehouse owner paying full tariff under empty sun. Pause after the 38%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beat. One sentence: we remove every barrier — money, risk,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 tiles left-to-right, top row then bottom. Each tile = one objection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60 days and zero tenant disruption — the two operational fears.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Bottom-up math lives in the appendix. Here: beachhead focus beats TAM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Strategic gray: only the current-year bar carries the accent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moment. Let the number sit in silence for 3 seconds before speaking.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win on financing and operations, not panel hardware — name the alternatives respectfully.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bio answers: why can THIS person execute their part? Keep to 20 seconds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ask, the use, the milestone. Then stop talking — let them respond.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8503920" y="-2011680"/>
            <a:ext cx="5852160" cy="58521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9791395" y="-724204"/>
            <a:ext cx="3277209" cy="327720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01</a:t>
            </a:r>
          </a:p>
        </p:txBody>
      </p:sp>
      <p:sp>
        <p:nvSpPr>
          <p:cNvPr id="7" name="!!hero-title"/>
          <p:cNvSpPr txBox="1"/>
          <p:nvPr/>
        </p:nvSpPr>
        <p:spPr>
          <a:xfrm>
            <a:off x="612648" y="1417320"/>
            <a:ext cx="7863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4800" b="1">
                <a:solidFill>
                  <a:srgbClr val="F2FBFA"/>
                </a:solidFill>
                <a:latin typeface="Montserrat"/>
              </a:rPr>
              <a:t>Sunlight in,
Revenue out</a:t>
            </a:r>
          </a:p>
        </p:txBody>
      </p:sp>
      <p:sp>
        <p:nvSpPr>
          <p:cNvPr id="8" name="!!hero-sub"/>
          <p:cNvSpPr txBox="1"/>
          <p:nvPr/>
        </p:nvSpPr>
        <p:spPr>
          <a:xfrm>
            <a:off x="612648" y="324612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000" b="0">
                <a:solidFill>
                  <a:srgbClr val="A9CCC9"/>
                </a:solidFill>
                <a:latin typeface="Inter"/>
              </a:rPr>
              <a:t>Sahara Solar turns unused commercial rooftops in the Gulf into income-generating solar assets — with zero upfront cost to building owners.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7091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7FE7D2"/>
                </a:solidFill>
                <a:latin typeface="Montserrat"/>
              </a:rPr>
              <a:t>SEED ROUND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881360" y="5394960"/>
            <a:ext cx="2377440" cy="237744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404396" y="5917996"/>
            <a:ext cx="1331366" cy="133136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AGENDA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02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What we'll cover in 15 minutes</a:t>
            </a:r>
          </a:p>
        </p:txBody>
      </p:sp>
      <p:sp>
        <p:nvSpPr>
          <p:cNvPr id="9" name="!!nav-dot-0"/>
          <p:cNvSpPr/>
          <p:nvPr/>
        </p:nvSpPr>
        <p:spPr>
          <a:xfrm>
            <a:off x="612648" y="1883664"/>
            <a:ext cx="475488" cy="47548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947672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4333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28800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F2FBFA"/>
                </a:solidFill>
                <a:latin typeface="Montserrat"/>
              </a:rPr>
              <a:t>The problem: wasted rooftops, rising tariffs</a:t>
            </a:r>
          </a:p>
        </p:txBody>
      </p:sp>
      <p:sp>
        <p:nvSpPr>
          <p:cNvPr id="12" name="!!nav-dot-1"/>
          <p:cNvSpPr/>
          <p:nvPr/>
        </p:nvSpPr>
        <p:spPr>
          <a:xfrm>
            <a:off x="612648" y="2596896"/>
            <a:ext cx="475488" cy="475488"/>
          </a:xfrm>
          <a:prstGeom prst="ellipse">
            <a:avLst/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660904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2FBFA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542032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0">
                <a:solidFill>
                  <a:srgbClr val="A9CCC9"/>
                </a:solidFill>
                <a:latin typeface="Montserrat"/>
              </a:rPr>
              <a:t>Our solution: solar-as-a-service</a:t>
            </a:r>
          </a:p>
        </p:txBody>
      </p:sp>
      <p:sp>
        <p:nvSpPr>
          <p:cNvPr id="15" name="!!nav-dot-2"/>
          <p:cNvSpPr/>
          <p:nvPr/>
        </p:nvSpPr>
        <p:spPr>
          <a:xfrm>
            <a:off x="612648" y="3310128"/>
            <a:ext cx="475488" cy="475488"/>
          </a:xfrm>
          <a:prstGeom prst="ellipse">
            <a:avLst/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37413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2FBFA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255264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0">
                <a:solidFill>
                  <a:srgbClr val="A9CCC9"/>
                </a:solidFill>
                <a:latin typeface="Montserrat"/>
              </a:rPr>
              <a:t>Market, traction and business model</a:t>
            </a:r>
          </a:p>
        </p:txBody>
      </p:sp>
      <p:sp>
        <p:nvSpPr>
          <p:cNvPr id="18" name="!!nav-dot-3"/>
          <p:cNvSpPr/>
          <p:nvPr/>
        </p:nvSpPr>
        <p:spPr>
          <a:xfrm>
            <a:off x="612648" y="4023360"/>
            <a:ext cx="475488" cy="475488"/>
          </a:xfrm>
          <a:prstGeom prst="ellipse">
            <a:avLst/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4087368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2FBFA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968496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0">
                <a:solidFill>
                  <a:srgbClr val="A9CCC9"/>
                </a:solidFill>
                <a:latin typeface="Montserrat"/>
              </a:rPr>
              <a:t>Team and the ask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822960" y="5120640"/>
            <a:ext cx="2560320" cy="256032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259689" y="5683910"/>
            <a:ext cx="1433779" cy="143377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THE PROBLEM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03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Gulf rooftops sit empty while power bills climb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874519"/>
            <a:ext cx="6537960" cy="932688"/>
          </a:xfrm>
          <a:prstGeom prst="roundRect">
            <a:avLst>
              <a:gd name="adj" fmla="val 10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874519"/>
            <a:ext cx="109728" cy="932688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93391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92% of commercial roofs generate nothing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A9CCC9"/>
                </a:solidFill>
                <a:latin typeface="Inter"/>
              </a:rPr>
              <a:t>Warehouses and malls pay full grid tariffs under 3,000+ hours of sun.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2953511"/>
            <a:ext cx="6537960" cy="932688"/>
          </a:xfrm>
          <a:prstGeom prst="roundRect">
            <a:avLst>
              <a:gd name="adj" fmla="val 10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" y="2953511"/>
            <a:ext cx="109728" cy="932688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3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Tariffs rose 38% in five years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A9CCC9"/>
                </a:solidFill>
                <a:latin typeface="Inter"/>
              </a:rPr>
              <a:t>Energy is now the #2 operating cost in logistics and retail.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032503"/>
            <a:ext cx="6537960" cy="932688"/>
          </a:xfrm>
          <a:prstGeom prst="roundRect">
            <a:avLst>
              <a:gd name="adj" fmla="val 10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2648" y="4032503"/>
            <a:ext cx="109728" cy="932688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51375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Capex blocks adoption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A9CCC9"/>
                </a:solidFill>
                <a:latin typeface="Inter"/>
              </a:rPr>
              <a:t>Owners refuse 7-figure upfront spend and maintenance risk.</a:t>
            </a:r>
          </a:p>
        </p:txBody>
      </p:sp>
      <p:sp>
        <p:nvSpPr>
          <p:cNvPr id="18" name="!!visual-panel"/>
          <p:cNvSpPr/>
          <p:nvPr/>
        </p:nvSpPr>
        <p:spPr>
          <a:xfrm>
            <a:off x="7543800" y="1874519"/>
            <a:ext cx="4023360" cy="4160520"/>
          </a:xfrm>
          <a:prstGeom prst="roundRect">
            <a:avLst>
              <a:gd name="adj" fmla="val 6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233172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6000" b="1">
                <a:solidFill>
                  <a:srgbClr val="04333F"/>
                </a:solidFill>
                <a:latin typeface="Montserrat"/>
              </a:rPr>
              <a:t>38%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420624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04333F"/>
                </a:solidFill>
                <a:latin typeface="Inter"/>
              </a:rPr>
              <a:t>Rise in regional commercial tariffs since 2021.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698480" y="-914400"/>
            <a:ext cx="2651760" cy="26517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281867" y="-331012"/>
            <a:ext cx="1484985" cy="148498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04</a:t>
            </a:r>
          </a:p>
        </p:txBody>
      </p:sp>
      <p:sp>
        <p:nvSpPr>
          <p:cNvPr id="7" name="!!section-no"/>
          <p:cNvSpPr txBox="1"/>
          <p:nvPr/>
        </p:nvSpPr>
        <p:spPr>
          <a:xfrm>
            <a:off x="612648" y="21488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800" b="1">
                <a:solidFill>
                  <a:srgbClr val="14C8B4"/>
                </a:solidFill>
                <a:latin typeface="Montserrat"/>
              </a:rPr>
              <a:t>02</a:t>
            </a:r>
          </a:p>
        </p:txBody>
      </p:sp>
      <p:sp>
        <p:nvSpPr>
          <p:cNvPr id="8" name="!!section-title"/>
          <p:cNvSpPr txBox="1"/>
          <p:nvPr/>
        </p:nvSpPr>
        <p:spPr>
          <a:xfrm>
            <a:off x="612648" y="37033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4200" b="1">
                <a:solidFill>
                  <a:srgbClr val="F2FBFA"/>
                </a:solidFill>
                <a:latin typeface="Montserrat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61772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0">
                <a:solidFill>
                  <a:srgbClr val="A9CCC9"/>
                </a:solidFill>
                <a:latin typeface="Inter"/>
              </a:rPr>
              <a:t>We finance, install and operate the panels. Owners simply buy cheaper power.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1005840" y="-1005840"/>
            <a:ext cx="2743200" cy="274320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402336" y="-402336"/>
            <a:ext cx="1536192" cy="1536192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SOLUTION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05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Solar-as-a-service, end to end</a:t>
            </a:r>
          </a:p>
        </p:txBody>
      </p:sp>
      <p:sp>
        <p:nvSpPr>
          <p:cNvPr id="9" name="!!card-0"/>
          <p:cNvSpPr/>
          <p:nvPr/>
        </p:nvSpPr>
        <p:spPr>
          <a:xfrm>
            <a:off x="612648" y="1874519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!!card-dot-0"/>
          <p:cNvSpPr/>
          <p:nvPr/>
        </p:nvSpPr>
        <p:spPr>
          <a:xfrm>
            <a:off x="868680" y="2112263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03703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8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Zero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7296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We fund 100% against a 15-year power agreement.</a:t>
            </a:r>
          </a:p>
        </p:txBody>
      </p:sp>
      <p:sp>
        <p:nvSpPr>
          <p:cNvPr id="14" name="!!card-1"/>
          <p:cNvSpPr/>
          <p:nvPr/>
        </p:nvSpPr>
        <p:spPr>
          <a:xfrm>
            <a:off x="4389120" y="1874519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!!card-dot-1"/>
          <p:cNvSpPr/>
          <p:nvPr/>
        </p:nvSpPr>
        <p:spPr>
          <a:xfrm>
            <a:off x="4645152" y="2112263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3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807208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25% cheaper power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317296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Per-kWh pricing at a fixed discount from day one.</a:t>
            </a:r>
          </a:p>
        </p:txBody>
      </p:sp>
      <p:sp>
        <p:nvSpPr>
          <p:cNvPr id="19" name="!!card-2"/>
          <p:cNvSpPr/>
          <p:nvPr/>
        </p:nvSpPr>
        <p:spPr>
          <a:xfrm>
            <a:off x="8165592" y="1874519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!!card-dot-2"/>
          <p:cNvSpPr/>
          <p:nvPr/>
        </p:nvSpPr>
        <p:spPr>
          <a:xfrm>
            <a:off x="8421624" y="2112263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203703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807208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Fully operated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17296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Monitoring, cleaning, maintenance — performance guaranteed.</a:t>
            </a:r>
          </a:p>
        </p:txBody>
      </p:sp>
      <p:sp>
        <p:nvSpPr>
          <p:cNvPr id="24" name="!!card-3"/>
          <p:cNvSpPr/>
          <p:nvPr/>
        </p:nvSpPr>
        <p:spPr>
          <a:xfrm>
            <a:off x="612648" y="3995927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!!card-dot-3"/>
          <p:cNvSpPr/>
          <p:nvPr/>
        </p:nvSpPr>
        <p:spPr>
          <a:xfrm>
            <a:off x="868680" y="4233671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32511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928615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Live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294375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Generation, savings and CO2 reporting for ESG.</a:t>
            </a:r>
          </a:p>
        </p:txBody>
      </p:sp>
      <p:sp>
        <p:nvSpPr>
          <p:cNvPr id="29" name="!!card-4"/>
          <p:cNvSpPr/>
          <p:nvPr/>
        </p:nvSpPr>
        <p:spPr>
          <a:xfrm>
            <a:off x="4389120" y="3995927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!!card-dot-4"/>
          <p:cNvSpPr/>
          <p:nvPr/>
        </p:nvSpPr>
        <p:spPr>
          <a:xfrm>
            <a:off x="4645152" y="4233671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32511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5152" y="4928615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Carbon credits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5152" y="5294375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Credits aggregated; 30% of proceeds shared with owners.</a:t>
            </a:r>
          </a:p>
        </p:txBody>
      </p:sp>
      <p:sp>
        <p:nvSpPr>
          <p:cNvPr id="34" name="!!card-5"/>
          <p:cNvSpPr/>
          <p:nvPr/>
        </p:nvSpPr>
        <p:spPr>
          <a:xfrm>
            <a:off x="8165592" y="3995927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!!card-dot-5"/>
          <p:cNvSpPr/>
          <p:nvPr/>
        </p:nvSpPr>
        <p:spPr>
          <a:xfrm>
            <a:off x="8421624" y="4233671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32511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928615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Bankable contracts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1624" y="5294375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Standard PPAs cleared by two regional lenders.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881360" y="5394960"/>
            <a:ext cx="2377440" cy="237744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404396" y="5917996"/>
            <a:ext cx="1331366" cy="133136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HOW IT WORKS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06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From empty roof to first kilowatt in 60 days</a:t>
            </a:r>
          </a:p>
        </p:txBody>
      </p:sp>
      <p:sp>
        <p:nvSpPr>
          <p:cNvPr id="9" name="!!spine"/>
          <p:cNvSpPr/>
          <p:nvPr/>
        </p:nvSpPr>
        <p:spPr>
          <a:xfrm>
            <a:off x="612648" y="2761488"/>
            <a:ext cx="10972800" cy="64008"/>
          </a:xfrm>
          <a:prstGeom prst="roundRect">
            <a:avLst>
              <a:gd name="adj" fmla="val 50000"/>
            </a:avLst>
          </a:prstGeom>
          <a:solidFill>
            <a:srgbClr val="5E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612648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04333F"/>
                </a:solidFill>
                <a:latin typeface="Montserrat"/>
              </a:rPr>
              <a:t>STEP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Drone scan and structural check within one week of signing.</a:t>
            </a:r>
          </a:p>
        </p:txBody>
      </p:sp>
      <p:sp>
        <p:nvSpPr>
          <p:cNvPr id="15" name="Chevron 14"/>
          <p:cNvSpPr/>
          <p:nvPr/>
        </p:nvSpPr>
        <p:spPr>
          <a:xfrm>
            <a:off x="3451860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9020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2FBFA"/>
                </a:solidFill>
                <a:latin typeface="Montserrat"/>
              </a:rPr>
              <a:t>STEP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1860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1315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1315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Asset is funded from our project facility — no owner capex.</a:t>
            </a:r>
          </a:p>
        </p:txBody>
      </p:sp>
      <p:sp>
        <p:nvSpPr>
          <p:cNvPr id="20" name="Chevron 19"/>
          <p:cNvSpPr/>
          <p:nvPr/>
        </p:nvSpPr>
        <p:spPr>
          <a:xfrm>
            <a:off x="6291072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2FBFA"/>
                </a:solidFill>
                <a:latin typeface="Montserrat"/>
              </a:rPr>
              <a:t>STEP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Install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Panels live in 3–5 weeks with zero disruption to tenants.</a:t>
            </a:r>
          </a:p>
        </p:txBody>
      </p:sp>
      <p:sp>
        <p:nvSpPr>
          <p:cNvPr id="25" name="Chevron 24"/>
          <p:cNvSpPr/>
          <p:nvPr/>
        </p:nvSpPr>
        <p:spPr>
          <a:xfrm>
            <a:off x="9130284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7444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2FBFA"/>
                </a:solidFill>
                <a:latin typeface="Montserrat"/>
              </a:rPr>
              <a:t>STEP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30284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49740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Earn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9740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Owner buys discounted power; we operate and insure the asset.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822960" y="5120640"/>
            <a:ext cx="2560320" cy="256032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259689" y="5683910"/>
            <a:ext cx="1433779" cy="143377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MARKET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07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A $48B regional market, a $1.2B beachhead</a:t>
            </a:r>
          </a:p>
        </p:txBody>
      </p:sp>
      <p:sp>
        <p:nvSpPr>
          <p:cNvPr id="9" name="!!ring-0"/>
          <p:cNvSpPr/>
          <p:nvPr/>
        </p:nvSpPr>
        <p:spPr>
          <a:xfrm>
            <a:off x="1005840" y="1828800"/>
            <a:ext cx="4206240" cy="4206240"/>
          </a:xfrm>
          <a:prstGeom prst="ellipse">
            <a:avLst/>
          </a:prstGeom>
          <a:solidFill>
            <a:srgbClr val="5E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205740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2FBFA"/>
                </a:solidFill>
                <a:latin typeface="Montserrat"/>
              </a:rPr>
              <a:t>$48B  </a:t>
            </a:r>
            <a:r>
              <a:rPr sz="1500" b="1">
                <a:solidFill>
                  <a:srgbClr val="7FE7D2"/>
                </a:solidFill>
                <a:latin typeface="Montserrat"/>
              </a:rPr>
              <a:t>TAM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A9CCC9"/>
                </a:solidFill>
                <a:latin typeface="Inter"/>
              </a:rPr>
              <a:t>Commercial rooftop solar spend, GCC, by 2030</a:t>
            </a:r>
          </a:p>
        </p:txBody>
      </p:sp>
      <p:sp>
        <p:nvSpPr>
          <p:cNvPr id="11" name="!!ring-1"/>
          <p:cNvSpPr/>
          <p:nvPr/>
        </p:nvSpPr>
        <p:spPr>
          <a:xfrm>
            <a:off x="1591056" y="2414016"/>
            <a:ext cx="3035807" cy="3035807"/>
          </a:xfrm>
          <a:prstGeom prst="ellipse">
            <a:avLst/>
          </a:prstGeom>
          <a:solidFill>
            <a:srgbClr val="7FE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355848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2FBFA"/>
                </a:solidFill>
                <a:latin typeface="Montserrat"/>
              </a:rPr>
              <a:t>$12B  </a:t>
            </a:r>
            <a:r>
              <a:rPr sz="1500" b="1">
                <a:solidFill>
                  <a:srgbClr val="7FE7D2"/>
                </a:solidFill>
                <a:latin typeface="Montserrat"/>
              </a:rPr>
              <a:t>SAM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A9CCC9"/>
                </a:solidFill>
                <a:latin typeface="Inter"/>
              </a:rPr>
              <a:t>Saudi Arabia + UAE logistics &amp; retail rooftops</a:t>
            </a:r>
          </a:p>
        </p:txBody>
      </p:sp>
      <p:sp>
        <p:nvSpPr>
          <p:cNvPr id="13" name="!!ring-2"/>
          <p:cNvSpPr/>
          <p:nvPr/>
        </p:nvSpPr>
        <p:spPr>
          <a:xfrm>
            <a:off x="2176272" y="2999232"/>
            <a:ext cx="1865375" cy="186537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4654296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2FBFA"/>
                </a:solidFill>
                <a:latin typeface="Montserrat"/>
              </a:rPr>
              <a:t>$1.2B  </a:t>
            </a:r>
            <a:r>
              <a:rPr sz="1500" b="1">
                <a:solidFill>
                  <a:srgbClr val="7FE7D2"/>
                </a:solidFill>
                <a:latin typeface="Montserrat"/>
              </a:rPr>
              <a:t>SOM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A9CCC9"/>
                </a:solidFill>
                <a:latin typeface="Inter"/>
              </a:rPr>
              <a:t>Our 3-year target across 400 contracted roofs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698480" y="-914400"/>
            <a:ext cx="2651760" cy="26517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281867" y="-331012"/>
            <a:ext cx="1484985" cy="148498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TRACTION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08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Revenue tripled year over year — before paid marketing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12648" y="1920240"/>
          <a:ext cx="75895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!!insight-card"/>
          <p:cNvSpPr/>
          <p:nvPr/>
        </p:nvSpPr>
        <p:spPr>
          <a:xfrm>
            <a:off x="8549640" y="1920240"/>
            <a:ext cx="3017520" cy="402336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7FE7D2"/>
                </a:solidFill>
                <a:latin typeface="Montserrat"/>
              </a:rP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606040"/>
            <a:ext cx="2514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F2FBFA"/>
                </a:solidFill>
                <a:latin typeface="Inter"/>
              </a:rPr>
              <a:t>210k MRR expected by end of 2026, driven by 63 live roofs and a signed pipeline of 140 more. All growth so far is referral-based.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8503920" y="-2011680"/>
            <a:ext cx="5852160" cy="58521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9791395" y="-724204"/>
            <a:ext cx="3277209" cy="327720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09</a:t>
            </a:r>
          </a:p>
        </p:txBody>
      </p:sp>
      <p:sp>
        <p:nvSpPr>
          <p:cNvPr id="7" name="!!hero-stat"/>
          <p:cNvSpPr txBox="1"/>
          <p:nvPr/>
        </p:nvSpPr>
        <p:spPr>
          <a:xfrm>
            <a:off x="612648" y="173736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>
                <a:solidFill>
                  <a:srgbClr val="14C8B4"/>
                </a:solidFill>
                <a:latin typeface="Montserrat"/>
              </a:rPr>
              <a:t>63 roofs</a:t>
            </a:r>
          </a:p>
        </p:txBody>
      </p:sp>
      <p:sp>
        <p:nvSpPr>
          <p:cNvPr id="8" name="!!hero-stat-label"/>
          <p:cNvSpPr txBox="1"/>
          <p:nvPr/>
        </p:nvSpPr>
        <p:spPr>
          <a:xfrm>
            <a:off x="612648" y="3977639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0">
                <a:solidFill>
                  <a:srgbClr val="F2FBFA"/>
                </a:solidFill>
                <a:latin typeface="Montserrat"/>
              </a:rPr>
              <a:t>Live and generating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66344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0">
                <a:solidFill>
                  <a:srgbClr val="A9CCC9"/>
                </a:solidFill>
                <a:latin typeface="Inter"/>
              </a:rPr>
              <a:t>11.4 MW installed · 99.2% average uptime · zero owner churn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881360" y="5394960"/>
            <a:ext cx="2377440" cy="237744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404396" y="5917996"/>
            <a:ext cx="1331366" cy="133136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COMPETITION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10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We win on financing, not just panels</a:t>
            </a:r>
          </a:p>
        </p:txBody>
      </p:sp>
      <p:sp>
        <p:nvSpPr>
          <p:cNvPr id="9" name="!!cmp-0"/>
          <p:cNvSpPr/>
          <p:nvPr/>
        </p:nvSpPr>
        <p:spPr>
          <a:xfrm>
            <a:off x="612648" y="1874519"/>
            <a:ext cx="3444240" cy="4114800"/>
          </a:xfrm>
          <a:prstGeom prst="roundRect">
            <a:avLst>
              <a:gd name="adj" fmla="val 6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03120"/>
            <a:ext cx="289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F2FBFA"/>
                </a:solidFill>
                <a:latin typeface="Montserrat"/>
              </a:rPr>
              <a:t>Buy panels yourself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697480"/>
            <a:ext cx="289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$400k+ upfront capex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Owner carries performance risk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Owner manages maintenance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✓ </a:t>
            </a:r>
            <a:r>
              <a:rPr sz="1350" b="0">
                <a:solidFill>
                  <a:srgbClr val="A9CCC9"/>
                </a:solidFill>
                <a:latin typeface="Inter"/>
              </a:rPr>
              <a:t>Full ownership</a:t>
            </a:r>
          </a:p>
        </p:txBody>
      </p:sp>
      <p:sp>
        <p:nvSpPr>
          <p:cNvPr id="12" name="!!cmp-1"/>
          <p:cNvSpPr/>
          <p:nvPr/>
        </p:nvSpPr>
        <p:spPr>
          <a:xfrm>
            <a:off x="4376928" y="1874519"/>
            <a:ext cx="3444240" cy="4114800"/>
          </a:xfrm>
          <a:prstGeom prst="roundRect">
            <a:avLst>
              <a:gd name="adj" fmla="val 6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103120"/>
            <a:ext cx="289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F2FBFA"/>
                </a:solidFill>
                <a:latin typeface="Montserrat"/>
              </a:rPr>
              <a:t>Generic installers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9536" y="2697480"/>
            <a:ext cx="289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Financing arranged separately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No operations guarantee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✓ </a:t>
            </a:r>
            <a:r>
              <a:rPr sz="1350" b="0">
                <a:solidFill>
                  <a:srgbClr val="A9CCC9"/>
                </a:solidFill>
                <a:latin typeface="Inter"/>
              </a:rPr>
              <a:t>Fast installation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No ESG reporting</a:t>
            </a:r>
          </a:p>
        </p:txBody>
      </p:sp>
      <p:sp>
        <p:nvSpPr>
          <p:cNvPr id="15" name="!!cmp-2"/>
          <p:cNvSpPr/>
          <p:nvPr/>
        </p:nvSpPr>
        <p:spPr>
          <a:xfrm>
            <a:off x="8141208" y="1874519"/>
            <a:ext cx="3444240" cy="4114800"/>
          </a:xfrm>
          <a:prstGeom prst="roundRect">
            <a:avLst>
              <a:gd name="adj" fmla="val 6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3816" y="2103120"/>
            <a:ext cx="289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04333F"/>
                </a:solidFill>
                <a:latin typeface="Montserrat"/>
              </a:rPr>
              <a:t>Sahara Solar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3816" y="2697480"/>
            <a:ext cx="289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Zero upfront cost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Guaranteed output &amp; uptime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Operations fully included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ESG dashboard + carbon share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822960" y="5120640"/>
            <a:ext cx="2560320" cy="256032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259689" y="5683910"/>
            <a:ext cx="1433779" cy="143377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TEAM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11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Operators who have built this before</a:t>
            </a:r>
          </a:p>
        </p:txBody>
      </p:sp>
      <p:sp>
        <p:nvSpPr>
          <p:cNvPr id="9" name="!!person-0"/>
          <p:cNvSpPr/>
          <p:nvPr/>
        </p:nvSpPr>
        <p:spPr>
          <a:xfrm>
            <a:off x="612648" y="1920240"/>
            <a:ext cx="3444240" cy="393192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7840" y="2286000"/>
            <a:ext cx="1133856" cy="113385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7840" y="2633472"/>
            <a:ext cx="1133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04333F"/>
                </a:solidFill>
                <a:latin typeface="Montserrat"/>
              </a:rPr>
              <a:t>LH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657600"/>
            <a:ext cx="289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Layla Haddad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114800"/>
            <a:ext cx="289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Inter"/>
              </a:rPr>
              <a:t>CEO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72000"/>
            <a:ext cx="280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9CCC9"/>
                </a:solidFill>
                <a:latin typeface="Inter"/>
              </a:rPr>
              <a:t>Previously VP at a regional utility; closed $300M in energy infrastructure deals.</a:t>
            </a:r>
          </a:p>
        </p:txBody>
      </p:sp>
      <p:sp>
        <p:nvSpPr>
          <p:cNvPr id="15" name="!!person-1"/>
          <p:cNvSpPr/>
          <p:nvPr/>
        </p:nvSpPr>
        <p:spPr>
          <a:xfrm>
            <a:off x="4376928" y="1920240"/>
            <a:ext cx="3444240" cy="393192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32120" y="2286000"/>
            <a:ext cx="1133856" cy="113385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2633472"/>
            <a:ext cx="1133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04333F"/>
                </a:solidFill>
                <a:latin typeface="Montserrat"/>
              </a:rPr>
              <a:t>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1248" y="3657600"/>
            <a:ext cx="289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Omar Farouk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1248" y="4114800"/>
            <a:ext cx="289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Inter"/>
              </a:rPr>
              <a:t>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6968" y="4572000"/>
            <a:ext cx="280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9CCC9"/>
                </a:solidFill>
                <a:latin typeface="Inter"/>
              </a:rPr>
              <a:t>Built monitoring platforms for 1.2 GW of solar assets across three continents.</a:t>
            </a:r>
          </a:p>
        </p:txBody>
      </p:sp>
      <p:sp>
        <p:nvSpPr>
          <p:cNvPr id="21" name="!!person-2"/>
          <p:cNvSpPr/>
          <p:nvPr/>
        </p:nvSpPr>
        <p:spPr>
          <a:xfrm>
            <a:off x="8141208" y="1920240"/>
            <a:ext cx="3444240" cy="393192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6400" y="2286000"/>
            <a:ext cx="1133856" cy="113385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6400" y="2633472"/>
            <a:ext cx="1133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04333F"/>
                </a:solidFill>
                <a:latin typeface="Montserrat"/>
              </a:rPr>
              <a:t>PN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5528" y="3657600"/>
            <a:ext cx="289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Priya Nair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5528" y="4114800"/>
            <a:ext cx="289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Inter"/>
              </a:rPr>
              <a:t>CFO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1248" y="4572000"/>
            <a:ext cx="280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9CCC9"/>
                </a:solidFill>
                <a:latin typeface="Inter"/>
              </a:rPr>
              <a:t>Structured project-finance facilities for two listed renewable developers.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698480" y="-914400"/>
            <a:ext cx="2651760" cy="26517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281867" y="-331012"/>
            <a:ext cx="1484985" cy="148498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12</a:t>
            </a:r>
          </a:p>
        </p:txBody>
      </p:sp>
      <p:sp>
        <p:nvSpPr>
          <p:cNvPr id="7" name="!!closing-title"/>
          <p:cNvSpPr txBox="1"/>
          <p:nvPr/>
        </p:nvSpPr>
        <p:spPr>
          <a:xfrm>
            <a:off x="612648" y="18288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5400" b="1">
                <a:solidFill>
                  <a:srgbClr val="F2FBFA"/>
                </a:solidFill>
                <a:latin typeface="Montserrat"/>
              </a:rPr>
              <a:t>Help us put every Gulf roof to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2918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200" b="1">
                <a:solidFill>
                  <a:srgbClr val="7FE7D2"/>
                </a:solidFill>
                <a:latin typeface="Montserrat"/>
              </a:rPr>
              <a:t>Raising $4M seed — 18 months of runway to 250 live roofs and Series A metrics.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52628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>
                <a:solidFill>
                  <a:srgbClr val="A9CCC9"/>
                </a:solidFill>
                <a:latin typeface="Inter"/>
              </a:rPr>
              <a:t>Layla Haddad  ·  founders@example.com  ·  Data room available on request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Sahara Solar — Investor Pitch</dc:title>
  <dc:subject/>
  <dc:creator>Example built with the PlacePlate-style generator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