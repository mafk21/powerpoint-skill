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new ARR added ($k)</c:v>
                </c:pt>
              </c:strCache>
            </c:strRef>
          </c:tx>
          <c:dPt>
            <c:idx val="0"/>
            <c:spPr>
              <a:solidFill>
                <a:srgbClr val="57708A"/>
              </a:solidFill>
            </c:spPr>
          </c:dPt>
          <c:dPt>
            <c:idx val="1"/>
            <c:spPr>
              <a:solidFill>
                <a:srgbClr val="57708A"/>
              </a:solidFill>
            </c:spPr>
          </c:dPt>
          <c:dPt>
            <c:idx val="2"/>
            <c:spPr>
              <a:solidFill>
                <a:srgbClr val="57708A"/>
              </a:solidFill>
            </c:spPr>
          </c:dPt>
          <c:dPt>
            <c:idx val="3"/>
            <c:spPr>
              <a:solidFill>
                <a:srgbClr val="57708A"/>
              </a:solidFill>
            </c:spPr>
          </c:dPt>
          <c:dPt>
            <c:idx val="4"/>
            <c:spPr>
              <a:solidFill>
                <a:srgbClr val="4FA3E3"/>
              </a:solidFill>
            </c:spPr>
          </c:dPt>
          <c:dLbls>
            <c:txPr>
              <a:bodyPr/>
              <a:lstStyle/>
              <a:p>
                <a:pPr>
                  <a:defRPr sz="1300" b="1">
                    <a:solidFill>
                      <a:srgbClr val="F2F7FC"/>
                    </a:solidFill>
                    <a:latin typeface="Inter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Q3-25</c:v>
                </c:pt>
                <c:pt idx="1">
                  <c:v>Q4-25</c:v>
                </c:pt>
                <c:pt idx="2">
                  <c:v>Q1-26</c:v>
                </c:pt>
                <c:pt idx="3">
                  <c:v>Q2-26</c:v>
                </c:pt>
                <c:pt idx="4">
                  <c:v>Q3-26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210</c:v>
                </c:pt>
                <c:pt idx="1">
                  <c:v>260</c:v>
                </c:pt>
                <c:pt idx="2">
                  <c:v>310</c:v>
                </c:pt>
                <c:pt idx="3">
                  <c:v>365</c:v>
                </c:pt>
                <c:pt idx="4">
                  <c:v>430</c:v>
                </c:pt>
              </c:numCache>
            </c:numRef>
          </c:val>
        </c:ser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200">
                <a:solidFill>
                  <a:srgbClr val="F2F7FC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200">
                <a:solidFill>
                  <a:srgbClr val="A9C2D8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Cloud cost as % of revenue</c:v>
                </c:pt>
              </c:strCache>
            </c:strRef>
          </c:tx>
          <c:dPt>
            <c:idx val="0"/>
            <c:spPr>
              <a:solidFill>
                <a:srgbClr val="57708A"/>
              </a:solidFill>
            </c:spPr>
          </c:dPt>
          <c:dPt>
            <c:idx val="1"/>
            <c:spPr>
              <a:solidFill>
                <a:srgbClr val="57708A"/>
              </a:solidFill>
            </c:spPr>
          </c:dPt>
          <c:dPt>
            <c:idx val="2"/>
            <c:spPr>
              <a:solidFill>
                <a:srgbClr val="4FA3E3"/>
              </a:solidFill>
            </c:spPr>
          </c:dPt>
          <c:dLbls>
            <c:txPr>
              <a:bodyPr/>
              <a:lstStyle/>
              <a:p>
                <a:pPr>
                  <a:defRPr sz="1300" b="1">
                    <a:solidFill>
                      <a:srgbClr val="F2F7FC"/>
                    </a:solidFill>
                    <a:latin typeface="Inter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Q1-26</c:v>
                </c:pt>
                <c:pt idx="1">
                  <c:v>Q2-26</c:v>
                </c:pt>
                <c:pt idx="2">
                  <c:v>Q3-26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18</c:v>
                </c:pt>
                <c:pt idx="1">
                  <c:v>24</c:v>
                </c:pt>
                <c:pt idx="2">
                  <c:v>31</c:v>
                </c:pt>
              </c:numCache>
            </c:numRef>
          </c:val>
        </c:ser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200">
                <a:solidFill>
                  <a:srgbClr val="F2F7FC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200">
                <a:solidFill>
                  <a:srgbClr val="A9C2D8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Answer-first (Minto): the headline IS the quarter. Three decisions at the end.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Exec summary = pyramid top. Margin is the red thread to the decisions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Name concentration risk out loud before anyone asks.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chart motivates Decision 1 (infra commitment) on the final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Honest misses build trust for the ask. Owners named in appendix.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step maps to a chart shown earlier — vertical logic end to end.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the three asks verbatim. Silence after = decision pressure. Do not fill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2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hero-ring"/>
          <p:cNvSpPr/>
          <p:nvPr/>
        </p:nvSpPr>
        <p:spPr>
          <a:xfrm>
            <a:off x="8503920" y="-2011680"/>
            <a:ext cx="5852160" cy="5852160"/>
          </a:xfrm>
          <a:prstGeom prst="ellipse">
            <a:avLst/>
          </a:prstGeom>
          <a:noFill/>
          <a:ln w="12700">
            <a:solidFill>
              <a:srgbClr val="9CC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!!hero-orb"/>
          <p:cNvSpPr/>
          <p:nvPr/>
        </p:nvSpPr>
        <p:spPr>
          <a:xfrm>
            <a:off x="9791395" y="-724204"/>
            <a:ext cx="3277209" cy="3277209"/>
          </a:xfrm>
          <a:prstGeom prst="ellipse">
            <a:avLst/>
          </a:prstGeom>
          <a:solidFill>
            <a:srgbClr val="4FA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!!accent-bar"/>
          <p:cNvSpPr/>
          <p:nvPr/>
        </p:nvSpPr>
        <p:spPr>
          <a:xfrm>
            <a:off x="612648" y="1389888"/>
            <a:ext cx="777240" cy="82296"/>
          </a:xfrm>
          <a:prstGeom prst="roundRect">
            <a:avLst>
              <a:gd name="adj" fmla="val 50000"/>
            </a:avLst>
          </a:prstGeom>
          <a:solidFill>
            <a:srgbClr val="4FA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!!brand"/>
          <p:cNvSpPr txBox="1"/>
          <p:nvPr/>
        </p:nvSpPr>
        <p:spPr>
          <a:xfrm>
            <a:off x="612648" y="641908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50" b="0">
                <a:solidFill>
                  <a:srgbClr val="A9C2D8"/>
                </a:solidFill>
                <a:latin typeface="Inter"/>
              </a:rPr>
              <a:t>DUNE TECH  ·  INTERNAL</a:t>
            </a:r>
          </a:p>
        </p:txBody>
      </p:sp>
      <p:sp>
        <p:nvSpPr>
          <p:cNvPr id="6" name="!!pageno"/>
          <p:cNvSpPr txBox="1"/>
          <p:nvPr/>
        </p:nvSpPr>
        <p:spPr>
          <a:xfrm>
            <a:off x="11064240" y="641908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250" b="0">
                <a:solidFill>
                  <a:srgbClr val="A9C2D8"/>
                </a:solidFill>
                <a:latin typeface="Inter"/>
              </a:rPr>
              <a:t>01</a:t>
            </a:r>
          </a:p>
        </p:txBody>
      </p:sp>
      <p:sp>
        <p:nvSpPr>
          <p:cNvPr id="7" name="!!hero-title"/>
          <p:cNvSpPr txBox="1"/>
          <p:nvPr/>
        </p:nvSpPr>
        <p:spPr>
          <a:xfrm>
            <a:off x="612648" y="1417320"/>
            <a:ext cx="786384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400"/>
              </a:spcAft>
            </a:pPr>
            <a:r>
              <a:rPr sz="4800" b="1">
                <a:solidFill>
                  <a:srgbClr val="F2F7FC"/>
                </a:solidFill>
                <a:latin typeface="Montserrat"/>
              </a:rPr>
              <a:t>Q3 Review:
Growth held, margins slipped</a:t>
            </a:r>
          </a:p>
        </p:txBody>
      </p:sp>
      <p:sp>
        <p:nvSpPr>
          <p:cNvPr id="8" name="!!hero-sub"/>
          <p:cNvSpPr txBox="1"/>
          <p:nvPr/>
        </p:nvSpPr>
        <p:spPr>
          <a:xfrm>
            <a:off x="612648" y="3246120"/>
            <a:ext cx="69494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2000" b="0">
                <a:solidFill>
                  <a:srgbClr val="A9C2D8"/>
                </a:solidFill>
                <a:latin typeface="Inter"/>
              </a:rPr>
              <a:t>Decision deck — three calls needed today, flagged on the final slide.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" y="4709160"/>
            <a:ext cx="69494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400" b="1">
                <a:solidFill>
                  <a:srgbClr val="9CC8EE"/>
                </a:solidFill>
                <a:latin typeface="Montserrat"/>
              </a:rPr>
              <a:t>QUARTERLY BUSINESS REVIEW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2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hero-ring"/>
          <p:cNvSpPr/>
          <p:nvPr/>
        </p:nvSpPr>
        <p:spPr>
          <a:xfrm>
            <a:off x="10881360" y="5394960"/>
            <a:ext cx="2377440" cy="2377440"/>
          </a:xfrm>
          <a:prstGeom prst="ellipse">
            <a:avLst/>
          </a:prstGeom>
          <a:noFill/>
          <a:ln w="12700">
            <a:solidFill>
              <a:srgbClr val="9CC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!!hero-orb"/>
          <p:cNvSpPr/>
          <p:nvPr/>
        </p:nvSpPr>
        <p:spPr>
          <a:xfrm>
            <a:off x="11404396" y="5917996"/>
            <a:ext cx="1331366" cy="1331366"/>
          </a:xfrm>
          <a:prstGeom prst="ellipse">
            <a:avLst/>
          </a:prstGeom>
          <a:solidFill>
            <a:srgbClr val="4FA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!!accent-bar"/>
          <p:cNvSpPr/>
          <p:nvPr/>
        </p:nvSpPr>
        <p:spPr>
          <a:xfrm>
            <a:off x="612648" y="1389888"/>
            <a:ext cx="777240" cy="82296"/>
          </a:xfrm>
          <a:prstGeom prst="roundRect">
            <a:avLst>
              <a:gd name="adj" fmla="val 50000"/>
            </a:avLst>
          </a:prstGeom>
          <a:solidFill>
            <a:srgbClr val="4FA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!!kicker"/>
          <p:cNvSpPr txBox="1"/>
          <p:nvPr/>
        </p:nvSpPr>
        <p:spPr>
          <a:xfrm>
            <a:off x="612648" y="475488"/>
            <a:ext cx="7772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1">
                <a:solidFill>
                  <a:srgbClr val="9CC8EE"/>
                </a:solidFill>
                <a:latin typeface="Montserrat"/>
              </a:rPr>
              <a:t>EXECUTIVE SUMMARY</a:t>
            </a:r>
          </a:p>
        </p:txBody>
      </p:sp>
      <p:sp>
        <p:nvSpPr>
          <p:cNvPr id="6" name="!!brand"/>
          <p:cNvSpPr txBox="1"/>
          <p:nvPr/>
        </p:nvSpPr>
        <p:spPr>
          <a:xfrm>
            <a:off x="612648" y="641908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50" b="0">
                <a:solidFill>
                  <a:srgbClr val="A9C2D8"/>
                </a:solidFill>
                <a:latin typeface="Inter"/>
              </a:rPr>
              <a:t>DUNE TECH  ·  INTERNAL</a:t>
            </a:r>
          </a:p>
        </p:txBody>
      </p:sp>
      <p:sp>
        <p:nvSpPr>
          <p:cNvPr id="7" name="!!pageno"/>
          <p:cNvSpPr txBox="1"/>
          <p:nvPr/>
        </p:nvSpPr>
        <p:spPr>
          <a:xfrm>
            <a:off x="11064240" y="641908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250" b="0">
                <a:solidFill>
                  <a:srgbClr val="A9C2D8"/>
                </a:solidFill>
                <a:latin typeface="Inter"/>
              </a:rPr>
              <a:t>02</a:t>
            </a:r>
          </a:p>
        </p:txBody>
      </p:sp>
      <p:sp>
        <p:nvSpPr>
          <p:cNvPr id="8" name="!!headline"/>
          <p:cNvSpPr txBox="1"/>
          <p:nvPr/>
        </p:nvSpPr>
        <p:spPr>
          <a:xfrm>
            <a:off x="612648" y="841248"/>
            <a:ext cx="10424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3400" b="1">
                <a:solidFill>
                  <a:srgbClr val="F2F7FC"/>
                </a:solidFill>
                <a:latin typeface="Montserrat"/>
              </a:rPr>
              <a:t>The quarter in four numbers</a:t>
            </a:r>
          </a:p>
        </p:txBody>
      </p:sp>
      <p:sp>
        <p:nvSpPr>
          <p:cNvPr id="9" name="!!stat-0"/>
          <p:cNvSpPr/>
          <p:nvPr/>
        </p:nvSpPr>
        <p:spPr>
          <a:xfrm>
            <a:off x="612648" y="2057400"/>
            <a:ext cx="2503170" cy="3017520"/>
          </a:xfrm>
          <a:prstGeom prst="roundRect">
            <a:avLst>
              <a:gd name="adj" fmla="val 7000"/>
            </a:avLst>
          </a:prstGeom>
          <a:solidFill>
            <a:srgbClr val="1734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" y="2377440"/>
            <a:ext cx="1954529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4200" b="1">
                <a:solidFill>
                  <a:srgbClr val="4FA3E3"/>
                </a:solidFill>
                <a:latin typeface="Montserrat"/>
              </a:rPr>
              <a:t>$4.2M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3520440"/>
            <a:ext cx="195452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50" b="1">
                <a:solidFill>
                  <a:srgbClr val="F2F7FC"/>
                </a:solidFill>
                <a:latin typeface="Montserrat"/>
              </a:rPr>
              <a:t>Revenue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" y="4160520"/>
            <a:ext cx="1954529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50" b="0">
                <a:solidFill>
                  <a:srgbClr val="A9C2D8"/>
                </a:solidFill>
                <a:latin typeface="Inter"/>
              </a:rPr>
              <a:t>+38% YoY, plan beaten by 6%</a:t>
            </a:r>
          </a:p>
        </p:txBody>
      </p:sp>
      <p:sp>
        <p:nvSpPr>
          <p:cNvPr id="13" name="!!stat-1"/>
          <p:cNvSpPr/>
          <p:nvPr/>
        </p:nvSpPr>
        <p:spPr>
          <a:xfrm>
            <a:off x="3435858" y="2057400"/>
            <a:ext cx="2503170" cy="3017520"/>
          </a:xfrm>
          <a:prstGeom prst="roundRect">
            <a:avLst>
              <a:gd name="adj" fmla="val 7000"/>
            </a:avLst>
          </a:prstGeom>
          <a:solidFill>
            <a:srgbClr val="1734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10178" y="2377440"/>
            <a:ext cx="1954529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4200" b="1">
                <a:solidFill>
                  <a:srgbClr val="4FA3E3"/>
                </a:solidFill>
                <a:latin typeface="Montserrat"/>
              </a:rPr>
              <a:t>61%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10178" y="3520440"/>
            <a:ext cx="195452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50" b="1">
                <a:solidFill>
                  <a:srgbClr val="F2F7FC"/>
                </a:solidFill>
                <a:latin typeface="Montserrat"/>
              </a:rPr>
              <a:t>Gross margin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10178" y="4160520"/>
            <a:ext cx="1954529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50" b="0">
                <a:solidFill>
                  <a:srgbClr val="A9C2D8"/>
                </a:solidFill>
                <a:latin typeface="Inter"/>
              </a:rPr>
              <a:t>-4 pts QoQ — cloud costs</a:t>
            </a:r>
          </a:p>
        </p:txBody>
      </p:sp>
      <p:sp>
        <p:nvSpPr>
          <p:cNvPr id="17" name="!!stat-2"/>
          <p:cNvSpPr/>
          <p:nvPr/>
        </p:nvSpPr>
        <p:spPr>
          <a:xfrm>
            <a:off x="6259068" y="2057400"/>
            <a:ext cx="2503170" cy="3017520"/>
          </a:xfrm>
          <a:prstGeom prst="roundRect">
            <a:avLst>
              <a:gd name="adj" fmla="val 7000"/>
            </a:avLst>
          </a:prstGeom>
          <a:solidFill>
            <a:srgbClr val="1734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33388" y="2377440"/>
            <a:ext cx="1954529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4200" b="1">
                <a:solidFill>
                  <a:srgbClr val="4FA3E3"/>
                </a:solidFill>
                <a:latin typeface="Montserrat"/>
              </a:rPr>
              <a:t>1.8%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3388" y="3520440"/>
            <a:ext cx="195452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50" b="1">
                <a:solidFill>
                  <a:srgbClr val="F2F7FC"/>
                </a:solidFill>
                <a:latin typeface="Montserrat"/>
              </a:rPr>
              <a:t>Churn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3388" y="4160520"/>
            <a:ext cx="1954529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50" b="0">
                <a:solidFill>
                  <a:srgbClr val="A9C2D8"/>
                </a:solidFill>
                <a:latin typeface="Inter"/>
              </a:rPr>
              <a:t>Best quarter on record</a:t>
            </a:r>
          </a:p>
        </p:txBody>
      </p:sp>
      <p:sp>
        <p:nvSpPr>
          <p:cNvPr id="21" name="!!stat-3"/>
          <p:cNvSpPr/>
          <p:nvPr/>
        </p:nvSpPr>
        <p:spPr>
          <a:xfrm>
            <a:off x="9082278" y="2057400"/>
            <a:ext cx="2503170" cy="3017520"/>
          </a:xfrm>
          <a:prstGeom prst="roundRect">
            <a:avLst>
              <a:gd name="adj" fmla="val 7000"/>
            </a:avLst>
          </a:prstGeom>
          <a:solidFill>
            <a:srgbClr val="1734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56598" y="2377440"/>
            <a:ext cx="1954529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4200" b="1">
                <a:solidFill>
                  <a:srgbClr val="4FA3E3"/>
                </a:solidFill>
                <a:latin typeface="Montserrat"/>
              </a:rPr>
              <a:t>14 mo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56598" y="3520440"/>
            <a:ext cx="195452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50" b="1">
                <a:solidFill>
                  <a:srgbClr val="F2F7FC"/>
                </a:solidFill>
                <a:latin typeface="Montserrat"/>
              </a:rPr>
              <a:t>Runway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56598" y="4160520"/>
            <a:ext cx="1954529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50" b="0">
                <a:solidFill>
                  <a:srgbClr val="A9C2D8"/>
                </a:solidFill>
                <a:latin typeface="Inter"/>
              </a:rPr>
              <a:t>At current burn, pre-raise</a:t>
            </a:r>
          </a:p>
        </p:txBody>
      </p:sp>
    </p:spTree>
  </p:cSld>
  <p:clrMapOvr>
    <a:masterClrMapping/>
  </p:clrMapOvr>
  <p:transition xmlns:p14="http://schemas.microsoft.com/office/powerpoint/2010/main" spd="med" p14:dur="900">
    <p14:morph type="byObject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2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hero-ring"/>
          <p:cNvSpPr/>
          <p:nvPr/>
        </p:nvSpPr>
        <p:spPr>
          <a:xfrm>
            <a:off x="-822960" y="5120640"/>
            <a:ext cx="2560320" cy="2560320"/>
          </a:xfrm>
          <a:prstGeom prst="ellipse">
            <a:avLst/>
          </a:prstGeom>
          <a:noFill/>
          <a:ln w="12700">
            <a:solidFill>
              <a:srgbClr val="9CC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!!hero-orb"/>
          <p:cNvSpPr/>
          <p:nvPr/>
        </p:nvSpPr>
        <p:spPr>
          <a:xfrm>
            <a:off x="-259689" y="5683910"/>
            <a:ext cx="1433779" cy="1433779"/>
          </a:xfrm>
          <a:prstGeom prst="ellipse">
            <a:avLst/>
          </a:prstGeom>
          <a:solidFill>
            <a:srgbClr val="4FA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!!accent-bar"/>
          <p:cNvSpPr/>
          <p:nvPr/>
        </p:nvSpPr>
        <p:spPr>
          <a:xfrm>
            <a:off x="612648" y="1389888"/>
            <a:ext cx="777240" cy="82296"/>
          </a:xfrm>
          <a:prstGeom prst="roundRect">
            <a:avLst>
              <a:gd name="adj" fmla="val 50000"/>
            </a:avLst>
          </a:prstGeom>
          <a:solidFill>
            <a:srgbClr val="4FA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!!kicker"/>
          <p:cNvSpPr txBox="1"/>
          <p:nvPr/>
        </p:nvSpPr>
        <p:spPr>
          <a:xfrm>
            <a:off x="612648" y="475488"/>
            <a:ext cx="7772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1">
                <a:solidFill>
                  <a:srgbClr val="9CC8EE"/>
                </a:solidFill>
                <a:latin typeface="Montserrat"/>
              </a:rPr>
              <a:t>GROWTH</a:t>
            </a:r>
          </a:p>
        </p:txBody>
      </p:sp>
      <p:sp>
        <p:nvSpPr>
          <p:cNvPr id="6" name="!!brand"/>
          <p:cNvSpPr txBox="1"/>
          <p:nvPr/>
        </p:nvSpPr>
        <p:spPr>
          <a:xfrm>
            <a:off x="612648" y="641908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50" b="0">
                <a:solidFill>
                  <a:srgbClr val="A9C2D8"/>
                </a:solidFill>
                <a:latin typeface="Inter"/>
              </a:rPr>
              <a:t>DUNE TECH  ·  INTERNAL</a:t>
            </a:r>
          </a:p>
        </p:txBody>
      </p:sp>
      <p:sp>
        <p:nvSpPr>
          <p:cNvPr id="7" name="!!pageno"/>
          <p:cNvSpPr txBox="1"/>
          <p:nvPr/>
        </p:nvSpPr>
        <p:spPr>
          <a:xfrm>
            <a:off x="11064240" y="641908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250" b="0">
                <a:solidFill>
                  <a:srgbClr val="A9C2D8"/>
                </a:solidFill>
                <a:latin typeface="Inter"/>
              </a:rPr>
              <a:t>03</a:t>
            </a:r>
          </a:p>
        </p:txBody>
      </p:sp>
      <p:sp>
        <p:nvSpPr>
          <p:cNvPr id="8" name="!!headline"/>
          <p:cNvSpPr txBox="1"/>
          <p:nvPr/>
        </p:nvSpPr>
        <p:spPr>
          <a:xfrm>
            <a:off x="612648" y="841248"/>
            <a:ext cx="10424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3400" b="1">
                <a:solidFill>
                  <a:srgbClr val="F2F7FC"/>
                </a:solidFill>
                <a:latin typeface="Montserrat"/>
              </a:rPr>
              <a:t>new ARR doubled YoY on enterprise wins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612648" y="1920240"/>
          <a:ext cx="7589520" cy="40233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!!insight-card"/>
          <p:cNvSpPr/>
          <p:nvPr/>
        </p:nvSpPr>
        <p:spPr>
          <a:xfrm>
            <a:off x="8549640" y="1920240"/>
            <a:ext cx="3017520" cy="4023360"/>
          </a:xfrm>
          <a:prstGeom prst="roundRect">
            <a:avLst>
              <a:gd name="adj" fmla="val 7000"/>
            </a:avLst>
          </a:prstGeom>
          <a:solidFill>
            <a:srgbClr val="1734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23960" y="2194560"/>
            <a:ext cx="2514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00" b="1">
                <a:solidFill>
                  <a:srgbClr val="9CC8EE"/>
                </a:solidFill>
                <a:latin typeface="Montserrat"/>
              </a:rPr>
              <a:t>KEY INSIGHT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23960" y="2606040"/>
            <a:ext cx="2514600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500" b="0">
                <a:solidFill>
                  <a:srgbClr val="F2F7FC"/>
                </a:solidFill>
                <a:latin typeface="Inter"/>
              </a:rPr>
              <a:t>Two enterprise logos = 44% of Q3 new ARR. Growth is real but concentrated — pipeline coverage for Q4 is the watch item.</a:t>
            </a:r>
          </a:p>
        </p:txBody>
      </p:sp>
    </p:spTree>
  </p:cSld>
  <p:clrMapOvr>
    <a:masterClrMapping/>
  </p:clrMapOvr>
  <p:transition xmlns:p14="http://schemas.microsoft.com/office/powerpoint/2010/main" spd="med" p14:dur="900">
    <p14:morph type="byObject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2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hero-ring"/>
          <p:cNvSpPr/>
          <p:nvPr/>
        </p:nvSpPr>
        <p:spPr>
          <a:xfrm>
            <a:off x="10698480" y="-914400"/>
            <a:ext cx="2651760" cy="2651760"/>
          </a:xfrm>
          <a:prstGeom prst="ellipse">
            <a:avLst/>
          </a:prstGeom>
          <a:noFill/>
          <a:ln w="12700">
            <a:solidFill>
              <a:srgbClr val="9CC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!!hero-orb"/>
          <p:cNvSpPr/>
          <p:nvPr/>
        </p:nvSpPr>
        <p:spPr>
          <a:xfrm>
            <a:off x="11281867" y="-331012"/>
            <a:ext cx="1484985" cy="1484985"/>
          </a:xfrm>
          <a:prstGeom prst="ellipse">
            <a:avLst/>
          </a:prstGeom>
          <a:solidFill>
            <a:srgbClr val="4FA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!!accent-bar"/>
          <p:cNvSpPr/>
          <p:nvPr/>
        </p:nvSpPr>
        <p:spPr>
          <a:xfrm>
            <a:off x="612648" y="1389888"/>
            <a:ext cx="777240" cy="82296"/>
          </a:xfrm>
          <a:prstGeom prst="roundRect">
            <a:avLst>
              <a:gd name="adj" fmla="val 50000"/>
            </a:avLst>
          </a:prstGeom>
          <a:solidFill>
            <a:srgbClr val="4FA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!!kicker"/>
          <p:cNvSpPr txBox="1"/>
          <p:nvPr/>
        </p:nvSpPr>
        <p:spPr>
          <a:xfrm>
            <a:off x="612648" y="475488"/>
            <a:ext cx="7772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1">
                <a:solidFill>
                  <a:srgbClr val="9CC8EE"/>
                </a:solidFill>
                <a:latin typeface="Montserrat"/>
              </a:rPr>
              <a:t>MARGINS</a:t>
            </a:r>
          </a:p>
        </p:txBody>
      </p:sp>
      <p:sp>
        <p:nvSpPr>
          <p:cNvPr id="6" name="!!brand"/>
          <p:cNvSpPr txBox="1"/>
          <p:nvPr/>
        </p:nvSpPr>
        <p:spPr>
          <a:xfrm>
            <a:off x="612648" y="641908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50" b="0">
                <a:solidFill>
                  <a:srgbClr val="A9C2D8"/>
                </a:solidFill>
                <a:latin typeface="Inter"/>
              </a:rPr>
              <a:t>DUNE TECH  ·  INTERNAL</a:t>
            </a:r>
          </a:p>
        </p:txBody>
      </p:sp>
      <p:sp>
        <p:nvSpPr>
          <p:cNvPr id="7" name="!!pageno"/>
          <p:cNvSpPr txBox="1"/>
          <p:nvPr/>
        </p:nvSpPr>
        <p:spPr>
          <a:xfrm>
            <a:off x="11064240" y="641908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250" b="0">
                <a:solidFill>
                  <a:srgbClr val="A9C2D8"/>
                </a:solidFill>
                <a:latin typeface="Inter"/>
              </a:rPr>
              <a:t>04</a:t>
            </a:r>
          </a:p>
        </p:txBody>
      </p:sp>
      <p:sp>
        <p:nvSpPr>
          <p:cNvPr id="8" name="!!headline"/>
          <p:cNvSpPr txBox="1"/>
          <p:nvPr/>
        </p:nvSpPr>
        <p:spPr>
          <a:xfrm>
            <a:off x="612648" y="841248"/>
            <a:ext cx="10424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3400" b="1">
                <a:solidFill>
                  <a:srgbClr val="F2F7FC"/>
                </a:solidFill>
                <a:latin typeface="Montserrat"/>
              </a:rPr>
              <a:t>Cloud spend grew 2x faster than revenue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612648" y="1920240"/>
          <a:ext cx="7589520" cy="40233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!!insight-card"/>
          <p:cNvSpPr/>
          <p:nvPr/>
        </p:nvSpPr>
        <p:spPr>
          <a:xfrm>
            <a:off x="8549640" y="1920240"/>
            <a:ext cx="3017520" cy="4023360"/>
          </a:xfrm>
          <a:prstGeom prst="roundRect">
            <a:avLst>
              <a:gd name="adj" fmla="val 7000"/>
            </a:avLst>
          </a:prstGeom>
          <a:solidFill>
            <a:srgbClr val="1734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23960" y="2194560"/>
            <a:ext cx="2514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00" b="1">
                <a:solidFill>
                  <a:srgbClr val="9CC8EE"/>
                </a:solidFill>
                <a:latin typeface="Montserrat"/>
              </a:rPr>
              <a:t>KEY INSIGHT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23960" y="2606040"/>
            <a:ext cx="2514600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500" b="0">
                <a:solidFill>
                  <a:srgbClr val="F2F7FC"/>
                </a:solidFill>
                <a:latin typeface="Inter"/>
              </a:rPr>
              <a:t>GPU inference for the new AI tier drives the slope. Committed-use discounts + caching recover ~6 of the 13 points.</a:t>
            </a:r>
          </a:p>
        </p:txBody>
      </p:sp>
    </p:spTree>
  </p:cSld>
  <p:clrMapOvr>
    <a:masterClrMapping/>
  </p:clrMapOvr>
  <p:transition xmlns:p14="http://schemas.microsoft.com/office/powerpoint/2010/main" spd="med" p14:dur="900">
    <p14:morph type="byObject"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2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hero-ring"/>
          <p:cNvSpPr/>
          <p:nvPr/>
        </p:nvSpPr>
        <p:spPr>
          <a:xfrm>
            <a:off x="-1005840" y="-1005840"/>
            <a:ext cx="2743200" cy="2743200"/>
          </a:xfrm>
          <a:prstGeom prst="ellipse">
            <a:avLst/>
          </a:prstGeom>
          <a:noFill/>
          <a:ln w="12700">
            <a:solidFill>
              <a:srgbClr val="9CC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!!hero-orb"/>
          <p:cNvSpPr/>
          <p:nvPr/>
        </p:nvSpPr>
        <p:spPr>
          <a:xfrm>
            <a:off x="-402336" y="-402336"/>
            <a:ext cx="1536192" cy="1536192"/>
          </a:xfrm>
          <a:prstGeom prst="ellipse">
            <a:avLst/>
          </a:prstGeom>
          <a:solidFill>
            <a:srgbClr val="4FA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!!accent-bar"/>
          <p:cNvSpPr/>
          <p:nvPr/>
        </p:nvSpPr>
        <p:spPr>
          <a:xfrm>
            <a:off x="612648" y="1389888"/>
            <a:ext cx="777240" cy="82296"/>
          </a:xfrm>
          <a:prstGeom prst="roundRect">
            <a:avLst>
              <a:gd name="adj" fmla="val 50000"/>
            </a:avLst>
          </a:prstGeom>
          <a:solidFill>
            <a:srgbClr val="4FA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!!kicker"/>
          <p:cNvSpPr txBox="1"/>
          <p:nvPr/>
        </p:nvSpPr>
        <p:spPr>
          <a:xfrm>
            <a:off x="612648" y="475488"/>
            <a:ext cx="7772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1">
                <a:solidFill>
                  <a:srgbClr val="9CC8EE"/>
                </a:solidFill>
                <a:latin typeface="Montserrat"/>
              </a:rPr>
              <a:t>MISSES</a:t>
            </a:r>
          </a:p>
        </p:txBody>
      </p:sp>
      <p:sp>
        <p:nvSpPr>
          <p:cNvPr id="6" name="!!brand"/>
          <p:cNvSpPr txBox="1"/>
          <p:nvPr/>
        </p:nvSpPr>
        <p:spPr>
          <a:xfrm>
            <a:off x="612648" y="641908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50" b="0">
                <a:solidFill>
                  <a:srgbClr val="A9C2D8"/>
                </a:solidFill>
                <a:latin typeface="Inter"/>
              </a:rPr>
              <a:t>DUNE TECH  ·  INTERNAL</a:t>
            </a:r>
          </a:p>
        </p:txBody>
      </p:sp>
      <p:sp>
        <p:nvSpPr>
          <p:cNvPr id="7" name="!!pageno"/>
          <p:cNvSpPr txBox="1"/>
          <p:nvPr/>
        </p:nvSpPr>
        <p:spPr>
          <a:xfrm>
            <a:off x="11064240" y="641908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250" b="0">
                <a:solidFill>
                  <a:srgbClr val="A9C2D8"/>
                </a:solidFill>
                <a:latin typeface="Inter"/>
              </a:rPr>
              <a:t>05</a:t>
            </a:r>
          </a:p>
        </p:txBody>
      </p:sp>
      <p:sp>
        <p:nvSpPr>
          <p:cNvPr id="8" name="!!headline"/>
          <p:cNvSpPr txBox="1"/>
          <p:nvPr/>
        </p:nvSpPr>
        <p:spPr>
          <a:xfrm>
            <a:off x="612648" y="841248"/>
            <a:ext cx="10424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3400" b="1">
                <a:solidFill>
                  <a:srgbClr val="F2F7FC"/>
                </a:solidFill>
                <a:latin typeface="Montserrat"/>
              </a:rPr>
              <a:t>Two misses, both fixable this quarter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" y="1874519"/>
            <a:ext cx="6537960" cy="932688"/>
          </a:xfrm>
          <a:prstGeom prst="roundRect">
            <a:avLst>
              <a:gd name="adj" fmla="val 10000"/>
            </a:avLst>
          </a:prstGeom>
          <a:solidFill>
            <a:srgbClr val="1734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12648" y="1874519"/>
            <a:ext cx="109728" cy="932688"/>
          </a:xfrm>
          <a:prstGeom prst="roundRect">
            <a:avLst>
              <a:gd name="adj" fmla="val 50000"/>
            </a:avLst>
          </a:prstGeom>
          <a:solidFill>
            <a:srgbClr val="4FA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993391"/>
            <a:ext cx="60350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700" b="1">
                <a:solidFill>
                  <a:srgbClr val="F2F7FC"/>
                </a:solidFill>
                <a:latin typeface="Montserrat"/>
              </a:rPr>
              <a:t>Self-serve funnel stalled at 2.1%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50" b="0">
                <a:solidFill>
                  <a:srgbClr val="A9C2D8"/>
                </a:solidFill>
                <a:latin typeface="Inter"/>
              </a:rPr>
              <a:t>Onboarding drop-off at step 3; redesign ships in sprint 14.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" y="2953511"/>
            <a:ext cx="6537960" cy="932688"/>
          </a:xfrm>
          <a:prstGeom prst="roundRect">
            <a:avLst>
              <a:gd name="adj" fmla="val 10000"/>
            </a:avLst>
          </a:prstGeom>
          <a:solidFill>
            <a:srgbClr val="1734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12648" y="2953511"/>
            <a:ext cx="109728" cy="932688"/>
          </a:xfrm>
          <a:prstGeom prst="roundRect">
            <a:avLst>
              <a:gd name="adj" fmla="val 50000"/>
            </a:avLst>
          </a:prstGeom>
          <a:solidFill>
            <a:srgbClr val="4FA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072383"/>
            <a:ext cx="60350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700" b="1">
                <a:solidFill>
                  <a:srgbClr val="F2F7FC"/>
                </a:solidFill>
                <a:latin typeface="Montserrat"/>
              </a:rPr>
              <a:t>Hiring: 3 of 9 roles filled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50" b="0">
                <a:solidFill>
                  <a:srgbClr val="A9C2D8"/>
                </a:solidFill>
                <a:latin typeface="Inter"/>
              </a:rPr>
              <a:t>Senior backend market is slow; contractor bridge approved.</a:t>
            </a:r>
          </a:p>
        </p:txBody>
      </p:sp>
      <p:sp>
        <p:nvSpPr>
          <p:cNvPr id="15" name="!!visual-panel"/>
          <p:cNvSpPr/>
          <p:nvPr/>
        </p:nvSpPr>
        <p:spPr>
          <a:xfrm>
            <a:off x="7543800" y="1874519"/>
            <a:ext cx="4023360" cy="4160520"/>
          </a:xfrm>
          <a:prstGeom prst="roundRect">
            <a:avLst>
              <a:gd name="adj" fmla="val 6000"/>
            </a:avLst>
          </a:prstGeom>
          <a:solidFill>
            <a:srgbClr val="4FA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18120" y="2331720"/>
            <a:ext cx="34747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6000" b="1">
                <a:solidFill>
                  <a:srgbClr val="0F2233"/>
                </a:solidFill>
                <a:latin typeface="Montserrat"/>
              </a:rPr>
              <a:t>2.1%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18120" y="4206240"/>
            <a:ext cx="347472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500" b="0">
                <a:solidFill>
                  <a:srgbClr val="0F2233"/>
                </a:solidFill>
                <a:latin typeface="Inter"/>
              </a:rPr>
              <a:t>Self-serve conversion vs 3.5% target.</a:t>
            </a:r>
          </a:p>
        </p:txBody>
      </p:sp>
    </p:spTree>
  </p:cSld>
  <p:clrMapOvr>
    <a:masterClrMapping/>
  </p:clrMapOvr>
  <p:transition xmlns:p14="http://schemas.microsoft.com/office/powerpoint/2010/main" spd="med" p14:dur="900">
    <p14:morph type="byObject"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2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hero-ring"/>
          <p:cNvSpPr/>
          <p:nvPr/>
        </p:nvSpPr>
        <p:spPr>
          <a:xfrm>
            <a:off x="10881360" y="5394960"/>
            <a:ext cx="2377440" cy="2377440"/>
          </a:xfrm>
          <a:prstGeom prst="ellipse">
            <a:avLst/>
          </a:prstGeom>
          <a:noFill/>
          <a:ln w="12700">
            <a:solidFill>
              <a:srgbClr val="9CC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!!hero-orb"/>
          <p:cNvSpPr/>
          <p:nvPr/>
        </p:nvSpPr>
        <p:spPr>
          <a:xfrm>
            <a:off x="11404396" y="5917996"/>
            <a:ext cx="1331366" cy="1331366"/>
          </a:xfrm>
          <a:prstGeom prst="ellipse">
            <a:avLst/>
          </a:prstGeom>
          <a:solidFill>
            <a:srgbClr val="4FA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!!accent-bar"/>
          <p:cNvSpPr/>
          <p:nvPr/>
        </p:nvSpPr>
        <p:spPr>
          <a:xfrm>
            <a:off x="612648" y="1389888"/>
            <a:ext cx="777240" cy="82296"/>
          </a:xfrm>
          <a:prstGeom prst="roundRect">
            <a:avLst>
              <a:gd name="adj" fmla="val 50000"/>
            </a:avLst>
          </a:prstGeom>
          <a:solidFill>
            <a:srgbClr val="4FA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!!kicker"/>
          <p:cNvSpPr txBox="1"/>
          <p:nvPr/>
        </p:nvSpPr>
        <p:spPr>
          <a:xfrm>
            <a:off x="612648" y="475488"/>
            <a:ext cx="7772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1">
                <a:solidFill>
                  <a:srgbClr val="9CC8EE"/>
                </a:solidFill>
                <a:latin typeface="Montserrat"/>
              </a:rPr>
              <a:t>INITIATIVES</a:t>
            </a:r>
          </a:p>
        </p:txBody>
      </p:sp>
      <p:sp>
        <p:nvSpPr>
          <p:cNvPr id="6" name="!!brand"/>
          <p:cNvSpPr txBox="1"/>
          <p:nvPr/>
        </p:nvSpPr>
        <p:spPr>
          <a:xfrm>
            <a:off x="612648" y="641908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50" b="0">
                <a:solidFill>
                  <a:srgbClr val="A9C2D8"/>
                </a:solidFill>
                <a:latin typeface="Inter"/>
              </a:rPr>
              <a:t>DUNE TECH  ·  INTERNAL</a:t>
            </a:r>
          </a:p>
        </p:txBody>
      </p:sp>
      <p:sp>
        <p:nvSpPr>
          <p:cNvPr id="7" name="!!pageno"/>
          <p:cNvSpPr txBox="1"/>
          <p:nvPr/>
        </p:nvSpPr>
        <p:spPr>
          <a:xfrm>
            <a:off x="11064240" y="641908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250" b="0">
                <a:solidFill>
                  <a:srgbClr val="A9C2D8"/>
                </a:solidFill>
                <a:latin typeface="Inter"/>
              </a:rPr>
              <a:t>06</a:t>
            </a:r>
          </a:p>
        </p:txBody>
      </p:sp>
      <p:sp>
        <p:nvSpPr>
          <p:cNvPr id="8" name="!!headline"/>
          <p:cNvSpPr txBox="1"/>
          <p:nvPr/>
        </p:nvSpPr>
        <p:spPr>
          <a:xfrm>
            <a:off x="612648" y="841248"/>
            <a:ext cx="10424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3400" b="1">
                <a:solidFill>
                  <a:srgbClr val="F2F7FC"/>
                </a:solidFill>
                <a:latin typeface="Montserrat"/>
              </a:rPr>
              <a:t>Q4 plan attacks margin first</a:t>
            </a:r>
          </a:p>
        </p:txBody>
      </p:sp>
      <p:sp>
        <p:nvSpPr>
          <p:cNvPr id="9" name="!!spine"/>
          <p:cNvSpPr/>
          <p:nvPr/>
        </p:nvSpPr>
        <p:spPr>
          <a:xfrm>
            <a:off x="612648" y="2761488"/>
            <a:ext cx="10972800" cy="64008"/>
          </a:xfrm>
          <a:prstGeom prst="roundRect">
            <a:avLst>
              <a:gd name="adj" fmla="val 50000"/>
            </a:avLst>
          </a:prstGeom>
          <a:solidFill>
            <a:srgbClr val="5770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Chevron 9"/>
          <p:cNvSpPr/>
          <p:nvPr/>
        </p:nvSpPr>
        <p:spPr>
          <a:xfrm>
            <a:off x="612648" y="2057400"/>
            <a:ext cx="3401568" cy="566928"/>
          </a:xfrm>
          <a:prstGeom prst="chevron">
            <a:avLst>
              <a:gd name="adj" fmla="val 35000"/>
            </a:avLst>
          </a:prstGeom>
          <a:solidFill>
            <a:srgbClr val="4FA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2176272"/>
            <a:ext cx="312724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250" b="1">
                <a:solidFill>
                  <a:srgbClr val="0F2233"/>
                </a:solidFill>
                <a:latin typeface="Montserrat"/>
              </a:rPr>
              <a:t>STEP 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" y="3017520"/>
            <a:ext cx="3401568" cy="2011680"/>
          </a:xfrm>
          <a:prstGeom prst="roundRect">
            <a:avLst>
              <a:gd name="adj" fmla="val 8000"/>
            </a:avLst>
          </a:prstGeom>
          <a:solidFill>
            <a:srgbClr val="1734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" y="3218688"/>
            <a:ext cx="2962656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600" b="1">
                <a:solidFill>
                  <a:srgbClr val="F2F7FC"/>
                </a:solidFill>
                <a:latin typeface="Montserrat"/>
              </a:rPr>
              <a:t>October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" y="3977639"/>
            <a:ext cx="2962656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50" b="0">
                <a:solidFill>
                  <a:srgbClr val="A9C2D8"/>
                </a:solidFill>
                <a:latin typeface="Inter"/>
              </a:rPr>
              <a:t>Committed-use purchase; inference caching live.</a:t>
            </a:r>
          </a:p>
        </p:txBody>
      </p:sp>
      <p:sp>
        <p:nvSpPr>
          <p:cNvPr id="15" name="Chevron 14"/>
          <p:cNvSpPr/>
          <p:nvPr/>
        </p:nvSpPr>
        <p:spPr>
          <a:xfrm>
            <a:off x="4398264" y="2057400"/>
            <a:ext cx="3401568" cy="566928"/>
          </a:xfrm>
          <a:prstGeom prst="chevron">
            <a:avLst>
              <a:gd name="adj" fmla="val 35000"/>
            </a:avLst>
          </a:prstGeom>
          <a:solidFill>
            <a:srgbClr val="17344D"/>
          </a:solidFill>
          <a:ln w="12700">
            <a:solidFill>
              <a:srgbClr val="4FA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35424" y="2176272"/>
            <a:ext cx="312724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250" b="1">
                <a:solidFill>
                  <a:srgbClr val="F2F7FC"/>
                </a:solidFill>
                <a:latin typeface="Montserrat"/>
              </a:rPr>
              <a:t>STEP 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98264" y="3017520"/>
            <a:ext cx="3401568" cy="2011680"/>
          </a:xfrm>
          <a:prstGeom prst="roundRect">
            <a:avLst>
              <a:gd name="adj" fmla="val 8000"/>
            </a:avLst>
          </a:prstGeom>
          <a:solidFill>
            <a:srgbClr val="1734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17720" y="3218688"/>
            <a:ext cx="2962656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600" b="1">
                <a:solidFill>
                  <a:srgbClr val="F2F7FC"/>
                </a:solidFill>
                <a:latin typeface="Montserrat"/>
              </a:rPr>
              <a:t>November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3977639"/>
            <a:ext cx="2962656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50" b="0">
                <a:solidFill>
                  <a:srgbClr val="A9C2D8"/>
                </a:solidFill>
                <a:latin typeface="Inter"/>
              </a:rPr>
              <a:t>Onboarding v2; enterprise pipeline push.</a:t>
            </a:r>
          </a:p>
        </p:txBody>
      </p:sp>
      <p:sp>
        <p:nvSpPr>
          <p:cNvPr id="20" name="Chevron 19"/>
          <p:cNvSpPr/>
          <p:nvPr/>
        </p:nvSpPr>
        <p:spPr>
          <a:xfrm>
            <a:off x="8183880" y="2057400"/>
            <a:ext cx="3401568" cy="566928"/>
          </a:xfrm>
          <a:prstGeom prst="chevron">
            <a:avLst>
              <a:gd name="adj" fmla="val 35000"/>
            </a:avLst>
          </a:prstGeom>
          <a:solidFill>
            <a:srgbClr val="17344D"/>
          </a:solidFill>
          <a:ln w="12700">
            <a:solidFill>
              <a:srgbClr val="4FA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21040" y="2176272"/>
            <a:ext cx="312724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250" b="1">
                <a:solidFill>
                  <a:srgbClr val="F2F7FC"/>
                </a:solidFill>
                <a:latin typeface="Montserrat"/>
              </a:rPr>
              <a:t>STEP 3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83880" y="3017520"/>
            <a:ext cx="3401568" cy="2011680"/>
          </a:xfrm>
          <a:prstGeom prst="roundRect">
            <a:avLst>
              <a:gd name="adj" fmla="val 8000"/>
            </a:avLst>
          </a:prstGeom>
          <a:solidFill>
            <a:srgbClr val="1734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03336" y="3218688"/>
            <a:ext cx="2962656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600" b="1">
                <a:solidFill>
                  <a:srgbClr val="F2F7FC"/>
                </a:solidFill>
                <a:latin typeface="Montserrat"/>
              </a:rPr>
              <a:t>December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03336" y="3977639"/>
            <a:ext cx="2962656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50" b="0">
                <a:solidFill>
                  <a:srgbClr val="A9C2D8"/>
                </a:solidFill>
                <a:latin typeface="Inter"/>
              </a:rPr>
              <a:t>Pricing test on AI tier; hiring sprint.</a:t>
            </a:r>
          </a:p>
        </p:txBody>
      </p:sp>
    </p:spTree>
  </p:cSld>
  <p:clrMapOvr>
    <a:masterClrMapping/>
  </p:clrMapOvr>
  <p:transition xmlns:p14="http://schemas.microsoft.com/office/powerpoint/2010/main" spd="med" p14:dur="900">
    <p14:morph type="byObject"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2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hero-ring"/>
          <p:cNvSpPr/>
          <p:nvPr/>
        </p:nvSpPr>
        <p:spPr>
          <a:xfrm>
            <a:off x="-822960" y="5120640"/>
            <a:ext cx="2560320" cy="2560320"/>
          </a:xfrm>
          <a:prstGeom prst="ellipse">
            <a:avLst/>
          </a:prstGeom>
          <a:noFill/>
          <a:ln w="12700">
            <a:solidFill>
              <a:srgbClr val="9CC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!!hero-orb"/>
          <p:cNvSpPr/>
          <p:nvPr/>
        </p:nvSpPr>
        <p:spPr>
          <a:xfrm>
            <a:off x="-259689" y="5683910"/>
            <a:ext cx="1433779" cy="1433779"/>
          </a:xfrm>
          <a:prstGeom prst="ellipse">
            <a:avLst/>
          </a:prstGeom>
          <a:solidFill>
            <a:srgbClr val="4FA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!!accent-bar"/>
          <p:cNvSpPr/>
          <p:nvPr/>
        </p:nvSpPr>
        <p:spPr>
          <a:xfrm>
            <a:off x="612648" y="1389888"/>
            <a:ext cx="777240" cy="82296"/>
          </a:xfrm>
          <a:prstGeom prst="roundRect">
            <a:avLst>
              <a:gd name="adj" fmla="val 50000"/>
            </a:avLst>
          </a:prstGeom>
          <a:solidFill>
            <a:srgbClr val="4FA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!!brand"/>
          <p:cNvSpPr txBox="1"/>
          <p:nvPr/>
        </p:nvSpPr>
        <p:spPr>
          <a:xfrm>
            <a:off x="612648" y="641908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50" b="0">
                <a:solidFill>
                  <a:srgbClr val="A9C2D8"/>
                </a:solidFill>
                <a:latin typeface="Inter"/>
              </a:rPr>
              <a:t>DUNE TECH  ·  INTERNAL</a:t>
            </a:r>
          </a:p>
        </p:txBody>
      </p:sp>
      <p:sp>
        <p:nvSpPr>
          <p:cNvPr id="6" name="!!pageno"/>
          <p:cNvSpPr txBox="1"/>
          <p:nvPr/>
        </p:nvSpPr>
        <p:spPr>
          <a:xfrm>
            <a:off x="11064240" y="641908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250" b="0">
                <a:solidFill>
                  <a:srgbClr val="A9C2D8"/>
                </a:solidFill>
                <a:latin typeface="Inter"/>
              </a:rPr>
              <a:t>07</a:t>
            </a:r>
          </a:p>
        </p:txBody>
      </p:sp>
      <p:sp>
        <p:nvSpPr>
          <p:cNvPr id="7" name="!!closing-title"/>
          <p:cNvSpPr txBox="1"/>
          <p:nvPr/>
        </p:nvSpPr>
        <p:spPr>
          <a:xfrm>
            <a:off x="612648" y="1828800"/>
            <a:ext cx="10515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5400" b="1">
                <a:solidFill>
                  <a:srgbClr val="F2F7FC"/>
                </a:solidFill>
                <a:latin typeface="Montserrat"/>
              </a:rPr>
              <a:t>Three decisions needed today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" y="3291840"/>
            <a:ext cx="96012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2200" b="1">
                <a:solidFill>
                  <a:srgbClr val="9CC8EE"/>
                </a:solidFill>
                <a:latin typeface="Montserrat"/>
              </a:rPr>
              <a:t>1) Approve $480k cloud commitment  ·  2) Approve AI-tier pricing test  ·  3) Extend contractor budget one quarter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" y="4526280"/>
            <a:ext cx="91440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600" b="0">
                <a:solidFill>
                  <a:srgbClr val="A9C2D8"/>
                </a:solidFill>
                <a:latin typeface="Inter"/>
              </a:rPr>
              <a:t>Appendix: full P&amp;L, cohort tables, pipeline detail</a:t>
            </a:r>
          </a:p>
        </p:txBody>
      </p:sp>
    </p:spTree>
  </p:cSld>
  <p:clrMapOvr>
    <a:masterClrMapping/>
  </p:clrMapOvr>
  <p:transition xmlns:p14="http://schemas.microsoft.com/office/powerpoint/2010/main" spd="med" p14:dur="900">
    <p14:morph type="byObject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Q3 Business Review — Dune Tech</dc:title>
  <dc:subject/>
  <dc:creator>Generator example (QBR arc)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