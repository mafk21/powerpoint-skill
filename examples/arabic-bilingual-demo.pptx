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محامص نشطة</c:v>
                </c:pt>
              </c:strCache>
            </c:strRef>
          </c:tx>
          <c:dPt>
            <c:idx val="0"/>
            <c:spPr>
              <a:solidFill>
                <a:srgbClr val="556D61"/>
              </a:solidFill>
            </c:spPr>
          </c:dPt>
          <c:dPt>
            <c:idx val="1"/>
            <c:spPr>
              <a:solidFill>
                <a:srgbClr val="556D61"/>
              </a:solidFill>
            </c:spPr>
          </c:dPt>
          <c:dPt>
            <c:idx val="2"/>
            <c:spPr>
              <a:solidFill>
                <a:srgbClr val="556D61"/>
              </a:solidFill>
            </c:spPr>
          </c:dPt>
          <c:dPt>
            <c:idx val="3"/>
            <c:spPr>
              <a:solidFill>
                <a:srgbClr val="007B3D"/>
              </a:solidFill>
            </c:spPr>
          </c:dPt>
          <c:dLbls>
            <c:txPr>
              <a:bodyPr/>
              <a:lstStyle/>
              <a:p>
                <a:pPr>
                  <a:defRPr sz="1300" b="1">
                    <a:solidFill>
                      <a:srgbClr val="F4F6F5"/>
                    </a:solidFill>
                    <a:latin typeface="Inter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26</c:v>
                </c:pt>
                <c:pt idx="3">
                  <c:v>41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4F6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A2B9A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افتتح بالادعاء الأساسي: نحوّل بقايا القهوة إلى قيمة. التاريخ الهجري ظاهر في الغلاف تلقائيا.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ثنائية اللغة: العربية يمينا تُقرأ أولا، والإنجليزية مرجع. Numbers 3 stays Western in 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رقم واحد، قلْه ببطء ثم اصمت لحظة.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الأرقام في عناوين الأعمدة عربية مشرقية تلقائيا مع خيار الأرقام.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اختم بطلب محدد وتاريخ: الجولة تُغلق نهاية الربع.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2164385" y="-2011680"/>
            <a:ext cx="5852160" cy="5852160"/>
          </a:xfrm>
          <a:prstGeom prst="ellipse">
            <a:avLst/>
          </a:prstGeom>
          <a:noFill/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-876909" y="-724204"/>
            <a:ext cx="3277209" cy="3277209"/>
          </a:xfrm>
          <a:prstGeom prst="ellipse">
            <a:avLst/>
          </a:prstGeom>
          <a:solidFill>
            <a:srgbClr val="007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007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2B9AD"/>
                </a:solidFill>
                <a:latin typeface="Tajawal"/>
              </a:rPr>
              <a:t>وصل · WASL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2B9AD"/>
                </a:solidFill>
                <a:latin typeface="Tajawal"/>
              </a:rPr>
              <a:t>٠١</a:t>
            </a:r>
          </a:p>
        </p:txBody>
      </p:sp>
      <p:sp>
        <p:nvSpPr>
          <p:cNvPr id="7" name="!!hero-title"/>
          <p:cNvSpPr txBox="1"/>
          <p:nvPr/>
        </p:nvSpPr>
        <p:spPr>
          <a:xfrm>
            <a:off x="3715207" y="1417320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4800" b="1">
                <a:solidFill>
                  <a:srgbClr val="F4F6F5"/>
                </a:solidFill>
                <a:latin typeface="Cairo"/>
              </a:rPr>
              <a:t>Presentation Title</a:t>
            </a:r>
          </a:p>
        </p:txBody>
      </p:sp>
      <p:sp>
        <p:nvSpPr>
          <p:cNvPr id="8" name="!!hero-sub"/>
          <p:cNvSpPr txBox="1"/>
          <p:nvPr/>
        </p:nvSpPr>
        <p:spPr>
          <a:xfrm>
            <a:off x="4629607" y="324612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Aft>
                <a:spcPts val="400"/>
              </a:spcAft>
            </a:pPr>
            <a:r>
              <a:rPr sz="2000" b="0">
                <a:solidFill>
                  <a:srgbClr val="A2B9AD"/>
                </a:solidFill>
                <a:latin typeface="Tajawal"/>
              </a:rPr>
              <a:t>حجوزات أذكى للمقاهي والمحامص في الخليج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9607" y="470916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C8A24B"/>
                </a:solidFill>
                <a:latin typeface="Cairo"/>
              </a:rPr>
              <a:t>٧ جمادى الأولى ١٤٤٨هـ · الرياض</a:t>
            </a:r>
          </a:p>
        </p:txBody>
      </p:sp>
    </p:spTree>
  </p:cSld>
  <p:clrMapOvr>
    <a:masterClrMapping/>
  </p:clrMapOvr>
  <p:transition spd="med" advClick="1" advTm="646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1067105" y="5394960"/>
            <a:ext cx="2377440" cy="2377440"/>
          </a:xfrm>
          <a:prstGeom prst="ellipse">
            <a:avLst/>
          </a:prstGeom>
          <a:noFill/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-544067" y="5917996"/>
            <a:ext cx="1331366" cy="1331366"/>
          </a:xfrm>
          <a:prstGeom prst="ellipse">
            <a:avLst/>
          </a:prstGeom>
          <a:solidFill>
            <a:srgbClr val="007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007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kicker"/>
          <p:cNvSpPr txBox="1"/>
          <p:nvPr/>
        </p:nvSpPr>
        <p:spPr>
          <a:xfrm>
            <a:off x="3806647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C8A24B"/>
                </a:solidFill>
                <a:latin typeface="Cairo"/>
              </a:rPr>
              <a:t>المشكلة · THE PROBLEM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2B9AD"/>
                </a:solidFill>
                <a:latin typeface="Tajawal"/>
              </a:rPr>
              <a:t>وصل · WASL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2B9AD"/>
                </a:solidFill>
                <a:latin typeface="Tajawal"/>
              </a:rPr>
              <a:t>٠٢</a:t>
            </a:r>
          </a:p>
        </p:txBody>
      </p:sp>
      <p:sp>
        <p:nvSpPr>
          <p:cNvPr id="8" name="ar!ar-title"/>
          <p:cNvSpPr txBox="1"/>
          <p:nvPr/>
        </p:nvSpPr>
        <p:spPr>
          <a:xfrm>
            <a:off x="606247" y="841248"/>
            <a:ext cx="5394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2900" b="1">
                <a:solidFill>
                  <a:srgbClr val="F4F6F5"/>
                </a:solidFill>
                <a:latin typeface="Cairo"/>
              </a:rPr>
              <a:t>المقاهي تدفع مرتين: للتخلص وللشراء</a:t>
            </a:r>
          </a:p>
        </p:txBody>
      </p:sp>
      <p:sp>
        <p:nvSpPr>
          <p:cNvPr id="9" name="ltr!en-title"/>
          <p:cNvSpPr txBox="1"/>
          <p:nvPr/>
        </p:nvSpPr>
        <p:spPr>
          <a:xfrm>
            <a:off x="6184087" y="841248"/>
            <a:ext cx="5394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F4F6F5"/>
                </a:solidFill>
                <a:latin typeface="Montserrat"/>
              </a:rPr>
              <a:t>Cafes pay twice: to dump and to buy</a:t>
            </a:r>
          </a:p>
        </p:txBody>
      </p:sp>
      <p:sp>
        <p:nvSpPr>
          <p:cNvPr id="10" name="!!bi-divider"/>
          <p:cNvSpPr/>
          <p:nvPr/>
        </p:nvSpPr>
        <p:spPr>
          <a:xfrm>
            <a:off x="6081675" y="1965960"/>
            <a:ext cx="27432" cy="3977639"/>
          </a:xfrm>
          <a:prstGeom prst="rect">
            <a:avLst/>
          </a:prstGeom>
          <a:solidFill>
            <a:srgbClr val="556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1" name="ar!label"/>
          <p:cNvSpPr txBox="1"/>
          <p:nvPr/>
        </p:nvSpPr>
        <p:spPr>
          <a:xfrm>
            <a:off x="606247" y="199339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C8A24B"/>
                </a:solidFill>
                <a:latin typeface="Cairo"/>
              </a:rPr>
              <a:t>العربية</a:t>
            </a:r>
          </a:p>
        </p:txBody>
      </p:sp>
      <p:sp>
        <p:nvSpPr>
          <p:cNvPr id="12" name="ar!h0"/>
          <p:cNvSpPr txBox="1"/>
          <p:nvPr/>
        </p:nvSpPr>
        <p:spPr>
          <a:xfrm>
            <a:off x="606247" y="2487168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4F6F5"/>
                </a:solidFill>
                <a:latin typeface="Cairo"/>
              </a:rPr>
              <a:t>تكلفة النفايات</a:t>
            </a:r>
          </a:p>
        </p:txBody>
      </p:sp>
      <p:sp>
        <p:nvSpPr>
          <p:cNvPr id="13" name="ar!b0"/>
          <p:cNvSpPr txBox="1"/>
          <p:nvPr/>
        </p:nvSpPr>
        <p:spPr>
          <a:xfrm>
            <a:off x="606247" y="2852928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A2B9AD"/>
                </a:solidFill>
                <a:latin typeface="Tajawal"/>
              </a:rPr>
              <a:t>رسوم المرادم ارتفعت ٣ سنوات متتالية</a:t>
            </a:r>
          </a:p>
        </p:txBody>
      </p:sp>
      <p:sp>
        <p:nvSpPr>
          <p:cNvPr id="14" name="ar!h1"/>
          <p:cNvSpPr txBox="1"/>
          <p:nvPr/>
        </p:nvSpPr>
        <p:spPr>
          <a:xfrm>
            <a:off x="606247" y="3419856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4F6F5"/>
                </a:solidFill>
                <a:latin typeface="Cairo"/>
              </a:rPr>
              <a:t>مشتريات التغليف</a:t>
            </a:r>
          </a:p>
        </p:txBody>
      </p:sp>
      <p:sp>
        <p:nvSpPr>
          <p:cNvPr id="15" name="ar!b1"/>
          <p:cNvSpPr txBox="1"/>
          <p:nvPr/>
        </p:nvSpPr>
        <p:spPr>
          <a:xfrm>
            <a:off x="606247" y="3785616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A2B9AD"/>
                </a:solidFill>
                <a:latin typeface="Tajawal"/>
              </a:rPr>
              <a:t>صواني بلاستيكية بكر بأسعار متقلبة</a:t>
            </a:r>
          </a:p>
        </p:txBody>
      </p:sp>
      <p:sp>
        <p:nvSpPr>
          <p:cNvPr id="16" name="ar!h2"/>
          <p:cNvSpPr txBox="1"/>
          <p:nvPr/>
        </p:nvSpPr>
        <p:spPr>
          <a:xfrm>
            <a:off x="606247" y="4352544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4F6F5"/>
                </a:solidFill>
                <a:latin typeface="Cairo"/>
              </a:rPr>
              <a:t>خطر السمعة</a:t>
            </a:r>
          </a:p>
        </p:txBody>
      </p:sp>
      <p:sp>
        <p:nvSpPr>
          <p:cNvPr id="17" name="ar!b2"/>
          <p:cNvSpPr txBox="1"/>
          <p:nvPr/>
        </p:nvSpPr>
        <p:spPr>
          <a:xfrm>
            <a:off x="606247" y="4718304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A2B9AD"/>
                </a:solidFill>
                <a:latin typeface="Tajawal"/>
              </a:rPr>
              <a:t>العملاء يصوّرون الحاويات الممتلئة لا القهوة</a:t>
            </a:r>
          </a:p>
        </p:txBody>
      </p:sp>
      <p:sp>
        <p:nvSpPr>
          <p:cNvPr id="18" name="ltr!label"/>
          <p:cNvSpPr txBox="1"/>
          <p:nvPr/>
        </p:nvSpPr>
        <p:spPr>
          <a:xfrm>
            <a:off x="6184087" y="199339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C8A24B"/>
                </a:solidFill>
                <a:latin typeface="Montserrat"/>
              </a:rPr>
              <a:t>ENGLISH</a:t>
            </a:r>
          </a:p>
        </p:txBody>
      </p:sp>
      <p:sp>
        <p:nvSpPr>
          <p:cNvPr id="19" name="ltr!h0"/>
          <p:cNvSpPr txBox="1"/>
          <p:nvPr/>
        </p:nvSpPr>
        <p:spPr>
          <a:xfrm>
            <a:off x="6184087" y="2487168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4F6F5"/>
                </a:solidFill>
                <a:latin typeface="Montserrat"/>
              </a:rPr>
              <a:t>Waste fees</a:t>
            </a:r>
          </a:p>
        </p:txBody>
      </p:sp>
      <p:sp>
        <p:nvSpPr>
          <p:cNvPr id="20" name="ltr!b0"/>
          <p:cNvSpPr txBox="1"/>
          <p:nvPr/>
        </p:nvSpPr>
        <p:spPr>
          <a:xfrm>
            <a:off x="6184087" y="2852928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A2B9AD"/>
                </a:solidFill>
                <a:latin typeface="Inter"/>
              </a:rPr>
              <a:t>Landfill charges up 3 years in a row</a:t>
            </a:r>
          </a:p>
        </p:txBody>
      </p:sp>
      <p:sp>
        <p:nvSpPr>
          <p:cNvPr id="21" name="ltr!h1"/>
          <p:cNvSpPr txBox="1"/>
          <p:nvPr/>
        </p:nvSpPr>
        <p:spPr>
          <a:xfrm>
            <a:off x="6184087" y="3419856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4F6F5"/>
                </a:solidFill>
                <a:latin typeface="Montserrat"/>
              </a:rPr>
              <a:t>Packaging spend</a:t>
            </a:r>
          </a:p>
        </p:txBody>
      </p:sp>
      <p:sp>
        <p:nvSpPr>
          <p:cNvPr id="22" name="ltr!b1"/>
          <p:cNvSpPr txBox="1"/>
          <p:nvPr/>
        </p:nvSpPr>
        <p:spPr>
          <a:xfrm>
            <a:off x="6184087" y="3785616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A2B9AD"/>
                </a:solidFill>
                <a:latin typeface="Inter"/>
              </a:rPr>
              <a:t>Virgin plastic trays at volatile prices</a:t>
            </a:r>
          </a:p>
        </p:txBody>
      </p:sp>
      <p:sp>
        <p:nvSpPr>
          <p:cNvPr id="23" name="ltr!h2"/>
          <p:cNvSpPr txBox="1"/>
          <p:nvPr/>
        </p:nvSpPr>
        <p:spPr>
          <a:xfrm>
            <a:off x="6184087" y="4352544"/>
            <a:ext cx="539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4F6F5"/>
                </a:solidFill>
                <a:latin typeface="Montserrat"/>
              </a:rPr>
              <a:t>Brand risk</a:t>
            </a:r>
          </a:p>
        </p:txBody>
      </p:sp>
      <p:sp>
        <p:nvSpPr>
          <p:cNvPr id="24" name="ltr!b2"/>
          <p:cNvSpPr txBox="1"/>
          <p:nvPr/>
        </p:nvSpPr>
        <p:spPr>
          <a:xfrm>
            <a:off x="6184087" y="4718304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A2B9AD"/>
                </a:solidFill>
                <a:latin typeface="Inter"/>
              </a:rPr>
              <a:t>Customers photograph bins, not lattes</a:t>
            </a:r>
          </a:p>
        </p:txBody>
      </p:sp>
    </p:spTree>
  </p:cSld>
  <p:clrMapOvr>
    <a:masterClrMapping/>
  </p:clrMapOvr>
  <p:transition xmlns:p14="http://schemas.microsoft.com/office/powerpoint/2010/main" spd="med" p14:dur="900" advClick="1" advTm="6923">
    <p14:morph type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454335" y="5120640"/>
            <a:ext cx="2560320" cy="2560320"/>
          </a:xfrm>
          <a:prstGeom prst="ellipse">
            <a:avLst/>
          </a:prstGeom>
          <a:noFill/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11017605" y="5683910"/>
            <a:ext cx="1433779" cy="1433779"/>
          </a:xfrm>
          <a:prstGeom prst="ellipse">
            <a:avLst/>
          </a:prstGeom>
          <a:solidFill>
            <a:srgbClr val="007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007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2B9AD"/>
                </a:solidFill>
                <a:latin typeface="Tajawal"/>
              </a:rPr>
              <a:t>وصل · WASL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2B9AD"/>
                </a:solidFill>
                <a:latin typeface="Tajawal"/>
              </a:rPr>
              <a:t>٠٣</a:t>
            </a:r>
          </a:p>
        </p:txBody>
      </p:sp>
      <p:sp>
        <p:nvSpPr>
          <p:cNvPr id="7" name="!!hero-stat"/>
          <p:cNvSpPr txBox="1"/>
          <p:nvPr/>
        </p:nvSpPr>
        <p:spPr>
          <a:xfrm>
            <a:off x="606247" y="1737360"/>
            <a:ext cx="10972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0000"/>
              </a:lnSpc>
              <a:spcAft>
                <a:spcPts val="400"/>
              </a:spcAft>
            </a:pPr>
            <a:r>
              <a:rPr sz="12000" b="1">
                <a:solidFill>
                  <a:srgbClr val="007B3D"/>
                </a:solidFill>
                <a:latin typeface="Cairo"/>
              </a:rPr>
              <a:t>٨٧%</a:t>
            </a:r>
          </a:p>
        </p:txBody>
      </p:sp>
      <p:sp>
        <p:nvSpPr>
          <p:cNvPr id="8" name="!!hero-stat-label"/>
          <p:cNvSpPr txBox="1"/>
          <p:nvPr/>
        </p:nvSpPr>
        <p:spPr>
          <a:xfrm>
            <a:off x="1977847" y="3977639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2400" b="0">
                <a:solidFill>
                  <a:srgbClr val="F4F6F5"/>
                </a:solidFill>
                <a:latin typeface="Cairo"/>
              </a:rPr>
              <a:t>من مقاهي التجربة جدّدت بعد الشهر الأول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2247" y="466344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A2B9AD"/>
                </a:solidFill>
                <a:latin typeface="Tajawal"/>
              </a:rPr>
              <a:t>التجديد هو أقوى دليل عندنا</a:t>
            </a:r>
          </a:p>
        </p:txBody>
      </p:sp>
    </p:spTree>
  </p:cSld>
  <p:clrMapOvr>
    <a:masterClrMapping/>
  </p:clrMapOvr>
  <p:transition xmlns:p14="http://schemas.microsoft.com/office/powerpoint/2010/main" spd="med" p14:dur="900" advClick="1" advTm="6000">
    <p14:morph type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-1158545" y="-914400"/>
            <a:ext cx="2651760" cy="2651760"/>
          </a:xfrm>
          <a:prstGeom prst="ellipse">
            <a:avLst/>
          </a:prstGeom>
          <a:noFill/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-575157" y="-331012"/>
            <a:ext cx="1484985" cy="1484985"/>
          </a:xfrm>
          <a:prstGeom prst="ellipse">
            <a:avLst/>
          </a:prstGeom>
          <a:solidFill>
            <a:srgbClr val="007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007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kicker"/>
          <p:cNvSpPr txBox="1"/>
          <p:nvPr/>
        </p:nvSpPr>
        <p:spPr>
          <a:xfrm>
            <a:off x="3806647" y="47548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C8A24B"/>
                </a:solidFill>
                <a:latin typeface="Cairo"/>
              </a:rPr>
              <a:t>النمو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2B9AD"/>
                </a:solidFill>
                <a:latin typeface="Tajawal"/>
              </a:rPr>
              <a:t>وصل · WASL</a:t>
            </a:r>
          </a:p>
        </p:txBody>
      </p:sp>
      <p:sp>
        <p:nvSpPr>
          <p:cNvPr id="7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2B9AD"/>
                </a:solidFill>
                <a:latin typeface="Tajawal"/>
              </a:rPr>
              <a:t>٠٤</a:t>
            </a:r>
          </a:p>
        </p:txBody>
      </p:sp>
      <p:sp>
        <p:nvSpPr>
          <p:cNvPr id="8" name="!!headline"/>
          <p:cNvSpPr txBox="1"/>
          <p:nvPr/>
        </p:nvSpPr>
        <p:spPr>
          <a:xfrm>
            <a:off x="1154887" y="841248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3400" b="1">
                <a:solidFill>
                  <a:srgbClr val="F4F6F5"/>
                </a:solidFill>
                <a:latin typeface="Cairo"/>
              </a:rPr>
              <a:t>المحامص النشطة تتضاعف كل ربع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989527" y="1920240"/>
          <a:ext cx="75895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!!insight-card"/>
          <p:cNvSpPr/>
          <p:nvPr/>
        </p:nvSpPr>
        <p:spPr>
          <a:xfrm>
            <a:off x="624535" y="1920240"/>
            <a:ext cx="3017520" cy="4023360"/>
          </a:xfrm>
          <a:prstGeom prst="roundRect">
            <a:avLst>
              <a:gd name="adj" fmla="val 7000"/>
            </a:avLst>
          </a:prstGeom>
          <a:solidFill>
            <a:srgbClr val="16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11" name="TextBox 10"/>
          <p:cNvSpPr txBox="1"/>
          <p:nvPr/>
        </p:nvSpPr>
        <p:spPr>
          <a:xfrm>
            <a:off x="853135" y="219456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C8A24B"/>
                </a:solidFill>
                <a:latin typeface="Cairo"/>
              </a:rPr>
              <a:t>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" y="2606040"/>
            <a:ext cx="2514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F4F6F5"/>
                </a:solidFill>
                <a:latin typeface="Tajawal"/>
              </a:rPr>
              <a:t>النمو من الإحالات بين أصحاب المقاهي، لا من الإعلانات.</a:t>
            </a:r>
          </a:p>
        </p:txBody>
      </p:sp>
    </p:spTree>
  </p:cSld>
  <p:clrMapOvr>
    <a:masterClrMapping/>
  </p:clrMapOvr>
  <p:transition xmlns:p14="http://schemas.microsoft.com/office/powerpoint/2010/main" spd="med" p14:dur="900" advClick="1" advTm="6000">
    <p14:morph type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ro-ring"/>
          <p:cNvSpPr/>
          <p:nvPr/>
        </p:nvSpPr>
        <p:spPr>
          <a:xfrm>
            <a:off x="10454335" y="-1005840"/>
            <a:ext cx="2743200" cy="2743200"/>
          </a:xfrm>
          <a:prstGeom prst="ellipse">
            <a:avLst/>
          </a:prstGeom>
          <a:noFill/>
          <a:ln w="1270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3" name="!!hero-orb"/>
          <p:cNvSpPr/>
          <p:nvPr/>
        </p:nvSpPr>
        <p:spPr>
          <a:xfrm>
            <a:off x="11057839" y="-402336"/>
            <a:ext cx="1536192" cy="1536192"/>
          </a:xfrm>
          <a:prstGeom prst="ellipse">
            <a:avLst/>
          </a:prstGeom>
          <a:solidFill>
            <a:srgbClr val="007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4" name="!!accent-bar"/>
          <p:cNvSpPr/>
          <p:nvPr/>
        </p:nvSpPr>
        <p:spPr>
          <a:xfrm>
            <a:off x="10801807" y="1389888"/>
            <a:ext cx="777240" cy="82296"/>
          </a:xfrm>
          <a:prstGeom prst="roundRect">
            <a:avLst>
              <a:gd name="adj" fmla="val 50000"/>
            </a:avLst>
          </a:prstGeom>
          <a:solidFill>
            <a:srgbClr val="007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</a:p>
        </p:txBody>
      </p:sp>
      <p:sp>
        <p:nvSpPr>
          <p:cNvPr id="5" name="!!brand"/>
          <p:cNvSpPr txBox="1"/>
          <p:nvPr/>
        </p:nvSpPr>
        <p:spPr>
          <a:xfrm>
            <a:off x="6092647" y="64190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2B9AD"/>
                </a:solidFill>
                <a:latin typeface="Tajawal"/>
              </a:rPr>
              <a:t>وصل · WASL</a:t>
            </a:r>
          </a:p>
        </p:txBody>
      </p:sp>
      <p:sp>
        <p:nvSpPr>
          <p:cNvPr id="6" name="!!pageno"/>
          <p:cNvSpPr txBox="1"/>
          <p:nvPr/>
        </p:nvSpPr>
        <p:spPr>
          <a:xfrm>
            <a:off x="57881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2B9AD"/>
                </a:solidFill>
                <a:latin typeface="Tajawal"/>
              </a:rPr>
              <a:t>٠٥</a:t>
            </a:r>
          </a:p>
        </p:txBody>
      </p:sp>
      <p:sp>
        <p:nvSpPr>
          <p:cNvPr id="7" name="!!closing-title"/>
          <p:cNvSpPr txBox="1"/>
          <p:nvPr/>
        </p:nvSpPr>
        <p:spPr>
          <a:xfrm>
            <a:off x="1063447" y="1828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5400" b="1">
                <a:solidFill>
                  <a:srgbClr val="F4F6F5"/>
                </a:solidFill>
                <a:latin typeface="Cairo"/>
              </a:rP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p14:dur="900" advClick="1" advTm="6000">
    <p14:morph type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