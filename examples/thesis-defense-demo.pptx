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Removal % (&lt;300µm)</c:v>
                </c:pt>
              </c:strCache>
            </c:strRef>
          </c:tx>
          <c:dPt>
            <c:idx val="0"/>
            <c:spPr>
              <a:solidFill>
                <a:srgbClr val="C3CEDF"/>
              </a:solidFill>
            </c:spPr>
          </c:dPt>
          <c:dPt>
            <c:idx val="1"/>
            <c:spPr>
              <a:solidFill>
                <a:srgbClr val="1D4ED8"/>
              </a:solidFill>
            </c:spPr>
          </c:dPt>
          <c:dPt>
            <c:idx val="2"/>
            <c:spPr>
              <a:solidFill>
                <a:srgbClr val="C3CEDF"/>
              </a:solidFill>
            </c:spPr>
          </c:dPt>
          <c:dLbls>
            <c:txPr>
              <a:bodyPr/>
              <a:lstStyle/>
              <a:p>
                <a:pPr>
                  <a:defRPr sz="1300" b="1">
                    <a:solidFill>
                      <a:srgbClr val="10295E"/>
                    </a:solidFill>
                    <a:latin typeface="Inter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Sand only</c:v>
                </c:pt>
                <c:pt idx="1">
                  <c:v>Biofilm-sand</c:v>
                </c:pt>
                <c:pt idx="2">
                  <c:v>Membrane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93</c:v>
                </c:pt>
                <c:pt idx="2">
                  <c:v>97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029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B6B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program, supervisors. One sentence on why this matters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reduces panel cognitive load. Mention backup slides exist for detail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the gap: effective + affordable + local conditions. Cite sources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Panels grade conclusions against these exact questions.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Flowchart beats bullets for methods. Mention triplication and FTIR verification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RQ1 explicitly: yes, above the 90% threshold at all salinities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moment. Let it breathe 3 seconds, then answer RQ3.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limitations before the panel does — credibility. Backup slide has salinity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so-what. Keep this slide up during Q&amp;A; backup data slides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9791395" y="-724204"/>
            <a:ext cx="3277209" cy="3277209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01</a:t>
            </a:r>
          </a:p>
        </p:txBody>
      </p:sp>
      <p:sp>
        <p:nvSpPr>
          <p:cNvPr id="7" name="!!hero-title"/>
          <p:cNvSpPr txBox="1"/>
          <p:nvPr/>
        </p:nvSpPr>
        <p:spPr>
          <a:xfrm>
            <a:off x="612648" y="141732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4800" b="1">
                <a:solidFill>
                  <a:srgbClr val="10295E"/>
                </a:solidFill>
                <a:latin typeface="Montserrat"/>
              </a:rPr>
              <a:t>Removing Microplastics
with Sand-Biofilm Filters</a:t>
            </a:r>
          </a:p>
        </p:txBody>
      </p:sp>
      <p:sp>
        <p:nvSpPr>
          <p:cNvPr id="8" name="!!hero-sub"/>
          <p:cNvSpPr txBox="1"/>
          <p:nvPr/>
        </p:nvSpPr>
        <p:spPr>
          <a:xfrm>
            <a:off x="612648" y="32461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>
                <a:solidFill>
                  <a:srgbClr val="5B6B8C"/>
                </a:solidFill>
                <a:latin typeface="Inter"/>
              </a:rPr>
              <a:t>A low-cost filtration design for small coastal treatment plants — thesis defense, Noura Al-Harbi.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7091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Montserrat"/>
              </a:rPr>
              <a:t>MSc DEFENSE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ontserrat"/>
              </a:rPr>
              <a:t>OUTLINE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02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10295E"/>
                </a:solidFill>
                <a:latin typeface="Montserrat"/>
              </a:rPr>
              <a:t>Defense roadmap</a:t>
            </a:r>
          </a:p>
        </p:txBody>
      </p:sp>
      <p:sp>
        <p:nvSpPr>
          <p:cNvPr id="9" name="!!nav-dot-0"/>
          <p:cNvSpPr/>
          <p:nvPr/>
        </p:nvSpPr>
        <p:spPr>
          <a:xfrm>
            <a:off x="612648" y="188366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476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0295E"/>
                </a:solidFill>
                <a:latin typeface="Montserrat"/>
              </a:rPr>
              <a:t>Background &amp; research gap</a:t>
            </a:r>
          </a:p>
        </p:txBody>
      </p:sp>
      <p:sp>
        <p:nvSpPr>
          <p:cNvPr id="12" name="!!nav-dot-1"/>
          <p:cNvSpPr/>
          <p:nvPr/>
        </p:nvSpPr>
        <p:spPr>
          <a:xfrm>
            <a:off x="612648" y="2596896"/>
            <a:ext cx="475488" cy="475488"/>
          </a:xfrm>
          <a:prstGeom prst="ellipse">
            <a:avLst/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660904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95E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42032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5B6B8C"/>
                </a:solidFill>
                <a:latin typeface="Montserrat"/>
              </a:rPr>
              <a:t>Research questions</a:t>
            </a:r>
          </a:p>
        </p:txBody>
      </p:sp>
      <p:sp>
        <p:nvSpPr>
          <p:cNvPr id="15" name="!!nav-dot-2"/>
          <p:cNvSpPr/>
          <p:nvPr/>
        </p:nvSpPr>
        <p:spPr>
          <a:xfrm>
            <a:off x="612648" y="3310128"/>
            <a:ext cx="475488" cy="475488"/>
          </a:xfrm>
          <a:prstGeom prst="ellipse">
            <a:avLst/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374136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95E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5526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5B6B8C"/>
                </a:solidFill>
                <a:latin typeface="Montserrat"/>
              </a:rPr>
              <a:t>Methodology</a:t>
            </a:r>
          </a:p>
        </p:txBody>
      </p:sp>
      <p:sp>
        <p:nvSpPr>
          <p:cNvPr id="18" name="!!nav-dot-3"/>
          <p:cNvSpPr/>
          <p:nvPr/>
        </p:nvSpPr>
        <p:spPr>
          <a:xfrm>
            <a:off x="612648" y="4023360"/>
            <a:ext cx="475488" cy="475488"/>
          </a:xfrm>
          <a:prstGeom prst="ellipse">
            <a:avLst/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087368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95E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68496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5B6B8C"/>
                </a:solidFill>
                <a:latin typeface="Montserrat"/>
              </a:rPr>
              <a:t>Results &amp; discussion</a:t>
            </a:r>
          </a:p>
        </p:txBody>
      </p:sp>
      <p:sp>
        <p:nvSpPr>
          <p:cNvPr id="21" name="!!nav-dot-4"/>
          <p:cNvSpPr/>
          <p:nvPr/>
        </p:nvSpPr>
        <p:spPr>
          <a:xfrm>
            <a:off x="612648" y="4736592"/>
            <a:ext cx="475488" cy="475488"/>
          </a:xfrm>
          <a:prstGeom prst="ellipse">
            <a:avLst/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8006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95E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81728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5B6B8C"/>
                </a:solidFill>
                <a:latin typeface="Montserrat"/>
              </a:rPr>
              <a:t>Conclusions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ontserrat"/>
              </a:rPr>
              <a:t>BACKGROUND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03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10295E"/>
                </a:solidFill>
                <a:latin typeface="Montserrat"/>
              </a:rPr>
              <a:t>Coastal plants discharge microplastics untreated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74519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874519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1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0295E"/>
                </a:solidFill>
                <a:latin typeface="Montserrat"/>
              </a:rPr>
              <a:t>Secondary treatment misses small particles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5B6B8C"/>
                </a:solidFill>
                <a:latin typeface="Inter"/>
              </a:rPr>
              <a:t>Particles under 300 micrometers pass conventional clarifiers largely intact.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953511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" y="2953511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3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0295E"/>
                </a:solidFill>
                <a:latin typeface="Montserrat"/>
              </a:rPr>
              <a:t>Membrane upgrades are unaffordable locally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5B6B8C"/>
                </a:solidFill>
                <a:latin typeface="Inter"/>
              </a:rPr>
              <a:t>Capex and energy costs exceed small-plant budgets by 4-6x.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032503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" y="4032503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5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0295E"/>
                </a:solidFill>
                <a:latin typeface="Montserrat"/>
              </a:rPr>
              <a:t>Biofilm-sand hybrids are understudied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5B6B8C"/>
                </a:solidFill>
                <a:latin typeface="Inter"/>
              </a:rPr>
              <a:t>No published data for Red Sea salinity and temperature ranges.</a:t>
            </a:r>
          </a:p>
        </p:txBody>
      </p:sp>
      <p:sp>
        <p:nvSpPr>
          <p:cNvPr id="18" name="!!visual-panel"/>
          <p:cNvSpPr/>
          <p:nvPr/>
        </p:nvSpPr>
        <p:spPr>
          <a:xfrm>
            <a:off x="7543800" y="1874519"/>
            <a:ext cx="4023360" cy="4160520"/>
          </a:xfrm>
          <a:prstGeom prst="roundRect">
            <a:avLst>
              <a:gd name="adj" fmla="val 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33172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ontserrat"/>
              </a:rPr>
              <a:t>300µm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20624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Particle size below which conventional treatment stops working.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698480" y="-914400"/>
            <a:ext cx="2651760" cy="265176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281867" y="-331012"/>
            <a:ext cx="1484985" cy="1484985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ontserrat"/>
              </a:rPr>
              <a:t>RESEARCH QUESTIONS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04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10295E"/>
                </a:solidFill>
                <a:latin typeface="Montserrat"/>
              </a:rPr>
              <a:t>Three questions this thesis answers</a:t>
            </a:r>
          </a:p>
        </p:txBody>
      </p:sp>
      <p:sp>
        <p:nvSpPr>
          <p:cNvPr id="9" name="!!card-0"/>
          <p:cNvSpPr/>
          <p:nvPr/>
        </p:nvSpPr>
        <p:spPr>
          <a:xfrm>
            <a:off x="612648" y="1874519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card-dot-0"/>
          <p:cNvSpPr/>
          <p:nvPr/>
        </p:nvSpPr>
        <p:spPr>
          <a:xfrm>
            <a:off x="868680" y="2112263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037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0720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10295E"/>
                </a:solidFill>
                <a:latin typeface="Montserrat"/>
              </a:rPr>
              <a:t>Removal efficiency?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Can sand-biofilm reach 90% removal below 300µm?</a:t>
            </a:r>
          </a:p>
        </p:txBody>
      </p:sp>
      <p:sp>
        <p:nvSpPr>
          <p:cNvPr id="14" name="!!card-1"/>
          <p:cNvSpPr/>
          <p:nvPr/>
        </p:nvSpPr>
        <p:spPr>
          <a:xfrm>
            <a:off x="4389120" y="1874519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card-dot-1"/>
          <p:cNvSpPr/>
          <p:nvPr/>
        </p:nvSpPr>
        <p:spPr>
          <a:xfrm>
            <a:off x="4645152" y="2112263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2037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0720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10295E"/>
                </a:solidFill>
                <a:latin typeface="Montserrat"/>
              </a:rPr>
              <a:t>Salinity effect?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17296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Does Red Sea salinity degrade biofilm performance?</a:t>
            </a:r>
          </a:p>
        </p:txBody>
      </p:sp>
      <p:sp>
        <p:nvSpPr>
          <p:cNvPr id="19" name="!!card-2"/>
          <p:cNvSpPr/>
          <p:nvPr/>
        </p:nvSpPr>
        <p:spPr>
          <a:xfrm>
            <a:off x="8165592" y="1874519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card-dot-2"/>
          <p:cNvSpPr/>
          <p:nvPr/>
        </p:nvSpPr>
        <p:spPr>
          <a:xfrm>
            <a:off x="8421624" y="2112263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2037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80720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10295E"/>
                </a:solidFill>
                <a:latin typeface="Montserrat"/>
              </a:rPr>
              <a:t>Operating cost?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17296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Can OPEX stay under $0.05 per cubic meter?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005840" y="-1005840"/>
            <a:ext cx="2743200" cy="274320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402336" y="-402336"/>
            <a:ext cx="1536192" cy="153619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ontserrat"/>
              </a:rPr>
              <a:t>METHODOLOGY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05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10295E"/>
                </a:solidFill>
                <a:latin typeface="Montserrat"/>
              </a:rPr>
              <a:t>Pilot rig ran 112 days across three salinities</a:t>
            </a:r>
          </a:p>
        </p:txBody>
      </p:sp>
      <p:sp>
        <p:nvSpPr>
          <p:cNvPr id="9" name="!!spine"/>
          <p:cNvSpPr/>
          <p:nvPr/>
        </p:nvSpPr>
        <p:spPr>
          <a:xfrm>
            <a:off x="612648" y="2761488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C3C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612648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ontserrat"/>
              </a:rPr>
              <a:t>STEP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0295E"/>
                </a:solidFill>
                <a:latin typeface="Montserrat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Three 200L columns: sand, biofilm-sand, membrane control.</a:t>
            </a:r>
          </a:p>
        </p:txBody>
      </p:sp>
      <p:sp>
        <p:nvSpPr>
          <p:cNvPr id="15" name="Chevron 14"/>
          <p:cNvSpPr/>
          <p:nvPr/>
        </p:nvSpPr>
        <p:spPr>
          <a:xfrm>
            <a:off x="3451860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9020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10295E"/>
                </a:solidFill>
                <a:latin typeface="Montserrat"/>
              </a:rPr>
              <a:t>STEP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1860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1315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0295E"/>
                </a:solidFill>
                <a:latin typeface="Montserrat"/>
              </a:rPr>
              <a:t>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1315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Biofilm cultured 21 days on local seawater inoculum.</a:t>
            </a:r>
          </a:p>
        </p:txBody>
      </p:sp>
      <p:sp>
        <p:nvSpPr>
          <p:cNvPr id="20" name="Chevron 19"/>
          <p:cNvSpPr/>
          <p:nvPr/>
        </p:nvSpPr>
        <p:spPr>
          <a:xfrm>
            <a:off x="6291072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10295E"/>
                </a:solidFill>
                <a:latin typeface="Montserrat"/>
              </a:rPr>
              <a:t>STEP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0295E"/>
                </a:solidFill>
                <a:latin typeface="Montserrat"/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112 days at 35 / 40 / 45 ppt, weekly particle counts.</a:t>
            </a:r>
          </a:p>
        </p:txBody>
      </p:sp>
      <p:sp>
        <p:nvSpPr>
          <p:cNvPr id="25" name="Chevron 24"/>
          <p:cNvSpPr/>
          <p:nvPr/>
        </p:nvSpPr>
        <p:spPr>
          <a:xfrm>
            <a:off x="9130284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EEF3FB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7444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10295E"/>
                </a:solidFill>
                <a:latin typeface="Montserrat"/>
              </a:rPr>
              <a:t>STEP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30284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9740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0295E"/>
                </a:solidFill>
                <a:latin typeface="Montserrat"/>
              </a:rP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9740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FTIR-verified counts in 4 size bands, triplicate samples.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ontserrat"/>
              </a:rPr>
              <a:t>RESULTS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06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10295E"/>
                </a:solidFill>
                <a:latin typeface="Montserrat"/>
              </a:rPr>
              <a:t>Biofilm-sand removed 93% — near membrane performance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" y="1920240"/>
          <a:ext cx="7589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!!insight-card"/>
          <p:cNvSpPr/>
          <p:nvPr/>
        </p:nvSpPr>
        <p:spPr>
          <a:xfrm>
            <a:off x="8549640" y="1920240"/>
            <a:ext cx="3017520" cy="4023360"/>
          </a:xfrm>
          <a:prstGeom prst="roundRect">
            <a:avLst>
              <a:gd name="adj" fmla="val 7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Montserrat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06040"/>
            <a:ext cx="2514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10295E"/>
                </a:solidFill>
                <a:latin typeface="Inter"/>
              </a:rPr>
              <a:t>Biofilm-sand reaches 93% removal vs 97% for membrane — at roughly one-fifth of the operating cost. The 4-point gap is the price of affordability.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07</a:t>
            </a:r>
          </a:p>
        </p:txBody>
      </p:sp>
      <p:sp>
        <p:nvSpPr>
          <p:cNvPr id="7" name="!!hero-stat"/>
          <p:cNvSpPr txBox="1"/>
          <p:nvPr/>
        </p:nvSpPr>
        <p:spPr>
          <a:xfrm>
            <a:off x="612648" y="173736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>
                <a:solidFill>
                  <a:srgbClr val="1D4ED8"/>
                </a:solidFill>
                <a:latin typeface="Montserrat"/>
              </a:rPr>
              <a:t>$0.04/m³</a:t>
            </a:r>
          </a:p>
        </p:txBody>
      </p:sp>
      <p:sp>
        <p:nvSpPr>
          <p:cNvPr id="8" name="!!hero-stat-label"/>
          <p:cNvSpPr txBox="1"/>
          <p:nvPr/>
        </p:nvSpPr>
        <p:spPr>
          <a:xfrm>
            <a:off x="612648" y="3977639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10295E"/>
                </a:solidFill>
                <a:latin typeface="Montserrat"/>
              </a:rPr>
              <a:t>Operating cost of the biofilm-sand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6634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B6B8C"/>
                </a:solidFill>
                <a:latin typeface="Inter"/>
              </a:rPr>
              <a:t>vs $0.21/m³ membrane benchmark — inside the RQ3 target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698480" y="-914400"/>
            <a:ext cx="2651760" cy="265176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281867" y="-331012"/>
            <a:ext cx="1484985" cy="1484985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ontserrat"/>
              </a:rPr>
              <a:t>DISCUSSION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08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10295E"/>
                </a:solidFill>
                <a:latin typeface="Montserrat"/>
              </a:rPr>
              <a:t>Salinity slowed start-up, not steady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74519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874519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1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0295E"/>
                </a:solidFill>
                <a:latin typeface="Montserrat"/>
              </a:rPr>
              <a:t>45 ppt delayed biofilm maturity 9 days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5B6B8C"/>
                </a:solidFill>
                <a:latin typeface="Inter"/>
              </a:rPr>
              <a:t>Steady-state removal equalized after day 40 at all salinities.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953511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" y="2953511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3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0295E"/>
                </a:solidFill>
                <a:latin typeface="Montserrat"/>
              </a:rPr>
              <a:t>Backwash cycle is the main OPEX driver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5B6B8C"/>
                </a:solidFill>
                <a:latin typeface="Inter"/>
              </a:rPr>
              <a:t>Optimizing backwash timing is the clearest cost lever.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032503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" y="4032503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5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0295E"/>
                </a:solidFill>
                <a:latin typeface="Montserrat"/>
              </a:rPr>
              <a:t>Limitation: single polymer mix tested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5B6B8C"/>
                </a:solidFill>
                <a:latin typeface="Inter"/>
              </a:rPr>
              <a:t>Polyester fibers dominated; tire-wear particles untested.</a:t>
            </a:r>
          </a:p>
        </p:txBody>
      </p:sp>
      <p:sp>
        <p:nvSpPr>
          <p:cNvPr id="18" name="!!visual-panel"/>
          <p:cNvSpPr/>
          <p:nvPr/>
        </p:nvSpPr>
        <p:spPr>
          <a:xfrm>
            <a:off x="7543800" y="1874519"/>
            <a:ext cx="4023360" cy="4160520"/>
          </a:xfrm>
          <a:prstGeom prst="roundRect">
            <a:avLst>
              <a:gd name="adj" fmla="val 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33172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ontserrat"/>
              </a:rPr>
              <a:t>40d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20624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Days to steady state at the highest salinity.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noFill/>
          <a:ln w="12700">
            <a:solidFill>
              <a:srgbClr val="7FA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9791395" y="-724204"/>
            <a:ext cx="3277209" cy="3277209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DEPT. OF ENVIRONMENTAL ENGINEERING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5B6B8C"/>
                </a:solidFill>
                <a:latin typeface="Inter"/>
              </a:rPr>
              <a:t>09</a:t>
            </a:r>
          </a:p>
        </p:txBody>
      </p:sp>
      <p:sp>
        <p:nvSpPr>
          <p:cNvPr id="7" name="!!closing-title"/>
          <p:cNvSpPr txBox="1"/>
          <p:nvPr/>
        </p:nvSpPr>
        <p:spPr>
          <a:xfrm>
            <a:off x="612648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10295E"/>
                </a:solidFill>
                <a:latin typeface="Montserrat"/>
              </a:rPr>
              <a:t>Affordable removal is achievable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291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1D4ED8"/>
                </a:solidFill>
                <a:latin typeface="Montserrat"/>
              </a:rPr>
              <a:t>Recommendation: pilot at plant scale (10 m³/day) with backwash optimization as phase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5262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5B6B8C"/>
                </a:solidFill>
                <a:latin typeface="Inter"/>
              </a:rPr>
              <a:t>References and full datasets in appendix  ·  Thank you — I welcome your questions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— Microplastic Filtration</dc:title>
  <dc:subject/>
  <dc:creator>Generator example (academic arc)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